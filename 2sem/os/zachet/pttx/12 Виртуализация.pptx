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81" r:id="rId2"/>
    <p:sldId id="305" r:id="rId3"/>
    <p:sldId id="307" r:id="rId4"/>
    <p:sldId id="308" r:id="rId5"/>
    <p:sldId id="309" r:id="rId6"/>
    <p:sldId id="310" r:id="rId7"/>
    <p:sldId id="311" r:id="rId8"/>
    <p:sldId id="312" r:id="rId9"/>
    <p:sldId id="306" r:id="rId10"/>
    <p:sldId id="313" r:id="rId11"/>
    <p:sldId id="322" r:id="rId12"/>
    <p:sldId id="314" r:id="rId13"/>
    <p:sldId id="318" r:id="rId14"/>
    <p:sldId id="315" r:id="rId15"/>
    <p:sldId id="319" r:id="rId16"/>
    <p:sldId id="316" r:id="rId17"/>
    <p:sldId id="317" r:id="rId18"/>
    <p:sldId id="320" r:id="rId19"/>
    <p:sldId id="321" r:id="rId20"/>
    <p:sldId id="304" r:id="rId21"/>
    <p:sldId id="284" r:id="rId22"/>
    <p:sldId id="287" r:id="rId23"/>
    <p:sldId id="288" r:id="rId24"/>
    <p:sldId id="289" r:id="rId25"/>
    <p:sldId id="286"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996"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CD705C-C5AF-46E0-BC27-73D2A9975077}" type="datetimeFigureOut">
              <a:rPr lang="ru-RU" smtClean="0"/>
              <a:pPr/>
              <a:t>21.05.2023</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A269BF-DBB0-4A8B-9426-19ECDA8E497C}"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7FA269BF-DBB0-4A8B-9426-19ECDA8E497C}" type="slidenum">
              <a:rPr lang="ru-RU" smtClean="0"/>
              <a:pPr/>
              <a:t>24</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7FA269BF-DBB0-4A8B-9426-19ECDA8E497C}" type="slidenum">
              <a:rPr lang="ru-RU" smtClean="0"/>
              <a:pPr/>
              <a:t>26</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1747"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2771"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3795"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4819"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5843"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6867"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7891"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8915"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9939"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40963"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41987"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43011"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44035" name="Rectangle 2"/>
          <p:cNvSpPr>
            <a:spLocks noGrp="1" noChangeArrowheads="1"/>
          </p:cNvSpPr>
          <p:nvPr>
            <p:ph type="body" idx="1"/>
          </p:nvPr>
        </p:nvSpPr>
        <p:spPr bwMode="auto">
          <a:noFill/>
        </p:spPr>
        <p:txBody>
          <a:bodyPr wrap="none" numCol="1" anchor="ctr" anchorCtr="0" compatLnSpc="1">
            <a:prstTxWarp prst="textNoShape">
              <a:avLst/>
            </a:prstTxWarp>
          </a:bodyPr>
          <a:lstStyle/>
          <a:p>
            <a:pPr eaLnBrk="1" hangingPunct="1">
              <a:spcBef>
                <a:spcPct val="0"/>
              </a:spcBef>
            </a:pPr>
            <a:endParaRPr lang="ru-RU" altLang="ru-RU"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lvl1pPr>
              <a:defRPr/>
            </a:lvl1pPr>
          </a:lstStyle>
          <a:p>
            <a:pPr>
              <a:defRPr/>
            </a:pPr>
            <a:fld id="{EA5E22BD-110E-4C1E-84C6-88995F1A3E23}" type="datetimeFigureOut">
              <a:rPr lang="ru-RU"/>
              <a:pPr>
                <a:defRPr/>
              </a:pPr>
              <a:t>21.05.2023</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514EE313-4936-44ED-AC97-53FE891C1094}" type="slidenum">
              <a:rPr lang="ru-RU"/>
              <a:pPr>
                <a:defRPr/>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0BEC7905-7779-42D0-998D-A794585F588D}" type="datetimeFigureOut">
              <a:rPr lang="ru-RU"/>
              <a:pPr>
                <a:defRPr/>
              </a:pPr>
              <a:t>21.05.2023</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10F82F18-C4EB-4F05-8E86-6CE7E2193110}" type="slidenum">
              <a:rPr lang="ru-RU"/>
              <a:pPr>
                <a:defRPr/>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lvl1pPr>
              <a:defRPr/>
            </a:lvl1pPr>
          </a:lstStyle>
          <a:p>
            <a:pPr>
              <a:defRPr/>
            </a:pPr>
            <a:fld id="{4687A5CB-E476-48EA-8417-187631E19296}" type="datetimeFigureOut">
              <a:rPr lang="ru-RU"/>
              <a:pPr>
                <a:defRPr/>
              </a:pPr>
              <a:t>21.05.2023</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4451B56A-F283-4B74-A527-56F62122FA29}" type="slidenum">
              <a:rPr lang="ru-RU"/>
              <a:pPr>
                <a:defRPr/>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3"/>
          <p:cNvSpPr>
            <a:spLocks noGrp="1"/>
          </p:cNvSpPr>
          <p:nvPr>
            <p:ph type="dt" sz="half" idx="10"/>
          </p:nvPr>
        </p:nvSpPr>
        <p:spPr/>
        <p:txBody>
          <a:bodyPr/>
          <a:lstStyle>
            <a:lvl1pPr>
              <a:defRPr/>
            </a:lvl1pPr>
          </a:lstStyle>
          <a:p>
            <a:pPr>
              <a:defRPr/>
            </a:pPr>
            <a:fld id="{84CE8494-11B6-4577-A647-BEFA6C28AB14}" type="datetimeFigureOut">
              <a:rPr lang="ru-RU"/>
              <a:pPr>
                <a:defRPr/>
              </a:pPr>
              <a:t>21.05.2023</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6716A309-49D2-49B6-AF11-94D5C79F2DD5}" type="slidenum">
              <a:rPr lang="ru-RU"/>
              <a:pPr>
                <a:defRPr/>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3"/>
          <p:cNvSpPr>
            <a:spLocks noGrp="1"/>
          </p:cNvSpPr>
          <p:nvPr>
            <p:ph type="dt" sz="half" idx="10"/>
          </p:nvPr>
        </p:nvSpPr>
        <p:spPr/>
        <p:txBody>
          <a:bodyPr/>
          <a:lstStyle>
            <a:lvl1pPr>
              <a:defRPr/>
            </a:lvl1pPr>
          </a:lstStyle>
          <a:p>
            <a:pPr>
              <a:defRPr/>
            </a:pPr>
            <a:fld id="{4B9ED324-5EA7-4981-A003-186A516A94EF}" type="datetimeFigureOut">
              <a:rPr lang="ru-RU"/>
              <a:pPr>
                <a:defRPr/>
              </a:pPr>
              <a:t>21.05.2023</a:t>
            </a:fld>
            <a:endParaRPr lang="ru-RU"/>
          </a:p>
        </p:txBody>
      </p:sp>
      <p:sp>
        <p:nvSpPr>
          <p:cNvPr id="8" name="Нижний колонтитул 4"/>
          <p:cNvSpPr>
            <a:spLocks noGrp="1"/>
          </p:cNvSpPr>
          <p:nvPr>
            <p:ph type="ftr" sz="quarter" idx="11"/>
          </p:nvPr>
        </p:nvSpPr>
        <p:spPr/>
        <p:txBody>
          <a:bodyPr/>
          <a:lstStyle>
            <a:lvl1pPr>
              <a:defRPr/>
            </a:lvl1pPr>
          </a:lstStyle>
          <a:p>
            <a:pPr>
              <a:defRPr/>
            </a:pPr>
            <a:endParaRPr lang="ru-RU"/>
          </a:p>
        </p:txBody>
      </p:sp>
      <p:sp>
        <p:nvSpPr>
          <p:cNvPr id="9" name="Номер слайда 5"/>
          <p:cNvSpPr>
            <a:spLocks noGrp="1"/>
          </p:cNvSpPr>
          <p:nvPr>
            <p:ph type="sldNum" sz="quarter" idx="12"/>
          </p:nvPr>
        </p:nvSpPr>
        <p:spPr/>
        <p:txBody>
          <a:bodyPr/>
          <a:lstStyle>
            <a:lvl1pPr>
              <a:defRPr/>
            </a:lvl1pPr>
          </a:lstStyle>
          <a:p>
            <a:pPr>
              <a:defRPr/>
            </a:pPr>
            <a:fld id="{34A9DFBB-A50F-4A9A-97D3-B3AC01D1F722}" type="slidenum">
              <a:rPr lang="ru-RU"/>
              <a:pPr>
                <a:defRPr/>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3"/>
          <p:cNvSpPr>
            <a:spLocks noGrp="1"/>
          </p:cNvSpPr>
          <p:nvPr>
            <p:ph type="dt" sz="half" idx="10"/>
          </p:nvPr>
        </p:nvSpPr>
        <p:spPr/>
        <p:txBody>
          <a:bodyPr/>
          <a:lstStyle>
            <a:lvl1pPr>
              <a:defRPr/>
            </a:lvl1pPr>
          </a:lstStyle>
          <a:p>
            <a:pPr>
              <a:defRPr/>
            </a:pPr>
            <a:fld id="{043855F0-039D-49F3-9511-6BE2AF1377E2}" type="datetimeFigureOut">
              <a:rPr lang="ru-RU"/>
              <a:pPr>
                <a:defRPr/>
              </a:pPr>
              <a:t>21.05.2023</a:t>
            </a:fld>
            <a:endParaRPr lang="ru-RU"/>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3B977BDE-D595-405A-85AE-A42A8B46DA9D}" type="slidenum">
              <a:rPr lang="ru-RU"/>
              <a:pPr>
                <a:defRPr/>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3"/>
          <p:cNvSpPr>
            <a:spLocks noGrp="1"/>
          </p:cNvSpPr>
          <p:nvPr>
            <p:ph type="dt" sz="half" idx="10"/>
          </p:nvPr>
        </p:nvSpPr>
        <p:spPr/>
        <p:txBody>
          <a:bodyPr/>
          <a:lstStyle>
            <a:lvl1pPr>
              <a:defRPr/>
            </a:lvl1pPr>
          </a:lstStyle>
          <a:p>
            <a:pPr>
              <a:defRPr/>
            </a:pPr>
            <a:fld id="{6E558E94-BCA2-49CB-B30F-CEBC6A15A8B4}" type="datetimeFigureOut">
              <a:rPr lang="ru-RU"/>
              <a:pPr>
                <a:defRPr/>
              </a:pPr>
              <a:t>21.05.2023</a:t>
            </a:fld>
            <a:endParaRPr lang="ru-RU"/>
          </a:p>
        </p:txBody>
      </p:sp>
      <p:sp>
        <p:nvSpPr>
          <p:cNvPr id="3" name="Нижний колонтитул 4"/>
          <p:cNvSpPr>
            <a:spLocks noGrp="1"/>
          </p:cNvSpPr>
          <p:nvPr>
            <p:ph type="ftr" sz="quarter" idx="11"/>
          </p:nvPr>
        </p:nvSpPr>
        <p:spPr/>
        <p:txBody>
          <a:bodyPr/>
          <a:lstStyle>
            <a:lvl1pPr>
              <a:defRPr/>
            </a:lvl1pPr>
          </a:lstStyle>
          <a:p>
            <a:pPr>
              <a:defRPr/>
            </a:pPr>
            <a:endParaRPr lang="ru-RU"/>
          </a:p>
        </p:txBody>
      </p:sp>
      <p:sp>
        <p:nvSpPr>
          <p:cNvPr id="4" name="Номер слайда 5"/>
          <p:cNvSpPr>
            <a:spLocks noGrp="1"/>
          </p:cNvSpPr>
          <p:nvPr>
            <p:ph type="sldNum" sz="quarter" idx="12"/>
          </p:nvPr>
        </p:nvSpPr>
        <p:spPr/>
        <p:txBody>
          <a:bodyPr/>
          <a:lstStyle>
            <a:lvl1pPr>
              <a:defRPr/>
            </a:lvl1pPr>
          </a:lstStyle>
          <a:p>
            <a:pPr>
              <a:defRPr/>
            </a:pPr>
            <a:fld id="{FF132739-A3F0-43F6-85BD-682C79AD0C99}" type="slidenum">
              <a:rPr lang="ru-RU"/>
              <a:pPr>
                <a:defRPr/>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3"/>
          <p:cNvSpPr>
            <a:spLocks noGrp="1"/>
          </p:cNvSpPr>
          <p:nvPr>
            <p:ph type="dt" sz="half" idx="10"/>
          </p:nvPr>
        </p:nvSpPr>
        <p:spPr/>
        <p:txBody>
          <a:bodyPr/>
          <a:lstStyle>
            <a:lvl1pPr>
              <a:defRPr/>
            </a:lvl1pPr>
          </a:lstStyle>
          <a:p>
            <a:pPr>
              <a:defRPr/>
            </a:pPr>
            <a:fld id="{FAB87D49-E2BA-48F1-977B-B3BBB011F013}" type="datetimeFigureOut">
              <a:rPr lang="ru-RU"/>
              <a:pPr>
                <a:defRPr/>
              </a:pPr>
              <a:t>21.05.2023</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ED4642E7-18CE-4DE7-A73D-2D7DC972CC0D}" type="slidenum">
              <a:rPr lang="ru-RU"/>
              <a:pPr>
                <a:defRPr/>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3"/>
          <p:cNvSpPr>
            <a:spLocks noGrp="1"/>
          </p:cNvSpPr>
          <p:nvPr>
            <p:ph type="dt" sz="half" idx="10"/>
          </p:nvPr>
        </p:nvSpPr>
        <p:spPr/>
        <p:txBody>
          <a:bodyPr/>
          <a:lstStyle>
            <a:lvl1pPr>
              <a:defRPr/>
            </a:lvl1pPr>
          </a:lstStyle>
          <a:p>
            <a:pPr>
              <a:defRPr/>
            </a:pPr>
            <a:fld id="{F1D1E412-57B3-4501-9C24-AF9AB8A138AC}" type="datetimeFigureOut">
              <a:rPr lang="ru-RU"/>
              <a:pPr>
                <a:defRPr/>
              </a:pPr>
              <a:t>21.05.2023</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E2A008D1-34D3-4E22-BD8C-783C8CDA534F}" type="slidenum">
              <a:rPr lang="ru-RU"/>
              <a:pPr>
                <a:defRPr/>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D55F6CB7-D9D2-41C8-AC74-865739C43865}" type="datetimeFigureOut">
              <a:rPr lang="ru-RU"/>
              <a:pPr>
                <a:defRPr/>
              </a:pPr>
              <a:t>21.05.2023</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0E3CE390-3FB4-42D0-999A-61BA7C6787AA}" type="slidenum">
              <a:rPr lang="ru-RU"/>
              <a:pPr>
                <a:defRPr/>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5B72EB15-AEA5-4298-AE73-36439EC016FD}" type="datetimeFigureOut">
              <a:rPr lang="ru-RU"/>
              <a:pPr>
                <a:defRPr/>
              </a:pPr>
              <a:t>21.05.2023</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4DB7ACB5-E395-49C4-B139-2E00ACCD2153}" type="slidenum">
              <a:rPr lang="ru-RU"/>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7375E"/>
        </a:solidFill>
        <a:effectLst/>
      </p:bgPr>
    </p:bg>
    <p:spTree>
      <p:nvGrpSpPr>
        <p:cNvPr id="1" name=""/>
        <p:cNvGrpSpPr/>
        <p:nvPr/>
      </p:nvGrpSpPr>
      <p:grpSpPr>
        <a:xfrm>
          <a:off x="0" y="0"/>
          <a:ext cx="0" cy="0"/>
          <a:chOff x="0" y="0"/>
          <a:chExt cx="0" cy="0"/>
        </a:xfrm>
      </p:grpSpPr>
      <p:sp>
        <p:nvSpPr>
          <p:cNvPr id="1026" name="Заголовок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ltLang="ru-RU" smtClean="0"/>
              <a:t>Образец заголовка</a:t>
            </a:r>
          </a:p>
        </p:txBody>
      </p:sp>
      <p:sp>
        <p:nvSpPr>
          <p:cNvPr id="1027" name="Текст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ltLang="ru-RU" smtClean="0"/>
              <a:t>Образец текста</a:t>
            </a:r>
          </a:p>
          <a:p>
            <a:pPr lvl="1"/>
            <a:r>
              <a:rPr lang="ru-RU" altLang="ru-RU" smtClean="0"/>
              <a:t>Второй уровень</a:t>
            </a:r>
          </a:p>
          <a:p>
            <a:pPr lvl="2"/>
            <a:r>
              <a:rPr lang="ru-RU" altLang="ru-RU" smtClean="0"/>
              <a:t>Третий уровень</a:t>
            </a:r>
          </a:p>
          <a:p>
            <a:pPr lvl="3"/>
            <a:r>
              <a:rPr lang="ru-RU" altLang="ru-RU" smtClean="0"/>
              <a:t>Четвертый уровень</a:t>
            </a:r>
          </a:p>
          <a:p>
            <a:pPr lvl="4"/>
            <a:r>
              <a:rPr lang="ru-RU" altLang="ru-RU" smtClean="0"/>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6616D54A-0245-42B7-8938-C7EE8DE9E58D}" type="datetimeFigureOut">
              <a:rPr lang="ru-RU"/>
              <a:pPr>
                <a:defRPr/>
              </a:pPr>
              <a:t>21.05.2023</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21D7ADDC-85F4-4F8C-B07C-30084054CEB7}"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ru-RU" altLang="ru-RU" sz="3600" smtClean="0">
                <a:solidFill>
                  <a:schemeClr val="bg1"/>
                </a:solidFill>
                <a:latin typeface="Calibri" pitchFamily="34" charset="0"/>
              </a:rPr>
              <a:t>Виртуализация</a:t>
            </a:r>
            <a:endParaRPr lang="ru-RU" altLang="ru-RU" sz="36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9" name="Прямоугольник 8"/>
          <p:cNvSpPr/>
          <p:nvPr/>
        </p:nvSpPr>
        <p:spPr>
          <a:xfrm>
            <a:off x="323528" y="764704"/>
            <a:ext cx="8280920" cy="2585323"/>
          </a:xfrm>
          <a:prstGeom prst="rect">
            <a:avLst/>
          </a:prstGeom>
        </p:spPr>
        <p:txBody>
          <a:bodyPr wrap="square">
            <a:spAutoFit/>
          </a:bodyPr>
          <a:lstStyle/>
          <a:p>
            <a:pPr algn="just">
              <a:defRPr/>
            </a:pPr>
            <a:r>
              <a:rPr lang="ru-RU" smtClean="0">
                <a:solidFill>
                  <a:schemeClr val="bg1"/>
                </a:solidFill>
              </a:rPr>
              <a:t>Виртуализация</a:t>
            </a:r>
            <a:r>
              <a:rPr lang="en-US" smtClean="0">
                <a:solidFill>
                  <a:schemeClr val="bg1"/>
                </a:solidFill>
              </a:rPr>
              <a:t> – </a:t>
            </a:r>
            <a:r>
              <a:rPr lang="ru-RU" smtClean="0">
                <a:solidFill>
                  <a:schemeClr val="bg1"/>
                </a:solidFill>
              </a:rPr>
              <a:t>«отделение» среды исполнения ПО от физической среды</a:t>
            </a:r>
            <a:r>
              <a:rPr lang="en-US" smtClean="0">
                <a:solidFill>
                  <a:schemeClr val="bg1"/>
                </a:solidFill>
              </a:rPr>
              <a:t>:</a:t>
            </a:r>
          </a:p>
          <a:p>
            <a:pPr algn="just">
              <a:defRPr/>
            </a:pPr>
            <a:endParaRPr lang="en-US" smtClean="0">
              <a:solidFill>
                <a:schemeClr val="bg1"/>
              </a:solidFill>
            </a:endParaRPr>
          </a:p>
          <a:p>
            <a:pPr marL="342900" indent="-342900" algn="just">
              <a:buFont typeface="+mj-lt"/>
              <a:buAutoNum type="arabicPeriod"/>
              <a:defRPr/>
            </a:pPr>
            <a:r>
              <a:rPr lang="ru-RU" smtClean="0">
                <a:solidFill>
                  <a:schemeClr val="bg1"/>
                </a:solidFill>
              </a:rPr>
              <a:t>Среда исполнения ограниченного набора программных компонент одной ОС в  другой (</a:t>
            </a:r>
            <a:r>
              <a:rPr lang="en-US" smtClean="0">
                <a:solidFill>
                  <a:schemeClr val="bg1"/>
                </a:solidFill>
              </a:rPr>
              <a:t>CigWin, MinGV</a:t>
            </a:r>
            <a:r>
              <a:rPr lang="ru-RU" smtClean="0">
                <a:solidFill>
                  <a:schemeClr val="bg1"/>
                </a:solidFill>
              </a:rPr>
              <a:t>)</a:t>
            </a:r>
          </a:p>
          <a:p>
            <a:pPr marL="342900" indent="-342900" algn="just">
              <a:buFont typeface="+mj-lt"/>
              <a:buAutoNum type="arabicPeriod"/>
              <a:defRPr/>
            </a:pPr>
            <a:r>
              <a:rPr lang="ru-RU" smtClean="0">
                <a:solidFill>
                  <a:schemeClr val="bg1"/>
                </a:solidFill>
              </a:rPr>
              <a:t>Виртуальная среда исполнения кода. </a:t>
            </a:r>
            <a:r>
              <a:rPr lang="en-US" smtClean="0">
                <a:solidFill>
                  <a:schemeClr val="bg1"/>
                </a:solidFill>
              </a:rPr>
              <a:t>Java (JVM)</a:t>
            </a:r>
            <a:endParaRPr lang="ru-RU" smtClean="0">
              <a:solidFill>
                <a:schemeClr val="bg1"/>
              </a:solidFill>
            </a:endParaRPr>
          </a:p>
          <a:p>
            <a:pPr marL="342900" indent="-342900" algn="just">
              <a:buFont typeface="+mj-lt"/>
              <a:buAutoNum type="arabicPeriod"/>
              <a:defRPr/>
            </a:pPr>
            <a:r>
              <a:rPr lang="ru-RU" smtClean="0">
                <a:solidFill>
                  <a:schemeClr val="bg1"/>
                </a:solidFill>
              </a:rPr>
              <a:t>Виртуальная ОС </a:t>
            </a:r>
          </a:p>
          <a:p>
            <a:pPr marL="342900" indent="-342900" algn="just">
              <a:buFont typeface="+mj-lt"/>
              <a:buAutoNum type="arabicPeriod"/>
              <a:defRPr/>
            </a:pPr>
            <a:r>
              <a:rPr lang="ru-RU" smtClean="0">
                <a:solidFill>
                  <a:schemeClr val="bg1"/>
                </a:solidFill>
              </a:rPr>
              <a:t>Контейнер – создание собственной среды исполнения приложения, отдельного от других приложений ОС (зависимости от версий библиотек, СУБД, настройки сети и т.п.)</a:t>
            </a:r>
            <a:endParaRPr lang="en-US" smtClean="0">
              <a:solidFill>
                <a:schemeClr val="bg1"/>
              </a:solidFill>
            </a:endParaRPr>
          </a:p>
        </p:txBody>
      </p:sp>
      <p:sp>
        <p:nvSpPr>
          <p:cNvPr id="5" name="Прямоугольник 4"/>
          <p:cNvSpPr/>
          <p:nvPr/>
        </p:nvSpPr>
        <p:spPr>
          <a:xfrm>
            <a:off x="251520" y="5445224"/>
            <a:ext cx="8640960" cy="1200329"/>
          </a:xfrm>
          <a:prstGeom prst="rect">
            <a:avLst/>
          </a:prstGeom>
        </p:spPr>
        <p:txBody>
          <a:bodyPr wrap="square">
            <a:spAutoFit/>
          </a:bodyPr>
          <a:lstStyle/>
          <a:p>
            <a:r>
              <a:rPr lang="ru-RU" smtClean="0">
                <a:solidFill>
                  <a:srgbClr val="FFFF00"/>
                </a:solidFill>
                <a:latin typeface="+mn-lt"/>
              </a:rPr>
              <a:t>Изучаем подсистемы </a:t>
            </a:r>
            <a:r>
              <a:rPr lang="en-US" smtClean="0">
                <a:solidFill>
                  <a:srgbClr val="FFFF00"/>
                </a:solidFill>
                <a:latin typeface="+mn-lt"/>
              </a:rPr>
              <a:t>Windows </a:t>
            </a:r>
            <a:r>
              <a:rPr lang="ru-RU" smtClean="0">
                <a:solidFill>
                  <a:srgbClr val="FFFF00"/>
                </a:solidFill>
                <a:latin typeface="+mn-lt"/>
              </a:rPr>
              <a:t>для </a:t>
            </a:r>
            <a:r>
              <a:rPr lang="en-US" smtClean="0">
                <a:solidFill>
                  <a:srgbClr val="FFFF00"/>
                </a:solidFill>
                <a:latin typeface="+mn-lt"/>
              </a:rPr>
              <a:t>Linux</a:t>
            </a:r>
            <a:r>
              <a:rPr lang="ru-RU" smtClean="0">
                <a:solidFill>
                  <a:schemeClr val="bg1"/>
                </a:solidFill>
                <a:latin typeface="+mn-lt"/>
              </a:rPr>
              <a:t>, (перевод)  Прэйтик Сингх</a:t>
            </a:r>
          </a:p>
          <a:p>
            <a:r>
              <a:rPr lang="en-US" smtClean="0">
                <a:solidFill>
                  <a:schemeClr val="bg1"/>
                </a:solidFill>
                <a:latin typeface="+mn-lt"/>
              </a:rPr>
              <a:t>http://onreader.mdl.ru/LearnWindowsSubsystemLinuxProfessionals/content/index.html</a:t>
            </a:r>
            <a:endParaRPr lang="ru-RU" smtClean="0">
              <a:solidFill>
                <a:schemeClr val="bg1"/>
              </a:solidFill>
              <a:latin typeface="+mn-lt"/>
            </a:endParaRPr>
          </a:p>
          <a:p>
            <a:r>
              <a:rPr lang="ru-RU" smtClean="0">
                <a:solidFill>
                  <a:srgbClr val="FFFF00"/>
                </a:solidFill>
                <a:latin typeface="+mn-lt"/>
              </a:rPr>
              <a:t>Контейнеры Linux и виртуализация </a:t>
            </a:r>
            <a:r>
              <a:rPr lang="ru-RU" smtClean="0">
                <a:solidFill>
                  <a:schemeClr val="bg1"/>
                </a:solidFill>
                <a:latin typeface="+mn-lt"/>
              </a:rPr>
              <a:t>(перевод) Шашанка Мохана Джейна</a:t>
            </a:r>
          </a:p>
          <a:p>
            <a:r>
              <a:rPr lang="en-US" smtClean="0">
                <a:solidFill>
                  <a:schemeClr val="bg1"/>
                </a:solidFill>
                <a:latin typeface="+mn-lt"/>
              </a:rPr>
              <a:t>http://onreader.mdl.ru/LinuxContainersVirtualizationKernelPerspective/content/Ch01.html</a:t>
            </a:r>
            <a:endParaRPr lang="ru-RU">
              <a:solidFill>
                <a:schemeClr val="bg1"/>
              </a:solidFill>
              <a:latin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1. </a:t>
            </a:r>
            <a:r>
              <a:rPr lang="ru-RU" altLang="ru-RU" sz="3200" smtClean="0">
                <a:solidFill>
                  <a:schemeClr val="bg1"/>
                </a:solidFill>
                <a:latin typeface="Calibri" pitchFamily="34" charset="0"/>
              </a:rPr>
              <a:t>Виртуализация</a:t>
            </a:r>
            <a:r>
              <a:rPr lang="en-US" altLang="ru-RU" sz="3200" smtClean="0">
                <a:solidFill>
                  <a:schemeClr val="bg1"/>
                </a:solidFill>
                <a:latin typeface="Calibri" pitchFamily="34" charset="0"/>
              </a:rPr>
              <a:t> </a:t>
            </a:r>
            <a:r>
              <a:rPr lang="ru-RU" altLang="ru-RU" sz="3200" smtClean="0">
                <a:solidFill>
                  <a:schemeClr val="bg1"/>
                </a:solidFill>
                <a:latin typeface="Calibri" pitchFamily="34" charset="0"/>
              </a:rPr>
              <a:t>на уровне </a:t>
            </a:r>
            <a:r>
              <a:rPr lang="en-US" altLang="ru-RU" sz="3200" smtClean="0">
                <a:solidFill>
                  <a:schemeClr val="bg1"/>
                </a:solidFill>
                <a:latin typeface="Calibri" pitchFamily="34" charset="0"/>
              </a:rPr>
              <a:t>API. CygWin</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179512" y="759187"/>
            <a:ext cx="8244408" cy="5816977"/>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b="1" i="0" u="none" strike="noStrike" cap="none" normalizeH="0" baseline="0" smtClean="0">
                <a:ln>
                  <a:noFill/>
                </a:ln>
                <a:solidFill>
                  <a:srgbClr val="FFFF00"/>
                </a:solidFill>
                <a:effectLst/>
                <a:latin typeface="+mn-lt"/>
                <a:cs typeface="Segoe UI" pitchFamily="34" charset="0"/>
              </a:rPr>
              <a:t>Cygwin</a:t>
            </a:r>
            <a:r>
              <a:rPr kumimoji="0" lang="ru-RU" b="0" i="0" u="none" strike="noStrike" cap="none" normalizeH="0" baseline="0" smtClean="0">
                <a:ln>
                  <a:noFill/>
                </a:ln>
                <a:solidFill>
                  <a:schemeClr val="bg1"/>
                </a:solidFill>
                <a:effectLst/>
                <a:latin typeface="+mn-lt"/>
                <a:cs typeface="Segoe UI" pitchFamily="34" charset="0"/>
              </a:rPr>
              <a:t> - это Linux-подобная среда для систем на базе Windows. Он состоит из эмулятора и набора инструментов, которые обеспечивают возможность работы на </a:t>
            </a:r>
            <a:r>
              <a:rPr kumimoji="0" lang="ru-RU" b="1" i="0" u="none" strike="noStrike" cap="none" normalizeH="0" baseline="0" smtClean="0">
                <a:ln>
                  <a:noFill/>
                </a:ln>
                <a:solidFill>
                  <a:schemeClr val="bg1"/>
                </a:solidFill>
                <a:effectLst/>
                <a:latin typeface="+mn-lt"/>
                <a:cs typeface="Segoe UI" pitchFamily="34" charset="0"/>
              </a:rPr>
              <a:t>Linux</a:t>
            </a:r>
            <a:r>
              <a:rPr kumimoji="0" lang="ru-RU" b="0" i="0" u="none" strike="noStrike" cap="none" normalizeH="0" baseline="0" smtClean="0">
                <a:ln>
                  <a:noFill/>
                </a:ln>
                <a:solidFill>
                  <a:schemeClr val="bg1"/>
                </a:solidFill>
                <a:effectLst/>
                <a:latin typeface="+mn-lt"/>
                <a:cs typeface="Segoe UI" pitchFamily="34" charset="0"/>
              </a:rPr>
              <a:t> в среде </a:t>
            </a:r>
            <a:r>
              <a:rPr kumimoji="0" lang="ru-RU" b="1" i="0" u="none" strike="noStrike" cap="none" normalizeH="0" baseline="0" smtClean="0">
                <a:ln>
                  <a:noFill/>
                </a:ln>
                <a:solidFill>
                  <a:schemeClr val="bg1"/>
                </a:solidFill>
                <a:effectLst/>
                <a:latin typeface="+mn-lt"/>
                <a:cs typeface="Segoe UI" pitchFamily="34" charset="0"/>
              </a:rPr>
              <a:t>Windows</a:t>
            </a:r>
            <a:r>
              <a:rPr kumimoji="0" lang="ru-RU" b="0" i="0" u="none" strike="noStrike" cap="none" normalizeH="0" baseline="0" smtClean="0">
                <a:ln>
                  <a:noFill/>
                </a:ln>
                <a:solidFill>
                  <a:schemeClr val="bg1"/>
                </a:solidFill>
                <a:effectLst/>
                <a:latin typeface="+mn-lt"/>
                <a:cs typeface="Segoe UI" pitchFamily="34" charset="0"/>
              </a:rPr>
              <a:t>.</a:t>
            </a:r>
            <a:endParaRPr kumimoji="0" lang="ru-RU" b="0" i="0" u="none" strike="noStrike" cap="none" normalizeH="0" baseline="0" smtClean="0">
              <a:ln>
                <a:noFill/>
              </a:ln>
              <a:solidFill>
                <a:schemeClr val="bg1"/>
              </a:solidFill>
              <a:effectLst/>
              <a:latin typeface="+mn-l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b="0" i="0" u="none" strike="noStrike" cap="none" normalizeH="0" baseline="0" smtClean="0">
                <a:ln>
                  <a:noFill/>
                </a:ln>
                <a:solidFill>
                  <a:schemeClr val="bg1"/>
                </a:solidFill>
                <a:effectLst/>
                <a:latin typeface="+mn-lt"/>
                <a:cs typeface="Segoe UI" pitchFamily="34" charset="0"/>
              </a:rPr>
              <a:t>Cygwin состоит из DLL </a:t>
            </a:r>
            <a:r>
              <a:rPr kumimoji="0" lang="ru-RU" b="0" i="0" u="none" strike="noStrike" cap="none" normalizeH="0" baseline="0" smtClean="0">
                <a:ln>
                  <a:noFill/>
                </a:ln>
                <a:solidFill>
                  <a:schemeClr val="bg1"/>
                </a:solidFill>
                <a:effectLst/>
                <a:latin typeface="+mn-lt"/>
                <a:cs typeface="Courier New" pitchFamily="49" charset="0"/>
              </a:rPr>
              <a:t>cygwin1.dll</a:t>
            </a:r>
            <a:r>
              <a:rPr kumimoji="0" lang="ru-RU" b="0" i="0" u="none" strike="noStrike" cap="none" normalizeH="0" baseline="0" smtClean="0">
                <a:ln>
                  <a:noFill/>
                </a:ln>
                <a:solidFill>
                  <a:schemeClr val="bg1"/>
                </a:solidFill>
                <a:effectLst/>
                <a:latin typeface="+mn-lt"/>
                <a:cs typeface="Segoe UI" pitchFamily="34" charset="0"/>
              </a:rPr>
              <a:t>, которая действует как уровень эмуляции, обеспечивающий функциональность системного вызова POSIX через Windows. С Cygwin пользователи имеют доступ к стандартным утилитам UNIX, которые могут использоваться либо из предоставленной bash-оболочки, либо через командную строку Windows.</a:t>
            </a:r>
          </a:p>
          <a:p>
            <a:pPr lvl="0" algn="just" eaLnBrk="0" hangingPunct="0"/>
            <a:r>
              <a:rPr lang="ru-RU" b="1" smtClean="0">
                <a:solidFill>
                  <a:srgbClr val="FFFF00"/>
                </a:solidFill>
                <a:latin typeface="+mn-lt"/>
              </a:rPr>
              <a:t>Cygwin</a:t>
            </a:r>
            <a:r>
              <a:rPr lang="ru-RU" smtClean="0">
                <a:solidFill>
                  <a:schemeClr val="bg1"/>
                </a:solidFill>
                <a:latin typeface="+mn-lt"/>
              </a:rPr>
              <a:t> - это порт утилит Gnu под Windows, а </a:t>
            </a:r>
            <a:r>
              <a:rPr lang="ru-RU" b="1" smtClean="0">
                <a:solidFill>
                  <a:srgbClr val="FFFF00"/>
                </a:solidFill>
                <a:latin typeface="+mn-lt"/>
              </a:rPr>
              <a:t>Gnu </a:t>
            </a:r>
            <a:r>
              <a:rPr lang="ru-RU" smtClean="0">
                <a:solidFill>
                  <a:schemeClr val="bg1"/>
                </a:solidFill>
                <a:latin typeface="+mn-lt"/>
              </a:rPr>
              <a:t>(www.gnu.org) - это проект Фонда Свободного Программного Обеспечения (Free Software Foundation, или просто FSF), ставящий своей целью создание некоммерческой Unix системы, не принадлежащей никому в отдельности и свободной от ограничивающих свободу распространения и модификации ПО лицензий</a:t>
            </a:r>
            <a:r>
              <a:rPr lang="en-US" smtClean="0">
                <a:solidFill>
                  <a:schemeClr val="bg1"/>
                </a:solidFill>
                <a:latin typeface="+mn-lt"/>
              </a:rPr>
              <a:t>:</a:t>
            </a:r>
          </a:p>
          <a:p>
            <a:pPr lvl="0" algn="just" eaLnBrk="0" hangingPunct="0">
              <a:buFont typeface="Arial" pitchFamily="34" charset="0"/>
              <a:buChar char="•"/>
            </a:pPr>
            <a:r>
              <a:rPr lang="en-US" smtClean="0">
                <a:solidFill>
                  <a:schemeClr val="bg1"/>
                </a:solidFill>
                <a:latin typeface="+mn-lt"/>
              </a:rPr>
              <a:t> </a:t>
            </a:r>
            <a:r>
              <a:rPr lang="en-US" smtClean="0"/>
              <a:t> </a:t>
            </a:r>
            <a:r>
              <a:rPr lang="en-US" smtClean="0">
                <a:solidFill>
                  <a:schemeClr val="bg1"/>
                </a:solidFill>
                <a:latin typeface="+mn-lt"/>
              </a:rPr>
              <a:t>gcc  - Gnu C Compiler, </a:t>
            </a:r>
            <a:r>
              <a:rPr lang="ru-RU" smtClean="0">
                <a:solidFill>
                  <a:schemeClr val="bg1"/>
                </a:solidFill>
                <a:latin typeface="+mn-lt"/>
              </a:rPr>
              <a:t>или </a:t>
            </a:r>
            <a:r>
              <a:rPr lang="en-US" smtClean="0">
                <a:solidFill>
                  <a:schemeClr val="bg1"/>
                </a:solidFill>
                <a:latin typeface="+mn-lt"/>
              </a:rPr>
              <a:t>Gnu Compiler Collection</a:t>
            </a:r>
            <a:r>
              <a:rPr lang="ru-RU" smtClean="0">
                <a:solidFill>
                  <a:schemeClr val="bg1"/>
                </a:solidFill>
                <a:latin typeface="+mn-lt"/>
              </a:rPr>
              <a:t>, коллекция компиляторов</a:t>
            </a:r>
            <a:endParaRPr lang="en-US" smtClean="0">
              <a:solidFill>
                <a:schemeClr val="bg1"/>
              </a:solidFill>
              <a:latin typeface="+mn-lt"/>
            </a:endParaRPr>
          </a:p>
          <a:p>
            <a:pPr lvl="0" algn="just" eaLnBrk="0" hangingPunct="0">
              <a:buFont typeface="Arial" pitchFamily="34" charset="0"/>
              <a:buChar char="•"/>
            </a:pPr>
            <a:r>
              <a:rPr lang="en-US" smtClean="0">
                <a:solidFill>
                  <a:schemeClr val="bg1"/>
                </a:solidFill>
                <a:latin typeface="+mn-lt"/>
              </a:rPr>
              <a:t>  bash </a:t>
            </a:r>
            <a:r>
              <a:rPr lang="ru-RU" smtClean="0">
                <a:solidFill>
                  <a:schemeClr val="bg1"/>
                </a:solidFill>
                <a:latin typeface="+mn-lt"/>
              </a:rPr>
              <a:t> - командный интерпретатор </a:t>
            </a:r>
            <a:r>
              <a:rPr lang="en-US" smtClean="0">
                <a:solidFill>
                  <a:schemeClr val="bg1"/>
                </a:solidFill>
                <a:latin typeface="+mn-lt"/>
              </a:rPr>
              <a:t>Bourne Again Shell </a:t>
            </a:r>
          </a:p>
          <a:p>
            <a:pPr lvl="0" algn="just" eaLnBrk="0" hangingPunct="0">
              <a:buFont typeface="Arial" pitchFamily="34" charset="0"/>
              <a:buChar char="•"/>
            </a:pPr>
            <a:r>
              <a:rPr lang="en-US" smtClean="0">
                <a:solidFill>
                  <a:schemeClr val="bg1"/>
                </a:solidFill>
                <a:latin typeface="+mn-lt"/>
              </a:rPr>
              <a:t>  Emacs -</a:t>
            </a:r>
            <a:r>
              <a:rPr lang="ru-RU" smtClean="0">
                <a:solidFill>
                  <a:schemeClr val="bg1"/>
                </a:solidFill>
              </a:rPr>
              <a:t> </a:t>
            </a:r>
            <a:r>
              <a:rPr lang="ru-RU" smtClean="0">
                <a:solidFill>
                  <a:schemeClr val="bg1"/>
                </a:solidFill>
                <a:latin typeface="+mn-lt"/>
              </a:rPr>
              <a:t>семейство многофункциональных расширяемых текстовых редакторов</a:t>
            </a:r>
            <a:endParaRPr lang="en-US" smtClean="0">
              <a:solidFill>
                <a:schemeClr val="bg1"/>
              </a:solidFill>
              <a:latin typeface="+mn-lt"/>
            </a:endParaRPr>
          </a:p>
          <a:p>
            <a:pPr lvl="0" algn="just" eaLnBrk="0" hangingPunct="0"/>
            <a:r>
              <a:rPr lang="ru-RU" b="1" smtClean="0">
                <a:solidFill>
                  <a:srgbClr val="FFFF00"/>
                </a:solidFill>
                <a:latin typeface="+mn-lt"/>
              </a:rPr>
              <a:t>Cygwin</a:t>
            </a:r>
            <a:r>
              <a:rPr lang="ru-RU" smtClean="0">
                <a:solidFill>
                  <a:schemeClr val="bg1"/>
                </a:solidFill>
                <a:latin typeface="+mn-lt"/>
              </a:rPr>
              <a:t> -</a:t>
            </a:r>
            <a:r>
              <a:rPr lang="ru-RU" smtClean="0">
                <a:solidFill>
                  <a:schemeClr val="bg1"/>
                </a:solidFill>
              </a:rPr>
              <a:t> </a:t>
            </a:r>
            <a:r>
              <a:rPr lang="ru-RU" smtClean="0">
                <a:solidFill>
                  <a:schemeClr val="bg1"/>
                </a:solidFill>
                <a:latin typeface="+mn-lt"/>
              </a:rPr>
              <a:t>Эта прокладка cygwin</a:t>
            </a:r>
            <a:r>
              <a:rPr lang="en-US" smtClean="0">
                <a:solidFill>
                  <a:schemeClr val="bg1"/>
                </a:solidFill>
                <a:latin typeface="+mn-lt"/>
              </a:rPr>
              <a:t>x</a:t>
            </a:r>
            <a:r>
              <a:rPr lang="ru-RU" smtClean="0">
                <a:solidFill>
                  <a:schemeClr val="bg1"/>
                </a:solidFill>
                <a:latin typeface="+mn-lt"/>
              </a:rPr>
              <a:t>.dll (</a:t>
            </a:r>
            <a:r>
              <a:rPr lang="en-US" smtClean="0">
                <a:solidFill>
                  <a:schemeClr val="bg1"/>
                </a:solidFill>
                <a:latin typeface="+mn-lt"/>
              </a:rPr>
              <a:t>x</a:t>
            </a:r>
            <a:r>
              <a:rPr lang="ru-RU" smtClean="0">
                <a:solidFill>
                  <a:schemeClr val="bg1"/>
                </a:solidFill>
                <a:latin typeface="+mn-lt"/>
              </a:rPr>
              <a:t> - номер версии) - обеспечивает эмуляцию системных вызовов UNIX, что позволяет компилировать и исполнять Unix программы без или почти без изменения исходного кода. В принципе, эта dll и есть сам Cygwin, а все остальное - программные пакеты GNU, </a:t>
            </a:r>
            <a:r>
              <a:rPr lang="ru-RU" i="1" smtClean="0">
                <a:solidFill>
                  <a:schemeClr val="bg1"/>
                </a:solidFill>
                <a:latin typeface="+mn-lt"/>
              </a:rPr>
              <a:t>скомпилированные </a:t>
            </a:r>
            <a:r>
              <a:rPr lang="ru-RU" smtClean="0">
                <a:solidFill>
                  <a:schemeClr val="bg1"/>
                </a:solidFill>
                <a:latin typeface="+mn-lt"/>
              </a:rPr>
              <a:t>для работы с Cygwin</a:t>
            </a:r>
            <a:endParaRPr lang="en-US" smtClean="0">
              <a:solidFill>
                <a:schemeClr val="bg1"/>
              </a:solidFill>
              <a:latin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2" y="174625"/>
            <a:ext cx="8470775"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2. </a:t>
            </a:r>
            <a:r>
              <a:rPr lang="ru-RU" altLang="ru-RU" sz="3200" smtClean="0">
                <a:solidFill>
                  <a:schemeClr val="bg1"/>
                </a:solidFill>
                <a:latin typeface="Calibri" pitchFamily="34" charset="0"/>
              </a:rPr>
              <a:t>Виртуальная</a:t>
            </a:r>
            <a:r>
              <a:rPr lang="en-US" altLang="ru-RU" sz="3200" smtClean="0">
                <a:solidFill>
                  <a:schemeClr val="bg1"/>
                </a:solidFill>
                <a:latin typeface="Calibri" pitchFamily="34" charset="0"/>
              </a:rPr>
              <a:t> </a:t>
            </a:r>
            <a:r>
              <a:rPr lang="ru-RU" altLang="ru-RU" sz="3200" smtClean="0">
                <a:solidFill>
                  <a:schemeClr val="bg1"/>
                </a:solidFill>
                <a:latin typeface="Calibri" pitchFamily="34" charset="0"/>
              </a:rPr>
              <a:t>среда исполнения кода. </a:t>
            </a:r>
            <a:r>
              <a:rPr lang="en-US" altLang="ru-RU" sz="3200" smtClean="0">
                <a:solidFill>
                  <a:schemeClr val="bg1"/>
                </a:solidFill>
                <a:latin typeface="Calibri" pitchFamily="34" charset="0"/>
              </a:rPr>
              <a:t>Java</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grpSp>
        <p:nvGrpSpPr>
          <p:cNvPr id="5" name="Группа 42"/>
          <p:cNvGrpSpPr>
            <a:grpSpLocks/>
          </p:cNvGrpSpPr>
          <p:nvPr/>
        </p:nvGrpSpPr>
        <p:grpSpPr bwMode="auto">
          <a:xfrm>
            <a:off x="467544" y="908720"/>
            <a:ext cx="8255000" cy="4017963"/>
            <a:chOff x="463550" y="858838"/>
            <a:chExt cx="8255000" cy="4018582"/>
          </a:xfrm>
        </p:grpSpPr>
        <p:sp>
          <p:nvSpPr>
            <p:cNvPr id="6" name="Прямоугольник 5"/>
            <p:cNvSpPr/>
            <p:nvPr/>
          </p:nvSpPr>
          <p:spPr>
            <a:xfrm>
              <a:off x="463550" y="1052543"/>
              <a:ext cx="939800" cy="576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A.java</a:t>
              </a:r>
            </a:p>
          </p:txBody>
        </p:sp>
        <p:sp>
          <p:nvSpPr>
            <p:cNvPr id="7" name="Прямоугольник 6"/>
            <p:cNvSpPr/>
            <p:nvPr/>
          </p:nvSpPr>
          <p:spPr>
            <a:xfrm>
              <a:off x="469900" y="1916276"/>
              <a:ext cx="939800" cy="576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B.java</a:t>
              </a:r>
            </a:p>
          </p:txBody>
        </p:sp>
        <p:sp>
          <p:nvSpPr>
            <p:cNvPr id="8" name="Прямоугольник 7"/>
            <p:cNvSpPr/>
            <p:nvPr/>
          </p:nvSpPr>
          <p:spPr>
            <a:xfrm>
              <a:off x="2124075" y="1052543"/>
              <a:ext cx="939800" cy="5763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A.class</a:t>
              </a:r>
              <a:endParaRPr lang="en-US" dirty="0"/>
            </a:p>
          </p:txBody>
        </p:sp>
        <p:sp>
          <p:nvSpPr>
            <p:cNvPr id="9" name="Прямоугольник 8"/>
            <p:cNvSpPr/>
            <p:nvPr/>
          </p:nvSpPr>
          <p:spPr>
            <a:xfrm>
              <a:off x="2124075" y="1989312"/>
              <a:ext cx="939800" cy="5763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B.class</a:t>
              </a:r>
              <a:endParaRPr lang="en-US" dirty="0"/>
            </a:p>
          </p:txBody>
        </p:sp>
        <p:cxnSp>
          <p:nvCxnSpPr>
            <p:cNvPr id="10" name="Прямая со стрелкой 9"/>
            <p:cNvCxnSpPr>
              <a:stCxn id="6" idx="3"/>
            </p:cNvCxnSpPr>
            <p:nvPr/>
          </p:nvCxnSpPr>
          <p:spPr>
            <a:xfrm>
              <a:off x="1403350" y="1341512"/>
              <a:ext cx="720725" cy="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p:nvPr/>
          </p:nvCxnSpPr>
          <p:spPr>
            <a:xfrm>
              <a:off x="1409700" y="2276694"/>
              <a:ext cx="719137" cy="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2" name="Скругленный прямоугольник 11"/>
            <p:cNvSpPr/>
            <p:nvPr/>
          </p:nvSpPr>
          <p:spPr>
            <a:xfrm>
              <a:off x="1673225" y="858838"/>
              <a:ext cx="1044575" cy="36041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400" dirty="0">
                  <a:solidFill>
                    <a:schemeClr val="tx1">
                      <a:lumMod val="95000"/>
                      <a:lumOff val="5000"/>
                    </a:schemeClr>
                  </a:solidFill>
                </a:rPr>
                <a:t>Байт-код</a:t>
              </a:r>
            </a:p>
          </p:txBody>
        </p:sp>
        <p:sp>
          <p:nvSpPr>
            <p:cNvPr id="13" name="Загнутый угол 12"/>
            <p:cNvSpPr/>
            <p:nvPr/>
          </p:nvSpPr>
          <p:spPr>
            <a:xfrm>
              <a:off x="2840037" y="863602"/>
              <a:ext cx="1044575" cy="360418"/>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400" dirty="0">
                  <a:solidFill>
                    <a:schemeClr val="tx1">
                      <a:lumMod val="95000"/>
                      <a:lumOff val="5000"/>
                    </a:schemeClr>
                  </a:solidFill>
                </a:rPr>
                <a:t>Интерфейс</a:t>
              </a:r>
            </a:p>
          </p:txBody>
        </p:sp>
        <p:sp>
          <p:nvSpPr>
            <p:cNvPr id="14" name="Скругленный прямоугольник 13"/>
            <p:cNvSpPr/>
            <p:nvPr/>
          </p:nvSpPr>
          <p:spPr>
            <a:xfrm>
              <a:off x="1673225" y="1736861"/>
              <a:ext cx="1044575" cy="36041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400" dirty="0">
                  <a:solidFill>
                    <a:schemeClr val="tx1">
                      <a:lumMod val="95000"/>
                      <a:lumOff val="5000"/>
                    </a:schemeClr>
                  </a:solidFill>
                </a:rPr>
                <a:t>Байт-код</a:t>
              </a:r>
            </a:p>
          </p:txBody>
        </p:sp>
        <p:sp>
          <p:nvSpPr>
            <p:cNvPr id="15" name="Загнутый угол 14"/>
            <p:cNvSpPr/>
            <p:nvPr/>
          </p:nvSpPr>
          <p:spPr>
            <a:xfrm>
              <a:off x="2840037" y="1741624"/>
              <a:ext cx="1044575" cy="360419"/>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400" dirty="0">
                  <a:solidFill>
                    <a:schemeClr val="tx1">
                      <a:lumMod val="95000"/>
                      <a:lumOff val="5000"/>
                    </a:schemeClr>
                  </a:solidFill>
                </a:rPr>
                <a:t>Интерфейс</a:t>
              </a:r>
            </a:p>
          </p:txBody>
        </p:sp>
        <p:cxnSp>
          <p:nvCxnSpPr>
            <p:cNvPr id="16" name="Прямая со стрелкой 15"/>
            <p:cNvCxnSpPr/>
            <p:nvPr/>
          </p:nvCxnSpPr>
          <p:spPr>
            <a:xfrm>
              <a:off x="3063875" y="1341512"/>
              <a:ext cx="1363662" cy="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7" name="Овал 16"/>
            <p:cNvSpPr/>
            <p:nvPr/>
          </p:nvSpPr>
          <p:spPr>
            <a:xfrm>
              <a:off x="4500562" y="1043016"/>
              <a:ext cx="863600" cy="58587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lumMod val="95000"/>
                      <a:lumOff val="5000"/>
                    </a:schemeClr>
                  </a:solidFill>
                </a:rPr>
                <a:t>A</a:t>
              </a:r>
              <a:endParaRPr lang="ru-RU" dirty="0">
                <a:solidFill>
                  <a:schemeClr val="tx1">
                    <a:lumMod val="95000"/>
                    <a:lumOff val="5000"/>
                  </a:schemeClr>
                </a:solidFill>
              </a:endParaRPr>
            </a:p>
          </p:txBody>
        </p:sp>
        <p:sp>
          <p:nvSpPr>
            <p:cNvPr id="18" name="Скругленный прямоугольник 17"/>
            <p:cNvSpPr/>
            <p:nvPr/>
          </p:nvSpPr>
          <p:spPr>
            <a:xfrm>
              <a:off x="5651500" y="1617780"/>
              <a:ext cx="936625" cy="116381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ru-RU" sz="1400" dirty="0">
                  <a:solidFill>
                    <a:schemeClr val="tx1">
                      <a:lumMod val="95000"/>
                      <a:lumOff val="5000"/>
                    </a:schemeClr>
                  </a:solidFill>
                </a:rPr>
                <a:t>Байт-код</a:t>
              </a:r>
              <a:endParaRPr lang="en-US" sz="1400" dirty="0">
                <a:solidFill>
                  <a:schemeClr val="tx1">
                    <a:lumMod val="95000"/>
                    <a:lumOff val="5000"/>
                  </a:schemeClr>
                </a:solidFill>
              </a:endParaRPr>
            </a:p>
            <a:p>
              <a:pPr>
                <a:defRPr/>
              </a:pPr>
              <a:r>
                <a:rPr lang="en-US" sz="1400" dirty="0">
                  <a:solidFill>
                    <a:schemeClr val="tx1">
                      <a:lumMod val="95000"/>
                      <a:lumOff val="5000"/>
                    </a:schemeClr>
                  </a:solidFill>
                </a:rPr>
                <a:t>Call</a:t>
              </a:r>
              <a:r>
                <a:rPr lang="ru-RU" sz="1400" dirty="0">
                  <a:solidFill>
                    <a:schemeClr val="tx1">
                      <a:lumMod val="95000"/>
                      <a:lumOff val="5000"/>
                    </a:schemeClr>
                  </a:solidFill>
                </a:rPr>
                <a:t> </a:t>
              </a:r>
              <a:r>
                <a:rPr lang="en-US" sz="1400" dirty="0">
                  <a:solidFill>
                    <a:schemeClr val="tx1">
                      <a:lumMod val="95000"/>
                      <a:lumOff val="5000"/>
                    </a:schemeClr>
                  </a:solidFill>
                </a:rPr>
                <a:t>[4]</a:t>
              </a:r>
              <a:endParaRPr lang="ru-RU" sz="1400" dirty="0">
                <a:solidFill>
                  <a:schemeClr val="tx1">
                    <a:lumMod val="95000"/>
                    <a:lumOff val="5000"/>
                  </a:schemeClr>
                </a:solidFill>
              </a:endParaRPr>
            </a:p>
          </p:txBody>
        </p:sp>
        <p:sp>
          <p:nvSpPr>
            <p:cNvPr id="19" name="Загнутый угол 18"/>
            <p:cNvSpPr/>
            <p:nvPr/>
          </p:nvSpPr>
          <p:spPr>
            <a:xfrm>
              <a:off x="5680075" y="858838"/>
              <a:ext cx="1044575" cy="360419"/>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400" dirty="0">
                  <a:solidFill>
                    <a:schemeClr val="tx1">
                      <a:lumMod val="95000"/>
                      <a:lumOff val="5000"/>
                    </a:schemeClr>
                  </a:solidFill>
                </a:rPr>
                <a:t>Интерфейс</a:t>
              </a:r>
            </a:p>
          </p:txBody>
        </p:sp>
        <p:sp>
          <p:nvSpPr>
            <p:cNvPr id="20" name="Овал 19"/>
            <p:cNvSpPr/>
            <p:nvPr/>
          </p:nvSpPr>
          <p:spPr>
            <a:xfrm>
              <a:off x="4500562" y="2349731"/>
              <a:ext cx="863600" cy="58429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lumMod val="95000"/>
                      <a:lumOff val="5000"/>
                    </a:schemeClr>
                  </a:solidFill>
                </a:rPr>
                <a:t>B</a:t>
              </a:r>
              <a:endParaRPr lang="ru-RU" dirty="0">
                <a:solidFill>
                  <a:schemeClr val="tx1">
                    <a:lumMod val="95000"/>
                    <a:lumOff val="5000"/>
                  </a:schemeClr>
                </a:solidFill>
              </a:endParaRPr>
            </a:p>
          </p:txBody>
        </p:sp>
        <p:cxnSp>
          <p:nvCxnSpPr>
            <p:cNvPr id="21" name="Прямая со стрелкой 20"/>
            <p:cNvCxnSpPr>
              <a:endCxn id="20" idx="2"/>
            </p:cNvCxnSpPr>
            <p:nvPr/>
          </p:nvCxnSpPr>
          <p:spPr>
            <a:xfrm>
              <a:off x="3063875" y="2278282"/>
              <a:ext cx="1436687" cy="363594"/>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p:cNvCxnSpPr>
              <a:stCxn id="17" idx="5"/>
              <a:endCxn id="18" idx="1"/>
            </p:cNvCxnSpPr>
            <p:nvPr/>
          </p:nvCxnSpPr>
          <p:spPr>
            <a:xfrm>
              <a:off x="5237162" y="1543156"/>
              <a:ext cx="414338" cy="657326"/>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p:cNvCxnSpPr>
              <a:endCxn id="19" idx="1"/>
            </p:cNvCxnSpPr>
            <p:nvPr/>
          </p:nvCxnSpPr>
          <p:spPr>
            <a:xfrm flipV="1">
              <a:off x="5219700" y="1039841"/>
              <a:ext cx="460375" cy="179416"/>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4" name="Скругленный прямоугольник 23"/>
            <p:cNvSpPr/>
            <p:nvPr/>
          </p:nvSpPr>
          <p:spPr>
            <a:xfrm>
              <a:off x="6781800" y="3234104"/>
              <a:ext cx="742950" cy="141944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ru-RU" sz="1400" dirty="0">
                  <a:solidFill>
                    <a:schemeClr val="tx1">
                      <a:lumMod val="95000"/>
                      <a:lumOff val="5000"/>
                    </a:schemeClr>
                  </a:solidFill>
                </a:rPr>
                <a:t>Байт-код</a:t>
              </a:r>
            </a:p>
          </p:txBody>
        </p:sp>
        <p:sp>
          <p:nvSpPr>
            <p:cNvPr id="25" name="Скругленный прямоугольник 24"/>
            <p:cNvSpPr/>
            <p:nvPr/>
          </p:nvSpPr>
          <p:spPr>
            <a:xfrm>
              <a:off x="5237162" y="3712015"/>
              <a:ext cx="1090613" cy="85738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ru-RU" sz="1400" dirty="0">
                  <a:solidFill>
                    <a:schemeClr val="tx1">
                      <a:lumMod val="95000"/>
                      <a:lumOff val="5000"/>
                    </a:schemeClr>
                  </a:solidFill>
                </a:rPr>
                <a:t>Таблица имен</a:t>
              </a:r>
            </a:p>
            <a:p>
              <a:pPr>
                <a:defRPr/>
              </a:pPr>
              <a:r>
                <a:rPr lang="en-US" sz="1400" dirty="0">
                  <a:solidFill>
                    <a:schemeClr val="tx1">
                      <a:lumMod val="95000"/>
                      <a:lumOff val="5000"/>
                    </a:schemeClr>
                  </a:solidFill>
                </a:rPr>
                <a:t>B.F 0x1A0</a:t>
              </a:r>
              <a:endParaRPr lang="ru-RU" sz="1400" dirty="0">
                <a:solidFill>
                  <a:schemeClr val="tx1">
                    <a:lumMod val="95000"/>
                    <a:lumOff val="5000"/>
                  </a:schemeClr>
                </a:solidFill>
              </a:endParaRPr>
            </a:p>
            <a:p>
              <a:pPr algn="ctr">
                <a:defRPr/>
              </a:pPr>
              <a:endParaRPr lang="ru-RU" sz="1400" dirty="0">
                <a:solidFill>
                  <a:schemeClr val="tx1">
                    <a:lumMod val="95000"/>
                    <a:lumOff val="5000"/>
                  </a:schemeClr>
                </a:solidFill>
              </a:endParaRPr>
            </a:p>
          </p:txBody>
        </p:sp>
        <p:cxnSp>
          <p:nvCxnSpPr>
            <p:cNvPr id="26" name="Прямая со стрелкой 25"/>
            <p:cNvCxnSpPr>
              <a:stCxn id="20" idx="5"/>
              <a:endCxn id="25" idx="0"/>
            </p:cNvCxnSpPr>
            <p:nvPr/>
          </p:nvCxnSpPr>
          <p:spPr>
            <a:xfrm>
              <a:off x="5237162" y="2848282"/>
              <a:ext cx="546100" cy="863733"/>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p:nvPr/>
          </p:nvCxnSpPr>
          <p:spPr>
            <a:xfrm flipV="1">
              <a:off x="6165850" y="3943826"/>
              <a:ext cx="812800" cy="22704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8" name="Скругленный прямоугольник 27"/>
            <p:cNvSpPr/>
            <p:nvPr/>
          </p:nvSpPr>
          <p:spPr>
            <a:xfrm>
              <a:off x="6978650" y="1668588"/>
              <a:ext cx="1370012" cy="111300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ru-RU" sz="1400" dirty="0">
                  <a:solidFill>
                    <a:schemeClr val="tx1">
                      <a:lumMod val="95000"/>
                      <a:lumOff val="5000"/>
                    </a:schemeClr>
                  </a:solidFill>
                </a:rPr>
                <a:t>Таблица символов метода</a:t>
              </a:r>
            </a:p>
            <a:p>
              <a:pPr>
                <a:defRPr/>
              </a:pPr>
              <a:r>
                <a:rPr lang="en-US" sz="1400" dirty="0">
                  <a:solidFill>
                    <a:schemeClr val="tx1">
                      <a:lumMod val="95000"/>
                      <a:lumOff val="5000"/>
                    </a:schemeClr>
                  </a:solidFill>
                </a:rPr>
                <a:t>B.F 0x1A0+b0</a:t>
              </a:r>
              <a:endParaRPr lang="ru-RU" sz="1400" dirty="0">
                <a:solidFill>
                  <a:schemeClr val="tx1">
                    <a:lumMod val="95000"/>
                    <a:lumOff val="5000"/>
                  </a:schemeClr>
                </a:solidFill>
              </a:endParaRPr>
            </a:p>
            <a:p>
              <a:pPr algn="ctr">
                <a:defRPr/>
              </a:pPr>
              <a:endParaRPr lang="ru-RU" sz="1400" dirty="0">
                <a:solidFill>
                  <a:schemeClr val="tx1">
                    <a:lumMod val="95000"/>
                    <a:lumOff val="5000"/>
                  </a:schemeClr>
                </a:solidFill>
              </a:endParaRPr>
            </a:p>
          </p:txBody>
        </p:sp>
        <p:cxnSp>
          <p:nvCxnSpPr>
            <p:cNvPr id="29" name="Прямая со стрелкой 28"/>
            <p:cNvCxnSpPr/>
            <p:nvPr/>
          </p:nvCxnSpPr>
          <p:spPr>
            <a:xfrm>
              <a:off x="6446837" y="2243351"/>
              <a:ext cx="646113" cy="21752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0" name="Полилиния 29"/>
            <p:cNvSpPr/>
            <p:nvPr/>
          </p:nvSpPr>
          <p:spPr>
            <a:xfrm>
              <a:off x="7092950" y="2460873"/>
              <a:ext cx="1625600" cy="1536937"/>
            </a:xfrm>
            <a:custGeom>
              <a:avLst/>
              <a:gdLst>
                <a:gd name="connsiteX0" fmla="*/ 805542 w 1180190"/>
                <a:gd name="connsiteY0" fmla="*/ 5818 h 1537908"/>
                <a:gd name="connsiteX1" fmla="*/ 1066800 w 1180190"/>
                <a:gd name="connsiteY1" fmla="*/ 125561 h 1537908"/>
                <a:gd name="connsiteX2" fmla="*/ 1175657 w 1180190"/>
                <a:gd name="connsiteY2" fmla="*/ 854904 h 1537908"/>
                <a:gd name="connsiteX3" fmla="*/ 1034142 w 1180190"/>
                <a:gd name="connsiteY3" fmla="*/ 1442733 h 1537908"/>
                <a:gd name="connsiteX4" fmla="*/ 0 w 1180190"/>
                <a:gd name="connsiteY4" fmla="*/ 1529818 h 153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0190" h="1537908">
                  <a:moveTo>
                    <a:pt x="805542" y="5818"/>
                  </a:moveTo>
                  <a:cubicBezTo>
                    <a:pt x="905328" y="-5068"/>
                    <a:pt x="1005114" y="-15953"/>
                    <a:pt x="1066800" y="125561"/>
                  </a:cubicBezTo>
                  <a:cubicBezTo>
                    <a:pt x="1128486" y="267075"/>
                    <a:pt x="1181100" y="635375"/>
                    <a:pt x="1175657" y="854904"/>
                  </a:cubicBezTo>
                  <a:cubicBezTo>
                    <a:pt x="1170214" y="1074433"/>
                    <a:pt x="1230085" y="1330247"/>
                    <a:pt x="1034142" y="1442733"/>
                  </a:cubicBezTo>
                  <a:cubicBezTo>
                    <a:pt x="838199" y="1555219"/>
                    <a:pt x="419099" y="1542518"/>
                    <a:pt x="0" y="1529818"/>
                  </a:cubicBezTo>
                </a:path>
              </a:pathLst>
            </a:custGeom>
            <a:noFill/>
            <a:ln>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p>
          </p:txBody>
        </p:sp>
        <p:sp>
          <p:nvSpPr>
            <p:cNvPr id="31" name="Загнутый угол 30"/>
            <p:cNvSpPr/>
            <p:nvPr/>
          </p:nvSpPr>
          <p:spPr>
            <a:xfrm>
              <a:off x="5643562" y="2934021"/>
              <a:ext cx="1044575" cy="360418"/>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ru-RU" sz="1400" dirty="0">
                  <a:solidFill>
                    <a:schemeClr val="tx1">
                      <a:lumMod val="95000"/>
                      <a:lumOff val="5000"/>
                    </a:schemeClr>
                  </a:solidFill>
                </a:rPr>
                <a:t>Интерфейс</a:t>
              </a:r>
            </a:p>
          </p:txBody>
        </p:sp>
        <p:cxnSp>
          <p:nvCxnSpPr>
            <p:cNvPr id="32" name="Прямая со стрелкой 31"/>
            <p:cNvCxnSpPr>
              <a:endCxn id="31" idx="1"/>
            </p:cNvCxnSpPr>
            <p:nvPr/>
          </p:nvCxnSpPr>
          <p:spPr>
            <a:xfrm>
              <a:off x="5243512" y="2800650"/>
              <a:ext cx="400050" cy="314373"/>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3" name="Прямоугольник 32"/>
            <p:cNvSpPr/>
            <p:nvPr/>
          </p:nvSpPr>
          <p:spPr>
            <a:xfrm>
              <a:off x="1139825" y="3424633"/>
              <a:ext cx="939800" cy="5763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C.class</a:t>
              </a:r>
              <a:endParaRPr lang="en-US" dirty="0"/>
            </a:p>
          </p:txBody>
        </p:sp>
        <p:sp>
          <p:nvSpPr>
            <p:cNvPr id="34" name="Прямоугольник 33"/>
            <p:cNvSpPr/>
            <p:nvPr/>
          </p:nvSpPr>
          <p:spPr>
            <a:xfrm>
              <a:off x="1292225" y="3577057"/>
              <a:ext cx="939800" cy="5763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C.class</a:t>
              </a:r>
              <a:endParaRPr lang="en-US" dirty="0"/>
            </a:p>
          </p:txBody>
        </p:sp>
        <p:sp>
          <p:nvSpPr>
            <p:cNvPr id="35" name="Прямоугольник 34"/>
            <p:cNvSpPr/>
            <p:nvPr/>
          </p:nvSpPr>
          <p:spPr>
            <a:xfrm>
              <a:off x="1444625" y="3729480"/>
              <a:ext cx="939800" cy="5763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C.class</a:t>
              </a:r>
              <a:endParaRPr lang="en-US" dirty="0"/>
            </a:p>
          </p:txBody>
        </p:sp>
        <p:sp>
          <p:nvSpPr>
            <p:cNvPr id="36" name="Прямоугольник 35"/>
            <p:cNvSpPr/>
            <p:nvPr/>
          </p:nvSpPr>
          <p:spPr>
            <a:xfrm>
              <a:off x="1597025" y="3881904"/>
              <a:ext cx="939800" cy="5763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C.class</a:t>
              </a:r>
              <a:endParaRPr lang="en-US" dirty="0"/>
            </a:p>
          </p:txBody>
        </p:sp>
        <p:sp>
          <p:nvSpPr>
            <p:cNvPr id="37" name="Прямоугольник 36"/>
            <p:cNvSpPr/>
            <p:nvPr/>
          </p:nvSpPr>
          <p:spPr>
            <a:xfrm>
              <a:off x="1749425" y="4034327"/>
              <a:ext cx="939800" cy="5763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err="1"/>
                <a:t>C.class</a:t>
              </a:r>
              <a:endParaRPr lang="en-US" dirty="0"/>
            </a:p>
          </p:txBody>
        </p:sp>
        <p:sp>
          <p:nvSpPr>
            <p:cNvPr id="38" name="TextBox 51"/>
            <p:cNvSpPr txBox="1">
              <a:spLocks noChangeArrowheads="1"/>
            </p:cNvSpPr>
            <p:nvPr/>
          </p:nvSpPr>
          <p:spPr bwMode="auto">
            <a:xfrm>
              <a:off x="542925" y="2979738"/>
              <a:ext cx="2520950" cy="1754187"/>
            </a:xfrm>
            <a:prstGeom prst="rect">
              <a:avLst/>
            </a:prstGeom>
            <a:noFill/>
            <a:ln w="9525">
              <a:solidFill>
                <a:schemeClr val="bg1"/>
              </a:solidFill>
              <a:miter lim="800000"/>
              <a:headEnd/>
              <a:tailEnd/>
            </a:ln>
          </p:spPr>
          <p:txBody>
            <a:bodyPr>
              <a:spAutoFit/>
            </a:bodyPr>
            <a:lstStyle/>
            <a:p>
              <a:r>
                <a:rPr lang="en-US">
                  <a:solidFill>
                    <a:schemeClr val="bg1"/>
                  </a:solidFill>
                </a:rPr>
                <a:t>X.Jar</a:t>
              </a:r>
            </a:p>
            <a:p>
              <a:endParaRPr lang="en-US">
                <a:solidFill>
                  <a:schemeClr val="bg1"/>
                </a:solidFill>
              </a:endParaRPr>
            </a:p>
            <a:p>
              <a:endParaRPr lang="en-US">
                <a:solidFill>
                  <a:schemeClr val="bg1"/>
                </a:solidFill>
              </a:endParaRPr>
            </a:p>
            <a:p>
              <a:endParaRPr lang="en-US">
                <a:solidFill>
                  <a:schemeClr val="bg1"/>
                </a:solidFill>
              </a:endParaRPr>
            </a:p>
            <a:p>
              <a:endParaRPr lang="en-US">
                <a:solidFill>
                  <a:schemeClr val="bg1"/>
                </a:solidFill>
              </a:endParaRPr>
            </a:p>
            <a:p>
              <a:endParaRPr lang="en-US">
                <a:solidFill>
                  <a:schemeClr val="bg1"/>
                </a:solidFill>
              </a:endParaRPr>
            </a:p>
          </p:txBody>
        </p:sp>
        <p:sp>
          <p:nvSpPr>
            <p:cNvPr id="39" name="TextBox 62"/>
            <p:cNvSpPr txBox="1">
              <a:spLocks noChangeArrowheads="1"/>
            </p:cNvSpPr>
            <p:nvPr/>
          </p:nvSpPr>
          <p:spPr bwMode="auto">
            <a:xfrm>
              <a:off x="3491880" y="3212976"/>
              <a:ext cx="1658937" cy="1200329"/>
            </a:xfrm>
            <a:prstGeom prst="rect">
              <a:avLst/>
            </a:prstGeom>
            <a:noFill/>
            <a:ln w="9525">
              <a:solidFill>
                <a:schemeClr val="bg1"/>
              </a:solidFill>
              <a:miter lim="800000"/>
              <a:headEnd/>
              <a:tailEnd/>
            </a:ln>
          </p:spPr>
          <p:txBody>
            <a:bodyPr>
              <a:spAutoFit/>
            </a:bodyPr>
            <a:lstStyle/>
            <a:p>
              <a:r>
                <a:rPr lang="en-US">
                  <a:solidFill>
                    <a:schemeClr val="bg1"/>
                  </a:solidFill>
                </a:rPr>
                <a:t>B</a:t>
              </a:r>
            </a:p>
            <a:p>
              <a:endParaRPr lang="en-US">
                <a:solidFill>
                  <a:schemeClr val="bg1"/>
                </a:solidFill>
              </a:endParaRPr>
            </a:p>
            <a:p>
              <a:endParaRPr lang="en-US">
                <a:solidFill>
                  <a:schemeClr val="bg1"/>
                </a:solidFill>
              </a:endParaRPr>
            </a:p>
            <a:p>
              <a:endParaRPr lang="en-US">
                <a:solidFill>
                  <a:schemeClr val="bg1"/>
                </a:solidFill>
              </a:endParaRPr>
            </a:p>
          </p:txBody>
        </p:sp>
        <p:sp>
          <p:nvSpPr>
            <p:cNvPr id="40" name="TextBox 63"/>
            <p:cNvSpPr txBox="1">
              <a:spLocks noChangeArrowheads="1"/>
            </p:cNvSpPr>
            <p:nvPr/>
          </p:nvSpPr>
          <p:spPr bwMode="auto">
            <a:xfrm>
              <a:off x="3779912" y="3573016"/>
              <a:ext cx="1212850" cy="646113"/>
            </a:xfrm>
            <a:prstGeom prst="rect">
              <a:avLst/>
            </a:prstGeom>
            <a:noFill/>
            <a:ln w="9525">
              <a:solidFill>
                <a:schemeClr val="bg1"/>
              </a:solidFill>
              <a:miter lim="800000"/>
              <a:headEnd/>
              <a:tailEnd/>
            </a:ln>
          </p:spPr>
          <p:txBody>
            <a:bodyPr>
              <a:spAutoFit/>
            </a:bodyPr>
            <a:lstStyle/>
            <a:p>
              <a:r>
                <a:rPr lang="en-US">
                  <a:solidFill>
                    <a:schemeClr val="bg1"/>
                  </a:solidFill>
                </a:rPr>
                <a:t>Object</a:t>
              </a:r>
            </a:p>
            <a:p>
              <a:endParaRPr lang="en-US">
                <a:solidFill>
                  <a:schemeClr val="bg1"/>
                </a:solidFill>
              </a:endParaRPr>
            </a:p>
          </p:txBody>
        </p:sp>
        <p:sp>
          <p:nvSpPr>
            <p:cNvPr id="41" name="TextBox 64"/>
            <p:cNvSpPr txBox="1">
              <a:spLocks noChangeArrowheads="1"/>
            </p:cNvSpPr>
            <p:nvPr/>
          </p:nvSpPr>
          <p:spPr bwMode="auto">
            <a:xfrm>
              <a:off x="3491880" y="4509120"/>
              <a:ext cx="592138" cy="368300"/>
            </a:xfrm>
            <a:prstGeom prst="rect">
              <a:avLst/>
            </a:prstGeom>
            <a:noFill/>
            <a:ln w="9525">
              <a:solidFill>
                <a:schemeClr val="bg1"/>
              </a:solidFill>
              <a:miter lim="800000"/>
              <a:headEnd/>
              <a:tailEnd/>
            </a:ln>
          </p:spPr>
          <p:txBody>
            <a:bodyPr>
              <a:spAutoFit/>
            </a:bodyPr>
            <a:lstStyle/>
            <a:p>
              <a:r>
                <a:rPr lang="en-US">
                  <a:solidFill>
                    <a:schemeClr val="bg1"/>
                  </a:solidFill>
                </a:rPr>
                <a:t>p</a:t>
              </a:r>
            </a:p>
          </p:txBody>
        </p:sp>
        <p:cxnSp>
          <p:nvCxnSpPr>
            <p:cNvPr id="42" name="Прямая со стрелкой 41"/>
            <p:cNvCxnSpPr>
              <a:endCxn id="20" idx="4"/>
            </p:cNvCxnSpPr>
            <p:nvPr/>
          </p:nvCxnSpPr>
          <p:spPr>
            <a:xfrm flipV="1">
              <a:off x="4932362" y="2934021"/>
              <a:ext cx="0" cy="71131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p:nvPr/>
          </p:nvCxnSpPr>
          <p:spPr>
            <a:xfrm flipV="1">
              <a:off x="3995737" y="4077197"/>
              <a:ext cx="833438" cy="54300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2" y="174625"/>
            <a:ext cx="8470775" cy="431800"/>
          </a:xfrm>
          <a:prstGeom prst="rect">
            <a:avLst/>
          </a:prstGeom>
          <a:noFill/>
          <a:ln w="9525">
            <a:noFill/>
            <a:miter lim="800000"/>
            <a:headEnd/>
            <a:tailEnd/>
          </a:ln>
        </p:spPr>
        <p:txBody>
          <a:bodyPr anchor="ctr"/>
          <a:lstStyle/>
          <a:p>
            <a:pPr algn="ctr">
              <a:lnSpc>
                <a:spcPct val="80000"/>
              </a:lnSpc>
            </a:pPr>
            <a:r>
              <a:rPr lang="ru-RU" altLang="ru-RU" sz="3200" smtClean="0">
                <a:solidFill>
                  <a:schemeClr val="bg1"/>
                </a:solidFill>
                <a:latin typeface="Calibri" pitchFamily="34" charset="0"/>
              </a:rPr>
              <a:t>Виртуальная</a:t>
            </a:r>
            <a:r>
              <a:rPr lang="en-US" altLang="ru-RU" sz="3200" smtClean="0">
                <a:solidFill>
                  <a:schemeClr val="bg1"/>
                </a:solidFill>
                <a:latin typeface="Calibri" pitchFamily="34" charset="0"/>
              </a:rPr>
              <a:t> </a:t>
            </a:r>
            <a:r>
              <a:rPr lang="ru-RU" altLang="ru-RU" sz="3200" smtClean="0">
                <a:solidFill>
                  <a:schemeClr val="bg1"/>
                </a:solidFill>
                <a:latin typeface="Calibri" pitchFamily="34" charset="0"/>
              </a:rPr>
              <a:t>среда исполнения кода. </a:t>
            </a:r>
            <a:r>
              <a:rPr lang="en-US" altLang="ru-RU" sz="3200" smtClean="0">
                <a:solidFill>
                  <a:schemeClr val="bg1"/>
                </a:solidFill>
                <a:latin typeface="Calibri" pitchFamily="34" charset="0"/>
              </a:rPr>
              <a:t>Java</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44" name="Прямоугольник 43"/>
          <p:cNvSpPr/>
          <p:nvPr/>
        </p:nvSpPr>
        <p:spPr>
          <a:xfrm>
            <a:off x="179512" y="908720"/>
            <a:ext cx="8721725" cy="5078413"/>
          </a:xfrm>
          <a:prstGeom prst="rect">
            <a:avLst/>
          </a:prstGeom>
        </p:spPr>
        <p:txBody>
          <a:bodyPr>
            <a:spAutoFit/>
          </a:bodyPr>
          <a:lstStyle/>
          <a:p>
            <a:pPr>
              <a:defRPr/>
            </a:pPr>
            <a:r>
              <a:rPr lang="ru-RU" b="1" dirty="0">
                <a:solidFill>
                  <a:srgbClr val="FFFF00"/>
                </a:solidFill>
                <a:latin typeface="+mn-lt"/>
              </a:rPr>
              <a:t>Динамическая объектно-ориентированная модель представления программы</a:t>
            </a:r>
            <a:r>
              <a:rPr lang="en-US" dirty="0">
                <a:solidFill>
                  <a:srgbClr val="FFFF00"/>
                </a:solidFill>
                <a:latin typeface="+mn-lt"/>
              </a:rPr>
              <a:t>:</a:t>
            </a:r>
            <a:endParaRPr lang="ru-RU" dirty="0">
              <a:solidFill>
                <a:schemeClr val="bg1"/>
              </a:solidFill>
              <a:latin typeface="+mn-lt"/>
            </a:endParaRPr>
          </a:p>
          <a:p>
            <a:pPr marL="285750" indent="-285750">
              <a:buFont typeface="Arial" panose="020B0604020202020204" pitchFamily="34" charset="0"/>
              <a:buChar char="•"/>
              <a:defRPr/>
            </a:pPr>
            <a:r>
              <a:rPr lang="ru-RU" dirty="0" err="1">
                <a:solidFill>
                  <a:schemeClr val="bg1"/>
                </a:solidFill>
                <a:latin typeface="+mn-lt"/>
              </a:rPr>
              <a:t>Java</a:t>
            </a:r>
            <a:r>
              <a:rPr lang="ru-RU" dirty="0">
                <a:solidFill>
                  <a:schemeClr val="bg1"/>
                </a:solidFill>
                <a:latin typeface="+mn-lt"/>
              </a:rPr>
              <a:t>-программа представляет собой набор классов, для каждого класса при компиляции создается двоичный файл с расширением </a:t>
            </a:r>
            <a:r>
              <a:rPr lang="ru-RU" b="1" dirty="0" err="1">
                <a:solidFill>
                  <a:schemeClr val="bg1"/>
                </a:solidFill>
                <a:latin typeface="+mn-lt"/>
              </a:rPr>
              <a:t>class</a:t>
            </a:r>
            <a:r>
              <a:rPr lang="ru-RU" b="1" dirty="0">
                <a:solidFill>
                  <a:schemeClr val="bg1"/>
                </a:solidFill>
                <a:latin typeface="+mn-lt"/>
              </a:rPr>
              <a:t>, </a:t>
            </a:r>
            <a:r>
              <a:rPr lang="ru-RU" dirty="0" err="1">
                <a:solidFill>
                  <a:schemeClr val="bg1"/>
                </a:solidFill>
                <a:latin typeface="+mn-lt"/>
              </a:rPr>
              <a:t>содержищий</a:t>
            </a:r>
            <a:r>
              <a:rPr lang="ru-RU" dirty="0">
                <a:solidFill>
                  <a:schemeClr val="bg1"/>
                </a:solidFill>
                <a:latin typeface="+mn-lt"/>
              </a:rPr>
              <a:t> кроме собственно </a:t>
            </a:r>
            <a:r>
              <a:rPr lang="ru-RU" i="1" dirty="0">
                <a:solidFill>
                  <a:schemeClr val="bg1"/>
                </a:solidFill>
                <a:latin typeface="+mn-lt"/>
              </a:rPr>
              <a:t>байт-кода методов </a:t>
            </a:r>
            <a:r>
              <a:rPr lang="ru-RU" dirty="0">
                <a:solidFill>
                  <a:schemeClr val="bg1"/>
                </a:solidFill>
                <a:latin typeface="+mn-lt"/>
              </a:rPr>
              <a:t>еще и </a:t>
            </a:r>
            <a:r>
              <a:rPr lang="ru-RU" i="1" dirty="0">
                <a:solidFill>
                  <a:schemeClr val="bg1"/>
                </a:solidFill>
                <a:latin typeface="+mn-lt"/>
              </a:rPr>
              <a:t>описание структуры класса (описание данных и заголовки методов)</a:t>
            </a:r>
          </a:p>
          <a:p>
            <a:pPr marL="285750" indent="-285750">
              <a:buFont typeface="Arial" panose="020B0604020202020204" pitchFamily="34" charset="0"/>
              <a:buChar char="•"/>
              <a:defRPr/>
            </a:pPr>
            <a:r>
              <a:rPr lang="ru-RU" dirty="0">
                <a:solidFill>
                  <a:schemeClr val="bg1"/>
                </a:solidFill>
                <a:latin typeface="+mn-lt"/>
              </a:rPr>
              <a:t>JVM при загрузке классов для каждого из них создает объект класса </a:t>
            </a:r>
            <a:r>
              <a:rPr lang="ru-RU" b="1" dirty="0" err="1">
                <a:solidFill>
                  <a:schemeClr val="bg1"/>
                </a:solidFill>
                <a:latin typeface="+mn-lt"/>
              </a:rPr>
              <a:t>Class</a:t>
            </a:r>
            <a:r>
              <a:rPr lang="ru-RU" b="1" dirty="0">
                <a:solidFill>
                  <a:schemeClr val="bg1"/>
                </a:solidFill>
                <a:latin typeface="+mn-lt"/>
              </a:rPr>
              <a:t> –</a:t>
            </a:r>
            <a:r>
              <a:rPr lang="ru-RU" dirty="0">
                <a:solidFill>
                  <a:schemeClr val="bg1"/>
                </a:solidFill>
                <a:latin typeface="+mn-lt"/>
              </a:rPr>
              <a:t>описатель класса, в который загружаются данные из файла описания</a:t>
            </a:r>
          </a:p>
          <a:p>
            <a:pPr marL="285750" indent="-285750">
              <a:buFont typeface="Arial" panose="020B0604020202020204" pitchFamily="34" charset="0"/>
              <a:buChar char="•"/>
              <a:defRPr/>
            </a:pPr>
            <a:r>
              <a:rPr lang="ru-RU" dirty="0">
                <a:solidFill>
                  <a:schemeClr val="bg1"/>
                </a:solidFill>
                <a:latin typeface="+mn-lt"/>
              </a:rPr>
              <a:t>Описатель класса содержит ссылки на родительский класс, интерфейсы и т.п.</a:t>
            </a:r>
          </a:p>
          <a:p>
            <a:pPr>
              <a:defRPr/>
            </a:pPr>
            <a:r>
              <a:rPr lang="ru-RU" altLang="ru-RU" b="1" dirty="0">
                <a:solidFill>
                  <a:srgbClr val="FFFF00"/>
                </a:solidFill>
                <a:latin typeface="+mn-lt"/>
              </a:rPr>
              <a:t>Динамическое связывание внешних методов и данных</a:t>
            </a:r>
            <a:r>
              <a:rPr lang="en-US" altLang="ru-RU" b="1" dirty="0">
                <a:solidFill>
                  <a:schemeClr val="bg1"/>
                </a:solidFill>
                <a:latin typeface="+mn-lt"/>
              </a:rPr>
              <a:t>:</a:t>
            </a:r>
          </a:p>
          <a:p>
            <a:pPr marL="285750" indent="-285750">
              <a:buFont typeface="Arial" panose="020B0604020202020204" pitchFamily="34" charset="0"/>
              <a:buChar char="•"/>
              <a:defRPr/>
            </a:pPr>
            <a:r>
              <a:rPr lang="ru-RU" altLang="ru-RU" dirty="0">
                <a:solidFill>
                  <a:schemeClr val="bg1"/>
                </a:solidFill>
                <a:latin typeface="+mn-lt"/>
              </a:rPr>
              <a:t>Вызов внешнего метода «по имени» </a:t>
            </a:r>
          </a:p>
          <a:p>
            <a:pPr marL="285750" indent="-285750">
              <a:buFont typeface="Arial" panose="020B0604020202020204" pitchFamily="34" charset="0"/>
              <a:buChar char="•"/>
              <a:defRPr/>
            </a:pPr>
            <a:r>
              <a:rPr lang="ru-RU" altLang="ru-RU" dirty="0">
                <a:solidFill>
                  <a:schemeClr val="bg1"/>
                </a:solidFill>
                <a:latin typeface="+mn-lt"/>
              </a:rPr>
              <a:t>При вызове методов в «посторонних» классах байт-код содержит ссылку на таблицу символов метода с именем внешней ссылки</a:t>
            </a:r>
          </a:p>
          <a:p>
            <a:pPr marL="285750" indent="-285750">
              <a:buFont typeface="Arial" panose="020B0604020202020204" pitchFamily="34" charset="0"/>
              <a:buChar char="•"/>
              <a:defRPr/>
            </a:pPr>
            <a:r>
              <a:rPr lang="ru-RU" altLang="ru-RU" dirty="0">
                <a:solidFill>
                  <a:schemeClr val="bg1"/>
                </a:solidFill>
                <a:latin typeface="+mn-lt"/>
              </a:rPr>
              <a:t>Ищется описатель класса </a:t>
            </a:r>
            <a:r>
              <a:rPr lang="en-US" altLang="ru-RU" b="1" dirty="0">
                <a:solidFill>
                  <a:schemeClr val="bg1"/>
                </a:solidFill>
                <a:latin typeface="+mn-lt"/>
              </a:rPr>
              <a:t>Class</a:t>
            </a:r>
            <a:r>
              <a:rPr lang="ru-RU" altLang="ru-RU" b="1" dirty="0">
                <a:solidFill>
                  <a:schemeClr val="bg1"/>
                </a:solidFill>
                <a:latin typeface="+mn-lt"/>
              </a:rPr>
              <a:t>, </a:t>
            </a:r>
            <a:r>
              <a:rPr lang="ru-RU" altLang="ru-RU" dirty="0">
                <a:solidFill>
                  <a:schemeClr val="bg1"/>
                </a:solidFill>
                <a:latin typeface="+mn-lt"/>
              </a:rPr>
              <a:t>в его таблице </a:t>
            </a:r>
            <a:r>
              <a:rPr lang="en-US" altLang="ru-RU" dirty="0">
                <a:solidFill>
                  <a:schemeClr val="bg1"/>
                </a:solidFill>
                <a:latin typeface="+mn-lt"/>
              </a:rPr>
              <a:t> </a:t>
            </a:r>
            <a:r>
              <a:rPr lang="ru-RU" altLang="ru-RU" dirty="0">
                <a:solidFill>
                  <a:schemeClr val="bg1"/>
                </a:solidFill>
                <a:latin typeface="+mn-lt"/>
              </a:rPr>
              <a:t>символов ищется имя и адрес точки входа в байт-коде класса</a:t>
            </a:r>
            <a:endParaRPr lang="en-US" altLang="ru-RU" dirty="0">
              <a:solidFill>
                <a:schemeClr val="bg1"/>
              </a:solidFill>
              <a:latin typeface="+mn-lt"/>
            </a:endParaRPr>
          </a:p>
          <a:p>
            <a:pPr>
              <a:defRPr/>
            </a:pPr>
            <a:endParaRPr lang="en-US" b="1" dirty="0">
              <a:solidFill>
                <a:srgbClr val="FFFF00"/>
              </a:solidFill>
              <a:latin typeface="+mn-lt"/>
            </a:endParaRPr>
          </a:p>
          <a:p>
            <a:pPr>
              <a:defRPr/>
            </a:pPr>
            <a:r>
              <a:rPr lang="en-US" b="1" dirty="0">
                <a:solidFill>
                  <a:srgbClr val="FFFF00"/>
                </a:solidFill>
                <a:latin typeface="+mn-lt"/>
              </a:rPr>
              <a:t>JNI – Java Native Interface – </a:t>
            </a:r>
            <a:r>
              <a:rPr lang="ru-RU" dirty="0">
                <a:solidFill>
                  <a:schemeClr val="bg1"/>
                </a:solidFill>
                <a:latin typeface="+mn-lt"/>
              </a:rPr>
              <a:t>переход к платформенно зависимому коду (Си++) при помощи вызова </a:t>
            </a:r>
            <a:r>
              <a:rPr lang="en-US" dirty="0">
                <a:solidFill>
                  <a:schemeClr val="bg1"/>
                </a:solidFill>
                <a:latin typeface="+mn-lt"/>
              </a:rPr>
              <a:t>native-</a:t>
            </a:r>
            <a:r>
              <a:rPr lang="ru-RU" dirty="0">
                <a:solidFill>
                  <a:schemeClr val="bg1"/>
                </a:solidFill>
                <a:latin typeface="+mn-lt"/>
              </a:rPr>
              <a:t>методов, которые получают параметры окружения </a:t>
            </a:r>
            <a:r>
              <a:rPr lang="en-US" dirty="0">
                <a:solidFill>
                  <a:schemeClr val="bg1"/>
                </a:solidFill>
                <a:latin typeface="+mn-lt"/>
              </a:rPr>
              <a:t>JVM </a:t>
            </a:r>
            <a:r>
              <a:rPr lang="ru-RU" dirty="0">
                <a:solidFill>
                  <a:schemeClr val="bg1"/>
                </a:solidFill>
                <a:latin typeface="+mn-lt"/>
              </a:rPr>
              <a:t>и набор сервисных функций</a:t>
            </a:r>
            <a:endParaRPr lang="en-US" dirty="0">
              <a:solidFill>
                <a:schemeClr val="bg1"/>
              </a:solidFill>
              <a:latin typeface="+mn-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Java. </a:t>
            </a:r>
            <a:r>
              <a:rPr lang="ru-RU" altLang="ru-RU" sz="3200" smtClean="0">
                <a:solidFill>
                  <a:schemeClr val="bg1"/>
                </a:solidFill>
                <a:latin typeface="Calibri" pitchFamily="34" charset="0"/>
              </a:rPr>
              <a:t>Структуры </a:t>
            </a:r>
            <a:r>
              <a:rPr lang="ru-RU" altLang="ru-RU" sz="3200">
                <a:solidFill>
                  <a:schemeClr val="bg1"/>
                </a:solidFill>
                <a:latin typeface="Calibri" pitchFamily="34" charset="0"/>
              </a:rPr>
              <a:t>данных </a:t>
            </a:r>
            <a:r>
              <a:rPr lang="en-US" altLang="ru-RU" sz="3200">
                <a:solidFill>
                  <a:schemeClr val="bg1"/>
                </a:solidFill>
                <a:latin typeface="Calibri" pitchFamily="34" charset="0"/>
              </a:rPr>
              <a:t>JVM</a:t>
            </a:r>
            <a:endParaRPr lang="ru-RU" altLang="ru-RU" sz="3200">
              <a:solidFill>
                <a:schemeClr val="bg1"/>
              </a:solidFill>
              <a:latin typeface="Calibri" pitchFamily="34" charset="0"/>
            </a:endParaRPr>
          </a:p>
        </p:txBody>
      </p:sp>
      <p:pic>
        <p:nvPicPr>
          <p:cNvPr id="6147"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4" name="Прямоугольник 3"/>
          <p:cNvSpPr/>
          <p:nvPr/>
        </p:nvSpPr>
        <p:spPr>
          <a:xfrm>
            <a:off x="261938" y="908050"/>
            <a:ext cx="8424862" cy="3970338"/>
          </a:xfrm>
          <a:prstGeom prst="rect">
            <a:avLst/>
          </a:prstGeom>
        </p:spPr>
        <p:txBody>
          <a:bodyPr>
            <a:spAutoFit/>
          </a:bodyPr>
          <a:lstStyle/>
          <a:p>
            <a:pPr>
              <a:defRPr/>
            </a:pPr>
            <a:r>
              <a:rPr lang="ru-RU" dirty="0">
                <a:solidFill>
                  <a:schemeClr val="bg1"/>
                </a:solidFill>
                <a:latin typeface="+mn-lt"/>
              </a:rPr>
              <a:t>Набор регистров </a:t>
            </a:r>
            <a:r>
              <a:rPr lang="en-US" dirty="0">
                <a:solidFill>
                  <a:schemeClr val="bg1"/>
                </a:solidFill>
                <a:latin typeface="+mn-lt"/>
              </a:rPr>
              <a:t>JVM</a:t>
            </a:r>
            <a:r>
              <a:rPr lang="ru-RU" dirty="0">
                <a:solidFill>
                  <a:schemeClr val="bg1"/>
                </a:solidFill>
                <a:latin typeface="+mn-lt"/>
              </a:rPr>
              <a:t>:</a:t>
            </a:r>
          </a:p>
          <a:p>
            <a:pPr marL="285750" indent="-285750">
              <a:buFont typeface="Arial" panose="020B0604020202020204" pitchFamily="34" charset="0"/>
              <a:buChar char="•"/>
              <a:defRPr/>
            </a:pPr>
            <a:r>
              <a:rPr lang="ru-RU" b="1" dirty="0" err="1">
                <a:solidFill>
                  <a:srgbClr val="FFFF00"/>
                </a:solidFill>
                <a:latin typeface="+mn-lt"/>
              </a:rPr>
              <a:t>pc</a:t>
            </a:r>
            <a:r>
              <a:rPr lang="ru-RU" dirty="0">
                <a:solidFill>
                  <a:schemeClr val="bg1"/>
                </a:solidFill>
                <a:latin typeface="+mn-lt"/>
              </a:rPr>
              <a:t> - регистр-указатель на команду;</a:t>
            </a:r>
          </a:p>
          <a:p>
            <a:pPr marL="285750" indent="-285750">
              <a:buFont typeface="Arial" panose="020B0604020202020204" pitchFamily="34" charset="0"/>
              <a:buChar char="•"/>
              <a:defRPr/>
            </a:pPr>
            <a:r>
              <a:rPr lang="ru-RU" b="1" dirty="0" err="1">
                <a:solidFill>
                  <a:srgbClr val="FFFF00"/>
                </a:solidFill>
                <a:latin typeface="+mn-lt"/>
              </a:rPr>
              <a:t>optop</a:t>
            </a:r>
            <a:r>
              <a:rPr lang="ru-RU" dirty="0">
                <a:solidFill>
                  <a:srgbClr val="FFFF00"/>
                </a:solidFill>
                <a:latin typeface="+mn-lt"/>
              </a:rPr>
              <a:t> </a:t>
            </a:r>
            <a:r>
              <a:rPr lang="ru-RU" dirty="0">
                <a:solidFill>
                  <a:schemeClr val="bg1"/>
                </a:solidFill>
                <a:latin typeface="+mn-lt"/>
              </a:rPr>
              <a:t>- регистр-указатель на вершину стека операндов текущего кадра;</a:t>
            </a:r>
          </a:p>
          <a:p>
            <a:pPr marL="285750" indent="-285750">
              <a:buFont typeface="Arial" panose="020B0604020202020204" pitchFamily="34" charset="0"/>
              <a:buChar char="•"/>
              <a:defRPr/>
            </a:pPr>
            <a:r>
              <a:rPr lang="ru-RU" b="1" dirty="0" err="1">
                <a:solidFill>
                  <a:srgbClr val="FFFF00"/>
                </a:solidFill>
                <a:latin typeface="+mn-lt"/>
              </a:rPr>
              <a:t>var</a:t>
            </a:r>
            <a:r>
              <a:rPr lang="ru-RU" dirty="0">
                <a:solidFill>
                  <a:srgbClr val="FFFF00"/>
                </a:solidFill>
                <a:latin typeface="+mn-lt"/>
              </a:rPr>
              <a:t> </a:t>
            </a:r>
            <a:r>
              <a:rPr lang="ru-RU" dirty="0">
                <a:solidFill>
                  <a:schemeClr val="bg1"/>
                </a:solidFill>
                <a:latin typeface="+mn-lt"/>
              </a:rPr>
              <a:t>- регистр-указатель на массив локальных переменных текущего кадра;</a:t>
            </a:r>
          </a:p>
          <a:p>
            <a:pPr marL="285750" indent="-285750">
              <a:buFont typeface="Arial" panose="020B0604020202020204" pitchFamily="34" charset="0"/>
              <a:buChar char="•"/>
              <a:defRPr/>
            </a:pPr>
            <a:r>
              <a:rPr lang="ru-RU" b="1" dirty="0" err="1">
                <a:solidFill>
                  <a:srgbClr val="FFFF00"/>
                </a:solidFill>
                <a:latin typeface="+mn-lt"/>
              </a:rPr>
              <a:t>frame</a:t>
            </a:r>
            <a:r>
              <a:rPr lang="ru-RU" b="1" dirty="0">
                <a:solidFill>
                  <a:srgbClr val="FFFF00"/>
                </a:solidFill>
                <a:latin typeface="+mn-lt"/>
              </a:rPr>
              <a:t> </a:t>
            </a:r>
            <a:r>
              <a:rPr lang="ru-RU" dirty="0">
                <a:solidFill>
                  <a:schemeClr val="bg1"/>
                </a:solidFill>
                <a:latin typeface="+mn-lt"/>
              </a:rPr>
              <a:t>- регистр-указатель на среду выполнения текущего метода.</a:t>
            </a:r>
          </a:p>
          <a:p>
            <a:pPr>
              <a:defRPr/>
            </a:pPr>
            <a:endParaRPr lang="en-US" dirty="0">
              <a:solidFill>
                <a:schemeClr val="bg1"/>
              </a:solidFill>
              <a:latin typeface="+mn-lt"/>
            </a:endParaRPr>
          </a:p>
          <a:p>
            <a:pPr>
              <a:defRPr/>
            </a:pPr>
            <a:r>
              <a:rPr lang="ru-RU" dirty="0">
                <a:solidFill>
                  <a:schemeClr val="bg1"/>
                </a:solidFill>
                <a:latin typeface="+mn-lt"/>
              </a:rPr>
              <a:t>Стек потока – список кадров (</a:t>
            </a:r>
            <a:r>
              <a:rPr lang="ru-RU" b="1" dirty="0" err="1">
                <a:solidFill>
                  <a:schemeClr val="bg1"/>
                </a:solidFill>
                <a:latin typeface="+mn-lt"/>
              </a:rPr>
              <a:t>frame</a:t>
            </a:r>
            <a:r>
              <a:rPr lang="ru-RU" dirty="0">
                <a:solidFill>
                  <a:schemeClr val="bg1"/>
                </a:solidFill>
                <a:latin typeface="+mn-lt"/>
              </a:rPr>
              <a:t>) вызванных методов.</a:t>
            </a:r>
          </a:p>
          <a:p>
            <a:pPr>
              <a:defRPr/>
            </a:pPr>
            <a:endParaRPr lang="en-US" dirty="0">
              <a:solidFill>
                <a:schemeClr val="bg1"/>
              </a:solidFill>
              <a:latin typeface="+mn-lt"/>
            </a:endParaRPr>
          </a:p>
          <a:p>
            <a:pPr>
              <a:defRPr/>
            </a:pPr>
            <a:r>
              <a:rPr lang="ru-RU" dirty="0">
                <a:solidFill>
                  <a:schemeClr val="bg1"/>
                </a:solidFill>
                <a:latin typeface="+mn-lt"/>
              </a:rPr>
              <a:t>Структура кадра</a:t>
            </a:r>
            <a:r>
              <a:rPr lang="en-US" dirty="0">
                <a:solidFill>
                  <a:schemeClr val="bg1"/>
                </a:solidFill>
                <a:latin typeface="+mn-lt"/>
              </a:rPr>
              <a:t>:</a:t>
            </a:r>
            <a:r>
              <a:rPr lang="ru-RU" dirty="0">
                <a:solidFill>
                  <a:schemeClr val="bg1"/>
                </a:solidFill>
                <a:latin typeface="+mn-lt"/>
              </a:rPr>
              <a:t> </a:t>
            </a:r>
          </a:p>
          <a:p>
            <a:pPr marL="285750" indent="-285750">
              <a:buFont typeface="Arial" panose="020B0604020202020204" pitchFamily="34" charset="0"/>
              <a:buChar char="•"/>
              <a:defRPr/>
            </a:pPr>
            <a:r>
              <a:rPr lang="ru-RU" dirty="0">
                <a:solidFill>
                  <a:schemeClr val="bg1"/>
                </a:solidFill>
                <a:latin typeface="+mn-lt"/>
              </a:rPr>
              <a:t>массив  локальных переменных объекта,</a:t>
            </a:r>
          </a:p>
          <a:p>
            <a:pPr>
              <a:defRPr/>
            </a:pPr>
            <a:r>
              <a:rPr lang="ru-RU" dirty="0">
                <a:solidFill>
                  <a:schemeClr val="bg1"/>
                </a:solidFill>
                <a:latin typeface="+mn-lt"/>
              </a:rPr>
              <a:t>     </a:t>
            </a:r>
            <a:r>
              <a:rPr lang="ru-RU" b="1" dirty="0" err="1">
                <a:solidFill>
                  <a:srgbClr val="FFFF00"/>
                </a:solidFill>
                <a:latin typeface="+mn-lt"/>
              </a:rPr>
              <a:t>var</a:t>
            </a:r>
            <a:r>
              <a:rPr lang="en-US" b="1" dirty="0">
                <a:solidFill>
                  <a:srgbClr val="FFFF00"/>
                </a:solidFill>
                <a:latin typeface="+mn-lt"/>
              </a:rPr>
              <a:t> </a:t>
            </a:r>
            <a:r>
              <a:rPr lang="ru-RU" b="1" dirty="0">
                <a:solidFill>
                  <a:schemeClr val="bg1"/>
                </a:solidFill>
                <a:latin typeface="+mn-lt"/>
              </a:rPr>
              <a:t>– </a:t>
            </a:r>
            <a:r>
              <a:rPr lang="ru-RU" dirty="0">
                <a:solidFill>
                  <a:schemeClr val="bg1"/>
                </a:solidFill>
                <a:latin typeface="+mn-lt"/>
              </a:rPr>
              <a:t>начальный адрес </a:t>
            </a:r>
            <a:r>
              <a:rPr lang="en-US" dirty="0">
                <a:solidFill>
                  <a:schemeClr val="bg1"/>
                </a:solidFill>
                <a:latin typeface="+mn-lt"/>
              </a:rPr>
              <a:t>(</a:t>
            </a:r>
            <a:r>
              <a:rPr lang="ru-RU" dirty="0">
                <a:solidFill>
                  <a:schemeClr val="bg1"/>
                </a:solidFill>
                <a:latin typeface="+mn-lt"/>
              </a:rPr>
              <a:t>размерность</a:t>
            </a:r>
          </a:p>
          <a:p>
            <a:pPr>
              <a:defRPr/>
            </a:pPr>
            <a:r>
              <a:rPr lang="ru-RU" dirty="0">
                <a:solidFill>
                  <a:schemeClr val="bg1"/>
                </a:solidFill>
                <a:latin typeface="+mn-lt"/>
              </a:rPr>
              <a:t>     при компиляции, операнды – индексы в массиве</a:t>
            </a:r>
            <a:r>
              <a:rPr lang="en-US" dirty="0">
                <a:solidFill>
                  <a:schemeClr val="bg1"/>
                </a:solidFill>
                <a:latin typeface="+mn-lt"/>
              </a:rPr>
              <a:t>)</a:t>
            </a:r>
            <a:r>
              <a:rPr lang="ru-RU" dirty="0">
                <a:solidFill>
                  <a:schemeClr val="bg1"/>
                </a:solidFill>
                <a:latin typeface="+mn-lt"/>
              </a:rPr>
              <a:t>;</a:t>
            </a:r>
          </a:p>
          <a:p>
            <a:pPr marL="285750" indent="-285750">
              <a:buFont typeface="Arial" panose="020B0604020202020204" pitchFamily="34" charset="0"/>
              <a:buChar char="•"/>
              <a:defRPr/>
            </a:pPr>
            <a:r>
              <a:rPr lang="ru-RU" dirty="0">
                <a:solidFill>
                  <a:schemeClr val="bg1"/>
                </a:solidFill>
                <a:latin typeface="+mn-lt"/>
              </a:rPr>
              <a:t>стек операндов, </a:t>
            </a:r>
            <a:r>
              <a:rPr lang="ru-RU" b="1" dirty="0" err="1">
                <a:solidFill>
                  <a:srgbClr val="FFFF00"/>
                </a:solidFill>
                <a:latin typeface="+mn-lt"/>
              </a:rPr>
              <a:t>optop</a:t>
            </a:r>
            <a:r>
              <a:rPr lang="ru-RU" b="1" dirty="0">
                <a:solidFill>
                  <a:schemeClr val="bg1"/>
                </a:solidFill>
                <a:latin typeface="+mn-lt"/>
              </a:rPr>
              <a:t> – </a:t>
            </a:r>
            <a:r>
              <a:rPr lang="ru-RU" dirty="0">
                <a:solidFill>
                  <a:schemeClr val="bg1"/>
                </a:solidFill>
                <a:latin typeface="+mn-lt"/>
              </a:rPr>
              <a:t>верхушка стека;</a:t>
            </a:r>
          </a:p>
          <a:p>
            <a:pPr marL="285750" indent="-285750">
              <a:buFont typeface="Arial" panose="020B0604020202020204" pitchFamily="34" charset="0"/>
              <a:buChar char="•"/>
              <a:defRPr/>
            </a:pPr>
            <a:r>
              <a:rPr lang="ru-RU" dirty="0">
                <a:solidFill>
                  <a:schemeClr val="bg1"/>
                </a:solidFill>
                <a:latin typeface="+mn-lt"/>
              </a:rPr>
              <a:t>структуры среды выполнения, </a:t>
            </a:r>
            <a:r>
              <a:rPr lang="ru-RU" b="1" dirty="0" err="1">
                <a:solidFill>
                  <a:srgbClr val="FFFF00"/>
                </a:solidFill>
                <a:latin typeface="+mn-lt"/>
              </a:rPr>
              <a:t>frame</a:t>
            </a:r>
            <a:r>
              <a:rPr lang="ru-RU" b="1" dirty="0">
                <a:solidFill>
                  <a:srgbClr val="FFFF00"/>
                </a:solidFill>
                <a:latin typeface="+mn-lt"/>
              </a:rPr>
              <a:t> </a:t>
            </a:r>
            <a:r>
              <a:rPr lang="ru-RU" b="1" dirty="0">
                <a:solidFill>
                  <a:schemeClr val="bg1"/>
                </a:solidFill>
                <a:latin typeface="+mn-lt"/>
              </a:rPr>
              <a:t>- </a:t>
            </a:r>
            <a:r>
              <a:rPr lang="ru-RU" dirty="0">
                <a:solidFill>
                  <a:schemeClr val="bg1"/>
                </a:solidFill>
                <a:latin typeface="+mn-lt"/>
              </a:rPr>
              <a:t>указатель.</a:t>
            </a:r>
          </a:p>
        </p:txBody>
      </p:sp>
      <p:pic>
        <p:nvPicPr>
          <p:cNvPr id="6149" name="Рисунок 4" descr="Вырезка экрана"/>
          <p:cNvPicPr>
            <a:picLocks noChangeAspect="1"/>
          </p:cNvPicPr>
          <p:nvPr/>
        </p:nvPicPr>
        <p:blipFill>
          <a:blip r:embed="rId3" cstate="print"/>
          <a:srcRect/>
          <a:stretch>
            <a:fillRect/>
          </a:stretch>
        </p:blipFill>
        <p:spPr bwMode="auto">
          <a:xfrm>
            <a:off x="6084888" y="3284538"/>
            <a:ext cx="2819400" cy="27543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ru-RU" altLang="ru-RU" sz="3200">
                <a:solidFill>
                  <a:schemeClr val="bg1"/>
                </a:solidFill>
                <a:latin typeface="Calibri" pitchFamily="34" charset="0"/>
              </a:rPr>
              <a:t>Среда исполнения метода</a:t>
            </a:r>
          </a:p>
        </p:txBody>
      </p:sp>
      <p:pic>
        <p:nvPicPr>
          <p:cNvPr id="717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4" name="Прямоугольник 3"/>
          <p:cNvSpPr/>
          <p:nvPr/>
        </p:nvSpPr>
        <p:spPr>
          <a:xfrm>
            <a:off x="261938" y="882650"/>
            <a:ext cx="8424862" cy="5078413"/>
          </a:xfrm>
          <a:prstGeom prst="rect">
            <a:avLst/>
          </a:prstGeom>
        </p:spPr>
        <p:txBody>
          <a:bodyPr>
            <a:spAutoFit/>
          </a:bodyPr>
          <a:lstStyle/>
          <a:p>
            <a:pPr>
              <a:defRPr/>
            </a:pPr>
            <a:r>
              <a:rPr lang="ru-RU" dirty="0">
                <a:solidFill>
                  <a:schemeClr val="bg1"/>
                </a:solidFill>
                <a:latin typeface="+mn-lt"/>
              </a:rPr>
              <a:t>Среда выполнения метода содержит информацию, необходимую для </a:t>
            </a:r>
            <a:r>
              <a:rPr lang="ru-RU" b="1" dirty="0">
                <a:solidFill>
                  <a:schemeClr val="bg1"/>
                </a:solidFill>
                <a:latin typeface="+mn-lt"/>
              </a:rPr>
              <a:t>динамического связывания</a:t>
            </a:r>
            <a:r>
              <a:rPr lang="ru-RU" dirty="0">
                <a:solidFill>
                  <a:schemeClr val="bg1"/>
                </a:solidFill>
                <a:latin typeface="+mn-lt"/>
              </a:rPr>
              <a:t>, возврата из метода и обработки исключений. Код класса (размещенный в области класса) обращается к внешним методам и переменным, используя символические ссылки. Динамическая компоновка переводит символические ссылки в фактические. Среда выполнения содержит ссылки </a:t>
            </a:r>
            <a:r>
              <a:rPr lang="ru-RU" b="1" dirty="0">
                <a:solidFill>
                  <a:srgbClr val="FFFF00"/>
                </a:solidFill>
                <a:latin typeface="+mn-lt"/>
              </a:rPr>
              <a:t>на таблицу символов метода</a:t>
            </a:r>
            <a:r>
              <a:rPr lang="ru-RU" dirty="0">
                <a:solidFill>
                  <a:schemeClr val="bg1"/>
                </a:solidFill>
                <a:latin typeface="+mn-lt"/>
              </a:rPr>
              <a:t>, через которую производятся обращения к внешним методам и переменным.</a:t>
            </a:r>
          </a:p>
          <a:p>
            <a:pPr>
              <a:defRPr/>
            </a:pPr>
            <a:endParaRPr lang="ru-RU" dirty="0">
              <a:solidFill>
                <a:schemeClr val="bg1"/>
              </a:solidFill>
              <a:latin typeface="+mn-lt"/>
            </a:endParaRPr>
          </a:p>
          <a:p>
            <a:pPr>
              <a:defRPr/>
            </a:pPr>
            <a:r>
              <a:rPr lang="ru-RU" dirty="0">
                <a:solidFill>
                  <a:schemeClr val="bg1"/>
                </a:solidFill>
                <a:latin typeface="+mn-lt"/>
              </a:rPr>
              <a:t>Данные для возврата из метода</a:t>
            </a:r>
            <a:r>
              <a:rPr lang="en-US" dirty="0">
                <a:solidFill>
                  <a:schemeClr val="bg1"/>
                </a:solidFill>
                <a:latin typeface="+mn-lt"/>
              </a:rPr>
              <a:t>:</a:t>
            </a:r>
            <a:endParaRPr lang="ru-RU" dirty="0">
              <a:solidFill>
                <a:schemeClr val="bg1"/>
              </a:solidFill>
              <a:latin typeface="+mn-lt"/>
            </a:endParaRPr>
          </a:p>
          <a:p>
            <a:pPr marL="285750" indent="-285750">
              <a:buFont typeface="Arial" panose="020B0604020202020204" pitchFamily="34" charset="0"/>
              <a:buChar char="•"/>
              <a:defRPr/>
            </a:pPr>
            <a:r>
              <a:rPr lang="ru-RU" dirty="0">
                <a:solidFill>
                  <a:schemeClr val="bg1"/>
                </a:solidFill>
                <a:latin typeface="+mn-lt"/>
              </a:rPr>
              <a:t>указатель на кадр вызывающего метода</a:t>
            </a:r>
            <a:endParaRPr lang="en-US" dirty="0">
              <a:solidFill>
                <a:schemeClr val="bg1"/>
              </a:solidFill>
              <a:latin typeface="+mn-lt"/>
            </a:endParaRPr>
          </a:p>
          <a:p>
            <a:pPr marL="285750" indent="-285750">
              <a:buFont typeface="Arial" panose="020B0604020202020204" pitchFamily="34" charset="0"/>
              <a:buChar char="•"/>
              <a:defRPr/>
            </a:pPr>
            <a:r>
              <a:rPr lang="ru-RU" dirty="0" err="1">
                <a:solidFill>
                  <a:schemeClr val="bg1"/>
                </a:solidFill>
                <a:latin typeface="+mn-lt"/>
              </a:rPr>
              <a:t>pc</a:t>
            </a:r>
            <a:r>
              <a:rPr lang="ru-RU" dirty="0">
                <a:solidFill>
                  <a:schemeClr val="bg1"/>
                </a:solidFill>
                <a:latin typeface="+mn-lt"/>
              </a:rPr>
              <a:t> </a:t>
            </a:r>
            <a:r>
              <a:rPr lang="en-US" dirty="0">
                <a:solidFill>
                  <a:schemeClr val="bg1"/>
                </a:solidFill>
                <a:latin typeface="+mn-lt"/>
              </a:rPr>
              <a:t>– </a:t>
            </a:r>
            <a:r>
              <a:rPr lang="ru-RU" dirty="0">
                <a:solidFill>
                  <a:schemeClr val="bg1"/>
                </a:solidFill>
                <a:latin typeface="+mn-lt"/>
              </a:rPr>
              <a:t>точка возврата</a:t>
            </a:r>
          </a:p>
          <a:p>
            <a:pPr marL="285750" indent="-285750">
              <a:buFont typeface="Arial" panose="020B0604020202020204" pitchFamily="34" charset="0"/>
              <a:buChar char="•"/>
              <a:defRPr/>
            </a:pPr>
            <a:r>
              <a:rPr lang="ru-RU" dirty="0">
                <a:solidFill>
                  <a:schemeClr val="bg1"/>
                </a:solidFill>
                <a:latin typeface="+mn-lt"/>
              </a:rPr>
              <a:t>содержимое регистров вызывающего метода </a:t>
            </a:r>
          </a:p>
          <a:p>
            <a:pPr marL="285750" indent="-285750">
              <a:buFont typeface="Arial" panose="020B0604020202020204" pitchFamily="34" charset="0"/>
              <a:buChar char="•"/>
              <a:defRPr/>
            </a:pPr>
            <a:r>
              <a:rPr lang="ru-RU" dirty="0">
                <a:solidFill>
                  <a:schemeClr val="bg1"/>
                </a:solidFill>
                <a:latin typeface="+mn-lt"/>
              </a:rPr>
              <a:t>указатель на область для записи возвращаемого значения</a:t>
            </a:r>
          </a:p>
          <a:p>
            <a:pPr>
              <a:defRPr/>
            </a:pPr>
            <a:endParaRPr lang="ru-RU" dirty="0">
              <a:solidFill>
                <a:schemeClr val="bg1"/>
              </a:solidFill>
              <a:latin typeface="+mn-lt"/>
            </a:endParaRPr>
          </a:p>
          <a:p>
            <a:pPr>
              <a:defRPr/>
            </a:pPr>
            <a:r>
              <a:rPr lang="ru-RU" dirty="0">
                <a:solidFill>
                  <a:schemeClr val="bg1"/>
                </a:solidFill>
                <a:latin typeface="+mn-lt"/>
              </a:rPr>
              <a:t>Ссылки на секции обработки исключений в методе класса</a:t>
            </a:r>
          </a:p>
          <a:p>
            <a:pPr>
              <a:defRPr/>
            </a:pPr>
            <a:endParaRPr lang="ru-RU" dirty="0">
              <a:solidFill>
                <a:schemeClr val="bg1"/>
              </a:solidFill>
              <a:latin typeface="+mn-lt"/>
            </a:endParaRPr>
          </a:p>
          <a:p>
            <a:pPr>
              <a:defRPr/>
            </a:pPr>
            <a:r>
              <a:rPr lang="ru-RU" dirty="0">
                <a:solidFill>
                  <a:schemeClr val="bg1"/>
                </a:solidFill>
                <a:latin typeface="+mn-lt"/>
              </a:rPr>
              <a:t>Через среду выполнения также происходят обращения к данным, содержащимся в области класса, в том числе, к константам и к переменным класса.</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ru-RU" altLang="ru-RU" sz="3200">
                <a:solidFill>
                  <a:schemeClr val="bg1"/>
                </a:solidFill>
                <a:latin typeface="Calibri" pitchFamily="34" charset="0"/>
              </a:rPr>
              <a:t>Система команд </a:t>
            </a:r>
            <a:r>
              <a:rPr lang="en-US" altLang="ru-RU" sz="3200">
                <a:solidFill>
                  <a:schemeClr val="bg1"/>
                </a:solidFill>
                <a:latin typeface="Calibri" pitchFamily="34" charset="0"/>
              </a:rPr>
              <a:t>JVM</a:t>
            </a:r>
            <a:endParaRPr lang="ru-RU" altLang="ru-RU" sz="3200">
              <a:solidFill>
                <a:schemeClr val="bg1"/>
              </a:solidFill>
              <a:latin typeface="Calibri" pitchFamily="34" charset="0"/>
            </a:endParaRPr>
          </a:p>
        </p:txBody>
      </p:sp>
      <p:pic>
        <p:nvPicPr>
          <p:cNvPr id="8195"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2" name="Прямоугольник 1"/>
          <p:cNvSpPr/>
          <p:nvPr/>
        </p:nvSpPr>
        <p:spPr>
          <a:xfrm>
            <a:off x="225425" y="609600"/>
            <a:ext cx="8721725" cy="5908675"/>
          </a:xfrm>
          <a:prstGeom prst="rect">
            <a:avLst/>
          </a:prstGeom>
        </p:spPr>
        <p:txBody>
          <a:bodyPr>
            <a:spAutoFit/>
          </a:bodyPr>
          <a:lstStyle/>
          <a:p>
            <a:pPr>
              <a:defRPr/>
            </a:pPr>
            <a:r>
              <a:rPr lang="ru-RU" dirty="0">
                <a:solidFill>
                  <a:schemeClr val="bg1"/>
                </a:solidFill>
                <a:latin typeface="+mn-lt"/>
              </a:rPr>
              <a:t>Команды загрузки и сохранения:</a:t>
            </a:r>
          </a:p>
          <a:p>
            <a:pPr marL="285750" indent="-285750">
              <a:buFont typeface="Arial" panose="020B0604020202020204" pitchFamily="34" charset="0"/>
              <a:buChar char="•"/>
              <a:defRPr/>
            </a:pPr>
            <a:r>
              <a:rPr lang="ru-RU" dirty="0">
                <a:solidFill>
                  <a:schemeClr val="bg1"/>
                </a:solidFill>
                <a:latin typeface="+mn-lt"/>
              </a:rPr>
              <a:t>загрузка в стек локальной переменной;</a:t>
            </a:r>
          </a:p>
          <a:p>
            <a:pPr marL="285750" indent="-285750">
              <a:buFont typeface="Arial" panose="020B0604020202020204" pitchFamily="34" charset="0"/>
              <a:buChar char="•"/>
              <a:defRPr/>
            </a:pPr>
            <a:r>
              <a:rPr lang="ru-RU" dirty="0">
                <a:solidFill>
                  <a:schemeClr val="bg1"/>
                </a:solidFill>
                <a:latin typeface="+mn-lt"/>
              </a:rPr>
              <a:t>сохранение значения из стека в локальной переменной;</a:t>
            </a:r>
          </a:p>
          <a:p>
            <a:pPr marL="285750" indent="-285750">
              <a:buFont typeface="Arial" panose="020B0604020202020204" pitchFamily="34" charset="0"/>
              <a:buChar char="•"/>
              <a:defRPr/>
            </a:pPr>
            <a:r>
              <a:rPr lang="ru-RU" dirty="0">
                <a:solidFill>
                  <a:schemeClr val="bg1"/>
                </a:solidFill>
                <a:latin typeface="+mn-lt"/>
              </a:rPr>
              <a:t>загрузка в стек константы (из пула констант).</a:t>
            </a:r>
          </a:p>
          <a:p>
            <a:pPr>
              <a:defRPr/>
            </a:pPr>
            <a:r>
              <a:rPr lang="ru-RU" dirty="0">
                <a:solidFill>
                  <a:schemeClr val="bg1"/>
                </a:solidFill>
                <a:latin typeface="+mn-lt"/>
              </a:rPr>
              <a:t>Команды манипулирования значениями (</a:t>
            </a:r>
            <a:r>
              <a:rPr lang="ru-RU" b="1" dirty="0">
                <a:solidFill>
                  <a:srgbClr val="FFFF00"/>
                </a:solidFill>
                <a:latin typeface="+mn-lt"/>
              </a:rPr>
              <a:t>стековые</a:t>
            </a:r>
            <a:r>
              <a:rPr lang="ru-RU" dirty="0">
                <a:solidFill>
                  <a:schemeClr val="bg1"/>
                </a:solidFill>
                <a:latin typeface="+mn-lt"/>
              </a:rPr>
              <a:t>):</a:t>
            </a:r>
          </a:p>
          <a:p>
            <a:pPr marL="285750" indent="-285750">
              <a:buFont typeface="Arial" panose="020B0604020202020204" pitchFamily="34" charset="0"/>
              <a:buChar char="•"/>
              <a:defRPr/>
            </a:pPr>
            <a:r>
              <a:rPr lang="ru-RU" dirty="0">
                <a:solidFill>
                  <a:schemeClr val="bg1"/>
                </a:solidFill>
                <a:latin typeface="+mn-lt"/>
              </a:rPr>
              <a:t>арифметические операции</a:t>
            </a:r>
          </a:p>
          <a:p>
            <a:pPr marL="285750" indent="-285750">
              <a:buFont typeface="Arial" panose="020B0604020202020204" pitchFamily="34" charset="0"/>
              <a:buChar char="•"/>
              <a:defRPr/>
            </a:pPr>
            <a:r>
              <a:rPr lang="ru-RU" dirty="0">
                <a:solidFill>
                  <a:schemeClr val="bg1"/>
                </a:solidFill>
                <a:latin typeface="+mn-lt"/>
              </a:rPr>
              <a:t>побитовые логические операции</a:t>
            </a:r>
            <a:r>
              <a:rPr lang="en-US" dirty="0">
                <a:solidFill>
                  <a:schemeClr val="bg1"/>
                </a:solidFill>
                <a:latin typeface="+mn-lt"/>
              </a:rPr>
              <a:t>, </a:t>
            </a:r>
            <a:r>
              <a:rPr lang="ru-RU" dirty="0">
                <a:solidFill>
                  <a:schemeClr val="bg1"/>
                </a:solidFill>
                <a:latin typeface="+mn-lt"/>
              </a:rPr>
              <a:t>сдвиг</a:t>
            </a:r>
          </a:p>
          <a:p>
            <a:pPr marL="285750" indent="-285750">
              <a:buFont typeface="Arial" panose="020B0604020202020204" pitchFamily="34" charset="0"/>
              <a:buChar char="•"/>
              <a:defRPr/>
            </a:pPr>
            <a:r>
              <a:rPr lang="ru-RU" dirty="0">
                <a:solidFill>
                  <a:schemeClr val="bg1"/>
                </a:solidFill>
                <a:latin typeface="+mn-lt"/>
              </a:rPr>
              <a:t>инкремент (операция работает с операндом - локальной переменной).</a:t>
            </a:r>
          </a:p>
          <a:p>
            <a:pPr>
              <a:defRPr/>
            </a:pPr>
            <a:r>
              <a:rPr lang="ru-RU" dirty="0">
                <a:solidFill>
                  <a:schemeClr val="bg1"/>
                </a:solidFill>
                <a:latin typeface="+mn-lt"/>
              </a:rPr>
              <a:t>Команды преобразования типов</a:t>
            </a:r>
          </a:p>
          <a:p>
            <a:pPr>
              <a:defRPr/>
            </a:pPr>
            <a:r>
              <a:rPr lang="ru-RU" dirty="0">
                <a:solidFill>
                  <a:schemeClr val="bg1"/>
                </a:solidFill>
                <a:latin typeface="+mn-lt"/>
              </a:rPr>
              <a:t>Команды создания ссылочных данных и доступа к ним:</a:t>
            </a:r>
          </a:p>
          <a:p>
            <a:pPr marL="285750" indent="-285750">
              <a:buFont typeface="Arial" panose="020B0604020202020204" pitchFamily="34" charset="0"/>
              <a:buChar char="•"/>
              <a:defRPr/>
            </a:pPr>
            <a:r>
              <a:rPr lang="ru-RU" dirty="0">
                <a:solidFill>
                  <a:schemeClr val="bg1"/>
                </a:solidFill>
                <a:latin typeface="+mn-lt"/>
              </a:rPr>
              <a:t>создания экземпляров класса</a:t>
            </a:r>
          </a:p>
          <a:p>
            <a:pPr marL="285750" indent="-285750">
              <a:buFont typeface="Arial" panose="020B0604020202020204" pitchFamily="34" charset="0"/>
              <a:buChar char="•"/>
              <a:defRPr/>
            </a:pPr>
            <a:r>
              <a:rPr lang="ru-RU" dirty="0">
                <a:solidFill>
                  <a:schemeClr val="bg1"/>
                </a:solidFill>
                <a:latin typeface="+mn-lt"/>
              </a:rPr>
              <a:t>доступа к полям класса</a:t>
            </a:r>
          </a:p>
          <a:p>
            <a:pPr marL="285750" indent="-285750">
              <a:buFont typeface="Arial" panose="020B0604020202020204" pitchFamily="34" charset="0"/>
              <a:buChar char="•"/>
              <a:defRPr/>
            </a:pPr>
            <a:r>
              <a:rPr lang="ru-RU" dirty="0">
                <a:solidFill>
                  <a:schemeClr val="bg1"/>
                </a:solidFill>
                <a:latin typeface="+mn-lt"/>
              </a:rPr>
              <a:t>создания массивов, чтения в стек и сохранения элементов массивов;</a:t>
            </a:r>
          </a:p>
          <a:p>
            <a:pPr marL="285750" indent="-285750">
              <a:buFont typeface="Arial" panose="020B0604020202020204" pitchFamily="34" charset="0"/>
              <a:buChar char="•"/>
              <a:defRPr/>
            </a:pPr>
            <a:r>
              <a:rPr lang="ru-RU" dirty="0">
                <a:solidFill>
                  <a:schemeClr val="bg1"/>
                </a:solidFill>
                <a:latin typeface="+mn-lt"/>
              </a:rPr>
              <a:t>получения свойств массивов и объектов</a:t>
            </a:r>
          </a:p>
          <a:p>
            <a:pPr>
              <a:defRPr/>
            </a:pPr>
            <a:r>
              <a:rPr lang="ru-RU" dirty="0">
                <a:solidFill>
                  <a:schemeClr val="bg1"/>
                </a:solidFill>
                <a:latin typeface="+mn-lt"/>
              </a:rPr>
              <a:t>Команды прямого манипулирования со стеком</a:t>
            </a:r>
          </a:p>
          <a:p>
            <a:pPr>
              <a:defRPr/>
            </a:pPr>
            <a:r>
              <a:rPr lang="ru-RU" dirty="0">
                <a:solidFill>
                  <a:schemeClr val="bg1"/>
                </a:solidFill>
                <a:latin typeface="+mn-lt"/>
              </a:rPr>
              <a:t>Команды передачи управления:</a:t>
            </a:r>
          </a:p>
          <a:p>
            <a:pPr marL="285750" indent="-285750">
              <a:buFont typeface="Arial" panose="020B0604020202020204" pitchFamily="34" charset="0"/>
              <a:buChar char="•"/>
              <a:defRPr/>
            </a:pPr>
            <a:r>
              <a:rPr lang="ru-RU" dirty="0">
                <a:solidFill>
                  <a:schemeClr val="bg1"/>
                </a:solidFill>
                <a:latin typeface="+mn-lt"/>
              </a:rPr>
              <a:t>безусловный переход</a:t>
            </a:r>
          </a:p>
          <a:p>
            <a:pPr marL="285750" indent="-285750">
              <a:buFont typeface="Arial" panose="020B0604020202020204" pitchFamily="34" charset="0"/>
              <a:buChar char="•"/>
              <a:defRPr/>
            </a:pPr>
            <a:r>
              <a:rPr lang="ru-RU" dirty="0">
                <a:solidFill>
                  <a:schemeClr val="bg1"/>
                </a:solidFill>
                <a:latin typeface="+mn-lt"/>
              </a:rPr>
              <a:t>условный переход</a:t>
            </a:r>
          </a:p>
          <a:p>
            <a:pPr marL="285750" indent="-285750">
              <a:buFont typeface="Arial" panose="020B0604020202020204" pitchFamily="34" charset="0"/>
              <a:buChar char="•"/>
              <a:defRPr/>
            </a:pPr>
            <a:r>
              <a:rPr lang="ru-RU" dirty="0">
                <a:solidFill>
                  <a:schemeClr val="bg1"/>
                </a:solidFill>
                <a:latin typeface="+mn-lt"/>
              </a:rPr>
              <a:t>переход по множественному выбору</a:t>
            </a:r>
          </a:p>
          <a:p>
            <a:pPr>
              <a:defRPr/>
            </a:pPr>
            <a:r>
              <a:rPr lang="ru-RU" dirty="0">
                <a:solidFill>
                  <a:schemeClr val="bg1"/>
                </a:solidFill>
                <a:latin typeface="+mn-lt"/>
              </a:rPr>
              <a:t>Команды вызова методов и возврата </a:t>
            </a:r>
          </a:p>
          <a:p>
            <a:pPr>
              <a:defRPr/>
            </a:pPr>
            <a:r>
              <a:rPr lang="ru-RU" dirty="0">
                <a:solidFill>
                  <a:schemeClr val="bg1"/>
                </a:solidFill>
                <a:latin typeface="+mn-lt"/>
              </a:rPr>
              <a:t>Команды генерации и обработки исключений</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Java. </a:t>
            </a:r>
            <a:r>
              <a:rPr lang="ru-RU" altLang="ru-RU" sz="3200" smtClean="0">
                <a:solidFill>
                  <a:schemeClr val="bg1"/>
                </a:solidFill>
                <a:latin typeface="Calibri" pitchFamily="34" charset="0"/>
              </a:rPr>
              <a:t>«Реассемблированный</a:t>
            </a:r>
            <a:r>
              <a:rPr lang="ru-RU" altLang="ru-RU" sz="3200">
                <a:solidFill>
                  <a:schemeClr val="bg1"/>
                </a:solidFill>
                <a:latin typeface="Calibri" pitchFamily="34" charset="0"/>
              </a:rPr>
              <a:t>» байт-код</a:t>
            </a:r>
          </a:p>
        </p:txBody>
      </p:sp>
      <p:pic>
        <p:nvPicPr>
          <p:cNvPr id="9219"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pic>
        <p:nvPicPr>
          <p:cNvPr id="9220" name="Рисунок 3" descr="Вырезка экрана"/>
          <p:cNvPicPr>
            <a:picLocks noChangeAspect="1"/>
          </p:cNvPicPr>
          <p:nvPr/>
        </p:nvPicPr>
        <p:blipFill>
          <a:blip r:embed="rId3" cstate="print"/>
          <a:srcRect/>
          <a:stretch>
            <a:fillRect/>
          </a:stretch>
        </p:blipFill>
        <p:spPr bwMode="auto">
          <a:xfrm>
            <a:off x="263525" y="836613"/>
            <a:ext cx="7908925" cy="5772150"/>
          </a:xfrm>
          <a:prstGeom prst="rect">
            <a:avLst/>
          </a:prstGeom>
          <a:noFill/>
          <a:ln w="9525">
            <a:noFill/>
            <a:miter lim="800000"/>
            <a:headEnd/>
            <a:tailEnd/>
          </a:ln>
        </p:spPr>
      </p:pic>
      <p:pic>
        <p:nvPicPr>
          <p:cNvPr id="9221" name="Рисунок 4" descr="Вырезка экрана"/>
          <p:cNvPicPr>
            <a:picLocks noChangeAspect="1"/>
          </p:cNvPicPr>
          <p:nvPr/>
        </p:nvPicPr>
        <p:blipFill>
          <a:blip r:embed="rId4" cstate="print"/>
          <a:srcRect/>
          <a:stretch>
            <a:fillRect/>
          </a:stretch>
        </p:blipFill>
        <p:spPr bwMode="auto">
          <a:xfrm>
            <a:off x="5929313" y="606425"/>
            <a:ext cx="2714625" cy="2628900"/>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3. </a:t>
            </a:r>
            <a:r>
              <a:rPr lang="ru-RU" altLang="ru-RU" sz="3200" smtClean="0">
                <a:solidFill>
                  <a:schemeClr val="bg1"/>
                </a:solidFill>
                <a:latin typeface="Calibri" pitchFamily="34" charset="0"/>
              </a:rPr>
              <a:t>Виртуализация</a:t>
            </a:r>
            <a:r>
              <a:rPr lang="en-US" altLang="ru-RU" sz="3200" smtClean="0">
                <a:solidFill>
                  <a:schemeClr val="bg1"/>
                </a:solidFill>
                <a:latin typeface="Calibri" pitchFamily="34" charset="0"/>
              </a:rPr>
              <a:t> </a:t>
            </a:r>
            <a:r>
              <a:rPr lang="ru-RU" altLang="ru-RU" sz="3200" smtClean="0">
                <a:solidFill>
                  <a:schemeClr val="bg1"/>
                </a:solidFill>
                <a:latin typeface="Calibri" pitchFamily="34" charset="0"/>
              </a:rPr>
              <a:t>ОС</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323528" y="764704"/>
            <a:ext cx="8244408" cy="3877985"/>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lang="ru-RU" smtClean="0">
                <a:solidFill>
                  <a:schemeClr val="bg1"/>
                </a:solidFill>
                <a:latin typeface="+mn-lt"/>
              </a:rPr>
              <a:t>История</a:t>
            </a:r>
            <a:r>
              <a:rPr lang="en-US" smtClean="0">
                <a:solidFill>
                  <a:schemeClr val="bg1"/>
                </a:solidFill>
                <a:latin typeface="+mn-lt"/>
              </a:rPr>
              <a:t>:</a:t>
            </a:r>
          </a:p>
          <a:p>
            <a:pPr lvl="0" algn="just">
              <a:buFont typeface="Arial" pitchFamily="34" charset="0"/>
              <a:buChar char="•"/>
            </a:pPr>
            <a:r>
              <a:rPr lang="ru-RU" smtClean="0">
                <a:solidFill>
                  <a:schemeClr val="bg1"/>
                </a:solidFill>
                <a:latin typeface="+mn-lt"/>
              </a:rPr>
              <a:t> 1970-е гг. в мэйнфреймах IBM System 360/370 появились полноценные виртуальные машины – </a:t>
            </a:r>
            <a:r>
              <a:rPr lang="ru-RU" b="1" smtClean="0">
                <a:solidFill>
                  <a:srgbClr val="FFFF00"/>
                </a:solidFill>
                <a:latin typeface="+mn-lt"/>
              </a:rPr>
              <a:t>VM/370</a:t>
            </a:r>
            <a:r>
              <a:rPr lang="en-US" smtClean="0">
                <a:solidFill>
                  <a:schemeClr val="bg1"/>
                </a:solidFill>
                <a:latin typeface="+mn-lt"/>
              </a:rPr>
              <a:t>. </a:t>
            </a:r>
            <a:r>
              <a:rPr lang="ru-RU" smtClean="0">
                <a:solidFill>
                  <a:schemeClr val="bg1"/>
                </a:solidFill>
                <a:latin typeface="+mn-lt"/>
              </a:rPr>
              <a:t>В операционной системе VM/370 пользователь получал в свое распоряжение полноразмерный и полнофункциональный виртуальный компьютер, на который он мог поставить собственную версию операционной системы и установить собственное прикладное программное обеспечение. Этот компьютер включал оперативную память, ресурсы процессора, собственные виртуальные периферийные устройства</a:t>
            </a:r>
            <a:endParaRPr lang="en-US" smtClean="0">
              <a:solidFill>
                <a:schemeClr val="bg1"/>
              </a:solidFill>
              <a:latin typeface="+mn-lt"/>
            </a:endParaRPr>
          </a:p>
          <a:p>
            <a:pPr lvl="0" algn="just">
              <a:buFont typeface="Arial" pitchFamily="34" charset="0"/>
              <a:buChar char="•"/>
            </a:pPr>
            <a:endParaRPr lang="en-US" smtClean="0">
              <a:solidFill>
                <a:schemeClr val="bg1"/>
              </a:solidFill>
              <a:latin typeface="+mn-lt"/>
            </a:endParaRPr>
          </a:p>
          <a:p>
            <a:pPr lvl="0" algn="just">
              <a:buFont typeface="Arial" pitchFamily="34" charset="0"/>
              <a:buChar char="•"/>
            </a:pPr>
            <a:r>
              <a:rPr lang="en-US" smtClean="0">
                <a:solidFill>
                  <a:schemeClr val="bg1"/>
                </a:solidFill>
                <a:latin typeface="+mn-lt"/>
              </a:rPr>
              <a:t> </a:t>
            </a:r>
            <a:r>
              <a:rPr lang="ru-RU" b="1" smtClean="0">
                <a:solidFill>
                  <a:srgbClr val="FFFF00"/>
                </a:solidFill>
                <a:latin typeface="+mn-lt"/>
              </a:rPr>
              <a:t>VMWare</a:t>
            </a:r>
            <a:r>
              <a:rPr lang="ru-RU" smtClean="0">
                <a:solidFill>
                  <a:schemeClr val="bg1"/>
                </a:solidFill>
                <a:latin typeface="+mn-lt"/>
              </a:rPr>
              <a:t> – это программное обеспечение для виртуальных машин (далее ВМ), выпущенное компанией VMWare Inc. в Пало-Альто (штат Калифорния). Компания предоставляет различное ПО и приложения для виртуализации. Она стала одним из ключевых поставщиков данной продукции. Программное обеспечение VMWare Workstation было запущено в мае 1999 года.</a:t>
            </a:r>
            <a:endParaRPr lang="en-US" smtClean="0">
              <a:solidFill>
                <a:schemeClr val="bg1"/>
              </a:solidFill>
              <a:latin typeface="+mn-l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ru-RU" altLang="ru-RU" sz="3200" smtClean="0">
                <a:solidFill>
                  <a:schemeClr val="bg1"/>
                </a:solidFill>
                <a:latin typeface="Calibri" pitchFamily="34" charset="0"/>
              </a:rPr>
              <a:t>Виртуализация</a:t>
            </a:r>
            <a:r>
              <a:rPr lang="en-US" altLang="ru-RU" sz="3200" smtClean="0">
                <a:solidFill>
                  <a:schemeClr val="bg1"/>
                </a:solidFill>
                <a:latin typeface="Calibri" pitchFamily="34" charset="0"/>
              </a:rPr>
              <a:t> </a:t>
            </a:r>
            <a:r>
              <a:rPr lang="ru-RU" altLang="ru-RU" sz="3200" smtClean="0">
                <a:solidFill>
                  <a:schemeClr val="bg1"/>
                </a:solidFill>
                <a:latin typeface="Calibri" pitchFamily="34" charset="0"/>
              </a:rPr>
              <a:t>ОС</a:t>
            </a:r>
            <a:r>
              <a:rPr lang="en-US" altLang="ru-RU" sz="3200" smtClean="0">
                <a:solidFill>
                  <a:schemeClr val="bg1"/>
                </a:solidFill>
                <a:latin typeface="Calibri" pitchFamily="34" charset="0"/>
              </a:rPr>
              <a:t>. Hypervisor</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251520" y="1041702"/>
            <a:ext cx="8244408" cy="4985980"/>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lang="ru-RU" b="1" smtClean="0">
                <a:solidFill>
                  <a:srgbClr val="FFFF00"/>
                </a:solidFill>
                <a:latin typeface="+mn-lt"/>
              </a:rPr>
              <a:t>Гипервизор (</a:t>
            </a:r>
            <a:r>
              <a:rPr lang="en-US" b="1" smtClean="0">
                <a:solidFill>
                  <a:srgbClr val="FFFF00"/>
                </a:solidFill>
                <a:latin typeface="+mn-lt"/>
              </a:rPr>
              <a:t>Hypervisor) </a:t>
            </a:r>
            <a:r>
              <a:rPr lang="en-US" smtClean="0">
                <a:solidFill>
                  <a:schemeClr val="bg1"/>
                </a:solidFill>
                <a:latin typeface="+mn-lt"/>
              </a:rPr>
              <a:t>– </a:t>
            </a:r>
            <a:r>
              <a:rPr lang="ru-RU" smtClean="0">
                <a:solidFill>
                  <a:schemeClr val="bg1"/>
                </a:solidFill>
                <a:latin typeface="+mn-lt"/>
              </a:rPr>
              <a:t>прослойка между «железом» и кодом </a:t>
            </a:r>
            <a:r>
              <a:rPr lang="ru-RU" i="1" smtClean="0">
                <a:solidFill>
                  <a:schemeClr val="bg1"/>
                </a:solidFill>
                <a:latin typeface="+mn-lt"/>
              </a:rPr>
              <a:t>гостевой </a:t>
            </a:r>
            <a:r>
              <a:rPr lang="en-US" i="1" smtClean="0">
                <a:solidFill>
                  <a:schemeClr val="bg1"/>
                </a:solidFill>
                <a:latin typeface="+mn-lt"/>
              </a:rPr>
              <a:t>OC:</a:t>
            </a:r>
            <a:endParaRPr lang="en-US" smtClean="0">
              <a:solidFill>
                <a:schemeClr val="bg1"/>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mtClean="0">
              <a:solidFill>
                <a:schemeClr val="bg1"/>
              </a:solidFill>
              <a:latin typeface="+mn-lt"/>
            </a:endParaRPr>
          </a:p>
          <a:p>
            <a:pPr>
              <a:buFont typeface="Arial" pitchFamily="34" charset="0"/>
              <a:buChar char="•"/>
            </a:pPr>
            <a:r>
              <a:rPr lang="en-US" b="1" smtClean="0">
                <a:solidFill>
                  <a:schemeClr val="bg1"/>
                </a:solidFill>
                <a:latin typeface="+mn-lt"/>
              </a:rPr>
              <a:t> </a:t>
            </a:r>
            <a:r>
              <a:rPr lang="ru-RU" b="1" smtClean="0">
                <a:solidFill>
                  <a:srgbClr val="FFFF00"/>
                </a:solidFill>
                <a:latin typeface="+mn-lt"/>
              </a:rPr>
              <a:t>Virtual Machine Monitor </a:t>
            </a:r>
            <a:r>
              <a:rPr lang="ru-RU" b="1" smtClean="0">
                <a:solidFill>
                  <a:schemeClr val="bg1"/>
                </a:solidFill>
                <a:latin typeface="+mn-lt"/>
              </a:rPr>
              <a:t>(VMM)</a:t>
            </a:r>
            <a:r>
              <a:rPr lang="ru-RU" smtClean="0">
                <a:solidFill>
                  <a:schemeClr val="bg1"/>
                </a:solidFill>
                <a:latin typeface="+mn-lt"/>
              </a:rPr>
              <a:t> (Монитор Виртуальной Машины): Используется для отделения и эмуляции набора привилегированных инструкций (которые может исполнять лишь само ядро его операционной системы)</a:t>
            </a:r>
          </a:p>
          <a:p>
            <a:pPr>
              <a:buFont typeface="Arial" pitchFamily="34" charset="0"/>
              <a:buChar char="•"/>
            </a:pPr>
            <a:r>
              <a:rPr lang="en-US" b="1" smtClean="0">
                <a:solidFill>
                  <a:schemeClr val="bg1"/>
                </a:solidFill>
                <a:latin typeface="+mn-lt"/>
              </a:rPr>
              <a:t> </a:t>
            </a:r>
            <a:r>
              <a:rPr lang="ru-RU" b="1" smtClean="0">
                <a:solidFill>
                  <a:srgbClr val="FFFF00"/>
                </a:solidFill>
                <a:latin typeface="+mn-lt"/>
              </a:rPr>
              <a:t>Device model</a:t>
            </a:r>
            <a:r>
              <a:rPr lang="ru-RU" smtClean="0">
                <a:solidFill>
                  <a:srgbClr val="FFFF00"/>
                </a:solidFill>
                <a:latin typeface="+mn-lt"/>
              </a:rPr>
              <a:t> </a:t>
            </a:r>
            <a:r>
              <a:rPr lang="ru-RU" smtClean="0">
                <a:solidFill>
                  <a:schemeClr val="bg1"/>
                </a:solidFill>
                <a:latin typeface="+mn-lt"/>
              </a:rPr>
              <a:t>(Модель Устройства): Используется для виртуализации имеющихся устройств ввода/ вывода</a:t>
            </a:r>
            <a:endParaRPr lang="en-US" smtClean="0">
              <a:solidFill>
                <a:schemeClr val="bg1"/>
              </a:solidFill>
              <a:latin typeface="+mn-lt"/>
            </a:endParaRPr>
          </a:p>
          <a:p>
            <a:pPr>
              <a:buFont typeface="Arial" pitchFamily="34" charset="0"/>
              <a:buChar char="•"/>
            </a:pPr>
            <a:endParaRPr lang="en-US" smtClean="0">
              <a:solidFill>
                <a:schemeClr val="bg1"/>
              </a:solidFill>
              <a:latin typeface="+mn-lt"/>
            </a:endParaRPr>
          </a:p>
          <a:p>
            <a:r>
              <a:rPr lang="ru-RU" smtClean="0">
                <a:solidFill>
                  <a:schemeClr val="bg1"/>
                </a:solidFill>
                <a:latin typeface="+mn-lt"/>
              </a:rPr>
              <a:t>Требования к гипервизору</a:t>
            </a:r>
            <a:r>
              <a:rPr lang="en-US" smtClean="0">
                <a:solidFill>
                  <a:schemeClr val="bg1"/>
                </a:solidFill>
                <a:latin typeface="+mn-lt"/>
              </a:rPr>
              <a:t>:</a:t>
            </a:r>
            <a:r>
              <a:rPr lang="ru-RU" smtClean="0"/>
              <a:t> </a:t>
            </a:r>
            <a:r>
              <a:rPr lang="ru-RU" smtClean="0">
                <a:solidFill>
                  <a:schemeClr val="bg1"/>
                </a:solidFill>
                <a:latin typeface="+mn-lt"/>
              </a:rPr>
              <a:t>(Popek and Goldberg, 1973):</a:t>
            </a:r>
          </a:p>
          <a:p>
            <a:pPr marL="342900" indent="-342900">
              <a:buFont typeface="+mj-lt"/>
              <a:buAutoNum type="arabicPeriod"/>
            </a:pPr>
            <a:r>
              <a:rPr lang="ru-RU" b="1" smtClean="0">
                <a:solidFill>
                  <a:srgbClr val="FFFF00"/>
                </a:solidFill>
                <a:latin typeface="+mn-lt"/>
              </a:rPr>
              <a:t>Изоляция</a:t>
            </a:r>
            <a:r>
              <a:rPr lang="ru-RU" smtClean="0">
                <a:solidFill>
                  <a:schemeClr val="bg1"/>
                </a:solidFill>
                <a:latin typeface="+mn-lt"/>
              </a:rPr>
              <a:t>: Обязан изолировать </a:t>
            </a:r>
            <a:r>
              <a:rPr lang="ru-RU" i="1" smtClean="0">
                <a:solidFill>
                  <a:schemeClr val="bg1"/>
                </a:solidFill>
                <a:latin typeface="+mn-lt"/>
              </a:rPr>
              <a:t>гостевые ОС </a:t>
            </a:r>
            <a:r>
              <a:rPr lang="ru-RU" smtClean="0">
                <a:solidFill>
                  <a:schemeClr val="bg1"/>
                </a:solidFill>
                <a:latin typeface="+mn-lt"/>
              </a:rPr>
              <a:t>(ВМ) друг от друга</a:t>
            </a:r>
          </a:p>
          <a:p>
            <a:pPr marL="342900" indent="-342900">
              <a:buFont typeface="+mj-lt"/>
              <a:buAutoNum type="arabicPeriod"/>
            </a:pPr>
            <a:r>
              <a:rPr lang="ru-RU" b="1" smtClean="0">
                <a:solidFill>
                  <a:srgbClr val="FFFF00"/>
                </a:solidFill>
                <a:latin typeface="+mn-lt"/>
              </a:rPr>
              <a:t>Эквивалентности</a:t>
            </a:r>
            <a:r>
              <a:rPr lang="ru-RU" smtClean="0">
                <a:solidFill>
                  <a:schemeClr val="bg1"/>
                </a:solidFill>
                <a:latin typeface="+mn-lt"/>
              </a:rPr>
              <a:t>: Должен вести себя точно так же, как при виртуализации, так и без неё. Это означает, что большинство (почти все) инструкций исполлняется в «железе» без какой бы то ни было трансляции</a:t>
            </a:r>
          </a:p>
          <a:p>
            <a:pPr marL="342900" indent="-342900">
              <a:buFont typeface="+mj-lt"/>
              <a:buAutoNum type="arabicPeriod"/>
            </a:pPr>
            <a:r>
              <a:rPr lang="ru-RU" b="1" smtClean="0">
                <a:solidFill>
                  <a:srgbClr val="FFFF00"/>
                </a:solidFill>
                <a:latin typeface="+mn-lt"/>
              </a:rPr>
              <a:t>Производительность</a:t>
            </a:r>
            <a:r>
              <a:rPr lang="ru-RU" smtClean="0">
                <a:solidFill>
                  <a:schemeClr val="bg1"/>
                </a:solidFill>
                <a:latin typeface="+mn-lt"/>
              </a:rPr>
              <a:t>: Сопоставимость производительности </a:t>
            </a:r>
            <a:r>
              <a:rPr lang="ru-RU" i="1" smtClean="0">
                <a:solidFill>
                  <a:schemeClr val="bg1"/>
                </a:solidFill>
                <a:latin typeface="+mn-lt"/>
              </a:rPr>
              <a:t>гостевой ОС </a:t>
            </a:r>
            <a:r>
              <a:rPr lang="ru-RU" smtClean="0">
                <a:solidFill>
                  <a:schemeClr val="bg1"/>
                </a:solidFill>
                <a:latin typeface="+mn-lt"/>
              </a:rPr>
              <a:t>под ВМ и </a:t>
            </a:r>
            <a:r>
              <a:rPr lang="en-US" smtClean="0">
                <a:solidFill>
                  <a:schemeClr val="bg1"/>
                </a:solidFill>
                <a:latin typeface="+mn-lt"/>
              </a:rPr>
              <a:t> </a:t>
            </a:r>
            <a:r>
              <a:rPr lang="ru-RU" smtClean="0">
                <a:solidFill>
                  <a:schemeClr val="bg1"/>
                </a:solidFill>
                <a:latin typeface="+mn-lt"/>
              </a:rPr>
              <a:t>без нее. Минимальные издержки запуска ВМ.</a:t>
            </a:r>
          </a:p>
          <a:p>
            <a:endParaRPr lang="ru-RU" smtClean="0">
              <a:solidFill>
                <a:schemeClr val="bg1"/>
              </a:solidFill>
              <a:latin typeface="+mn-lt"/>
            </a:endParaRPr>
          </a:p>
          <a:p>
            <a:endParaRPr lang="en-US" smtClean="0">
              <a:solidFill>
                <a:schemeClr val="bg1"/>
              </a:solidFill>
              <a:latin typeface="+mn-lt"/>
            </a:endParaRPr>
          </a:p>
          <a:p>
            <a:endParaRPr lang="ru-RU">
              <a:solidFill>
                <a:schemeClr val="bg1"/>
              </a:solidFill>
              <a:latin typeface="+mn-lt"/>
            </a:endParaRPr>
          </a:p>
        </p:txBody>
      </p:sp>
      <p:sp>
        <p:nvSpPr>
          <p:cNvPr id="5" name="Прямоугольник 4"/>
          <p:cNvSpPr/>
          <p:nvPr/>
        </p:nvSpPr>
        <p:spPr>
          <a:xfrm>
            <a:off x="251520" y="6165304"/>
            <a:ext cx="7704856" cy="646331"/>
          </a:xfrm>
          <a:prstGeom prst="rect">
            <a:avLst/>
          </a:prstGeom>
        </p:spPr>
        <p:txBody>
          <a:bodyPr wrap="square">
            <a:spAutoFit/>
          </a:bodyPr>
          <a:lstStyle/>
          <a:p>
            <a:r>
              <a:rPr lang="en-US" smtClean="0">
                <a:solidFill>
                  <a:schemeClr val="bg1"/>
                </a:solidFill>
                <a:latin typeface="+mn-lt"/>
              </a:rPr>
              <a:t>https://</a:t>
            </a:r>
            <a:r>
              <a:rPr lang="en-US" smtClean="0">
                <a:solidFill>
                  <a:schemeClr val="bg1"/>
                </a:solidFill>
                <a:latin typeface="+mn-lt"/>
              </a:rPr>
              <a:t>habr.com/ru/articles/474776</a:t>
            </a:r>
            <a:r>
              <a:rPr lang="en-US" smtClean="0">
                <a:solidFill>
                  <a:schemeClr val="bg1"/>
                </a:solidFill>
                <a:latin typeface="+mn-lt"/>
              </a:rPr>
              <a:t>/</a:t>
            </a:r>
            <a:r>
              <a:rPr lang="ru-RU" smtClean="0">
                <a:solidFill>
                  <a:schemeClr val="bg1"/>
                </a:solidFill>
                <a:latin typeface="+mn-lt"/>
              </a:rPr>
              <a:t>  - виды виртуализации и архитектур гипервизоров</a:t>
            </a:r>
            <a:endParaRPr lang="ru-RU">
              <a:solidFill>
                <a:schemeClr val="bg1"/>
              </a:solidFill>
              <a:latin typeface="+mn-l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ru-RU" altLang="ru-RU" sz="3200" smtClean="0">
                <a:solidFill>
                  <a:schemeClr val="bg1"/>
                </a:solidFill>
                <a:latin typeface="Calibri" pitchFamily="34" charset="0"/>
              </a:rPr>
              <a:t>Виртуализация</a:t>
            </a:r>
            <a:r>
              <a:rPr lang="en-US" altLang="ru-RU" sz="3200" smtClean="0">
                <a:solidFill>
                  <a:schemeClr val="bg1"/>
                </a:solidFill>
                <a:latin typeface="Calibri" pitchFamily="34" charset="0"/>
              </a:rPr>
              <a:t> </a:t>
            </a:r>
            <a:r>
              <a:rPr lang="ru-RU" altLang="ru-RU" sz="3200" smtClean="0">
                <a:solidFill>
                  <a:schemeClr val="bg1"/>
                </a:solidFill>
                <a:latin typeface="Calibri" pitchFamily="34" charset="0"/>
              </a:rPr>
              <a:t>ОС</a:t>
            </a:r>
            <a:r>
              <a:rPr lang="en-US" altLang="ru-RU" sz="3200" smtClean="0">
                <a:solidFill>
                  <a:schemeClr val="bg1"/>
                </a:solidFill>
                <a:latin typeface="Calibri" pitchFamily="34" charset="0"/>
              </a:rPr>
              <a:t>. </a:t>
            </a:r>
            <a:r>
              <a:rPr lang="ru-RU" altLang="ru-RU" sz="3200" smtClean="0">
                <a:solidFill>
                  <a:schemeClr val="bg1"/>
                </a:solidFill>
                <a:latin typeface="Calibri" pitchFamily="34" charset="0"/>
              </a:rPr>
              <a:t>Типы гипервизоров</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323528" y="969694"/>
            <a:ext cx="8244408" cy="5262979"/>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pPr lvl="0" algn="just"/>
            <a:r>
              <a:rPr lang="ru-RU" b="1" smtClean="0">
                <a:solidFill>
                  <a:srgbClr val="FFFF00"/>
                </a:solidFill>
                <a:latin typeface="+mn-lt"/>
              </a:rPr>
              <a:t>Тип 1. </a:t>
            </a:r>
            <a:r>
              <a:rPr lang="en-US" b="1" smtClean="0">
                <a:solidFill>
                  <a:srgbClr val="FFFF00"/>
                </a:solidFill>
                <a:latin typeface="+mn-lt"/>
              </a:rPr>
              <a:t>native</a:t>
            </a:r>
            <a:r>
              <a:rPr lang="en-US" smtClean="0">
                <a:solidFill>
                  <a:srgbClr val="FFFF00"/>
                </a:solidFill>
                <a:latin typeface="+mn-lt"/>
              </a:rPr>
              <a:t>,</a:t>
            </a:r>
            <a:r>
              <a:rPr lang="en-US" smtClean="0">
                <a:solidFill>
                  <a:srgbClr val="FFFF00"/>
                </a:solidFill>
                <a:latin typeface="+mn-lt"/>
              </a:rPr>
              <a:t> </a:t>
            </a:r>
            <a:r>
              <a:rPr lang="en-US" b="1" smtClean="0">
                <a:solidFill>
                  <a:srgbClr val="FFFF00"/>
                </a:solidFill>
                <a:latin typeface="+mn-lt"/>
              </a:rPr>
              <a:t>bare-metal</a:t>
            </a:r>
            <a:r>
              <a:rPr lang="ru-RU" b="1" smtClean="0">
                <a:solidFill>
                  <a:srgbClr val="FFFF00"/>
                </a:solidFill>
                <a:latin typeface="+mn-lt"/>
              </a:rPr>
              <a:t> - </a:t>
            </a:r>
            <a:r>
              <a:rPr lang="ru-RU" smtClean="0">
                <a:solidFill>
                  <a:schemeClr val="bg1"/>
                </a:solidFill>
                <a:latin typeface="+mn-lt"/>
              </a:rPr>
              <a:t>автономный, тонкий, исполняемый </a:t>
            </a:r>
            <a:r>
              <a:rPr lang="ru-RU" smtClean="0">
                <a:solidFill>
                  <a:schemeClr val="bg1"/>
                </a:solidFill>
                <a:latin typeface="+mn-lt"/>
              </a:rPr>
              <a:t>на </a:t>
            </a:r>
            <a:r>
              <a:rPr lang="ru-RU" smtClean="0">
                <a:solidFill>
                  <a:schemeClr val="bg1"/>
                </a:solidFill>
                <a:latin typeface="+mn-lt"/>
              </a:rPr>
              <a:t>«голом железе», фактически специализированная ОС. </a:t>
            </a:r>
            <a:r>
              <a:rPr lang="en-US" b="1" smtClean="0">
                <a:solidFill>
                  <a:srgbClr val="FFFF00"/>
                </a:solidFill>
                <a:latin typeface="+mn-lt"/>
              </a:rPr>
              <a:t>VMware </a:t>
            </a:r>
            <a:r>
              <a:rPr lang="en-US" b="1" smtClean="0">
                <a:solidFill>
                  <a:srgbClr val="FFFF00"/>
                </a:solidFill>
                <a:latin typeface="+mn-lt"/>
              </a:rPr>
              <a:t>ESX / ESXi</a:t>
            </a:r>
            <a:r>
              <a:rPr lang="en-US" smtClean="0">
                <a:solidFill>
                  <a:srgbClr val="FFFF00"/>
                </a:solidFill>
                <a:latin typeface="+mn-lt"/>
              </a:rPr>
              <a:t>, </a:t>
            </a:r>
            <a:r>
              <a:rPr lang="en-US" b="1" smtClean="0">
                <a:solidFill>
                  <a:srgbClr val="FFFF00"/>
                </a:solidFill>
                <a:latin typeface="+mn-lt"/>
              </a:rPr>
              <a:t>Citrix XenServer</a:t>
            </a:r>
            <a:r>
              <a:rPr lang="en-US" smtClean="0">
                <a:solidFill>
                  <a:srgbClr val="FFFF00"/>
                </a:solidFill>
                <a:latin typeface="+mn-lt"/>
              </a:rPr>
              <a:t>.</a:t>
            </a:r>
            <a:endParaRPr lang="ru-RU" b="1" smtClean="0">
              <a:solidFill>
                <a:srgbClr val="FFFF00"/>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ru-RU" b="1" smtClean="0">
              <a:solidFill>
                <a:srgbClr val="FFFF00"/>
              </a:solidFill>
              <a:latin typeface="+mn-lt"/>
            </a:endParaRPr>
          </a:p>
          <a:p>
            <a:r>
              <a:rPr lang="ru-RU" b="1" smtClean="0">
                <a:solidFill>
                  <a:srgbClr val="FFFF00"/>
                </a:solidFill>
                <a:latin typeface="+mn-lt"/>
              </a:rPr>
              <a:t>Тип 2. </a:t>
            </a:r>
            <a:r>
              <a:rPr lang="ru-RU" smtClean="0">
                <a:solidFill>
                  <a:schemeClr val="bg1"/>
                </a:solidFill>
                <a:latin typeface="+mn-lt"/>
              </a:rPr>
              <a:t> </a:t>
            </a:r>
            <a:r>
              <a:rPr lang="ru-RU" smtClean="0">
                <a:solidFill>
                  <a:schemeClr val="bg1"/>
                </a:solidFill>
                <a:latin typeface="+mn-lt"/>
              </a:rPr>
              <a:t>Х</a:t>
            </a:r>
            <a:r>
              <a:rPr lang="ru-RU" smtClean="0">
                <a:solidFill>
                  <a:schemeClr val="bg1"/>
                </a:solidFill>
                <a:latin typeface="+mn-lt"/>
              </a:rPr>
              <a:t>остовый</a:t>
            </a:r>
            <a:r>
              <a:rPr lang="ru-RU" smtClean="0">
                <a:solidFill>
                  <a:schemeClr val="bg1"/>
                </a:solidFill>
                <a:latin typeface="+mn-lt"/>
              </a:rPr>
              <a:t>, монитор виртуальных машин — </a:t>
            </a:r>
            <a:r>
              <a:rPr lang="ru-RU" b="1" smtClean="0">
                <a:solidFill>
                  <a:schemeClr val="bg1"/>
                </a:solidFill>
                <a:latin typeface="+mn-lt"/>
              </a:rPr>
              <a:t>hosted</a:t>
            </a:r>
            <a:r>
              <a:rPr lang="ru-RU" smtClean="0">
                <a:solidFill>
                  <a:schemeClr val="bg1"/>
                </a:solidFill>
                <a:latin typeface="+mn-lt"/>
              </a:rPr>
              <a:t>, </a:t>
            </a:r>
            <a:r>
              <a:rPr lang="ru-RU" b="1" smtClean="0">
                <a:solidFill>
                  <a:schemeClr val="bg1"/>
                </a:solidFill>
                <a:latin typeface="+mn-lt"/>
              </a:rPr>
              <a:t>Type 2</a:t>
            </a:r>
            <a:r>
              <a:rPr lang="ru-RU" smtClean="0">
                <a:solidFill>
                  <a:schemeClr val="bg1"/>
                </a:solidFill>
                <a:latin typeface="+mn-lt"/>
              </a:rPr>
              <a:t>,</a:t>
            </a:r>
            <a:r>
              <a:rPr lang="ru-RU" smtClean="0">
                <a:solidFill>
                  <a:schemeClr val="bg1"/>
                </a:solidFill>
                <a:latin typeface="+mn-lt"/>
              </a:rPr>
              <a:t> </a:t>
            </a:r>
            <a:r>
              <a:rPr lang="ru-RU" b="1" smtClean="0">
                <a:solidFill>
                  <a:schemeClr val="bg1"/>
                </a:solidFill>
                <a:latin typeface="+mn-lt"/>
              </a:rPr>
              <a:t>V</a:t>
            </a:r>
            <a:r>
              <a:rPr lang="ru-RU" smtClean="0">
                <a:solidFill>
                  <a:schemeClr val="bg1"/>
                </a:solidFill>
                <a:latin typeface="+mn-lt"/>
              </a:rPr>
              <a:t> </a:t>
            </a:r>
            <a:r>
              <a:rPr lang="ru-RU" smtClean="0">
                <a:solidFill>
                  <a:schemeClr val="bg1"/>
                </a:solidFill>
                <a:latin typeface="+mn-lt"/>
              </a:rPr>
              <a:t>— специальный дополнительный программный слой, расположенный поверх основной хостовой ОС, который в основном выполняет функции управления гостевыми ОС, а эмуляцию и управление аппаратурой берет на себя </a:t>
            </a:r>
            <a:r>
              <a:rPr lang="ru-RU" smtClean="0">
                <a:solidFill>
                  <a:schemeClr val="bg1"/>
                </a:solidFill>
                <a:latin typeface="+mn-lt"/>
              </a:rPr>
              <a:t>хостовая </a:t>
            </a:r>
            <a:r>
              <a:rPr lang="ru-RU" smtClean="0">
                <a:solidFill>
                  <a:schemeClr val="bg1"/>
                </a:solidFill>
                <a:latin typeface="+mn-lt"/>
              </a:rPr>
              <a:t>ОС.</a:t>
            </a:r>
            <a:r>
              <a:rPr lang="ru-RU" smtClean="0">
                <a:solidFill>
                  <a:schemeClr val="bg1"/>
                </a:solidFill>
                <a:latin typeface="+mn-lt"/>
              </a:rPr>
              <a:t> </a:t>
            </a:r>
            <a:r>
              <a:rPr lang="ru-RU" smtClean="0">
                <a:solidFill>
                  <a:schemeClr val="bg1"/>
                </a:solidFill>
                <a:latin typeface="+mn-lt"/>
              </a:rPr>
              <a:t>Гипервизор  - работает как приложение , гостевая </a:t>
            </a:r>
            <a:r>
              <a:rPr lang="ru-RU" smtClean="0">
                <a:solidFill>
                  <a:schemeClr val="bg1"/>
                </a:solidFill>
                <a:latin typeface="+mn-lt"/>
              </a:rPr>
              <a:t>ОС выполняется как процесс на хосте, а гипервизор разделяет гостевую ОС и </a:t>
            </a:r>
            <a:r>
              <a:rPr lang="ru-RU" smtClean="0">
                <a:solidFill>
                  <a:schemeClr val="bg1"/>
                </a:solidFill>
                <a:latin typeface="+mn-lt"/>
              </a:rPr>
              <a:t>ОС </a:t>
            </a:r>
            <a:r>
              <a:rPr lang="ru-RU" smtClean="0">
                <a:solidFill>
                  <a:schemeClr val="bg1"/>
                </a:solidFill>
                <a:latin typeface="+mn-lt"/>
              </a:rPr>
              <a:t>хоста. </a:t>
            </a:r>
            <a:r>
              <a:rPr lang="ru-RU" b="1" smtClean="0">
                <a:solidFill>
                  <a:srgbClr val="FFFF00"/>
                </a:solidFill>
                <a:latin typeface="+mn-lt"/>
              </a:rPr>
              <a:t>VMware </a:t>
            </a:r>
            <a:r>
              <a:rPr lang="ru-RU" b="1" smtClean="0">
                <a:solidFill>
                  <a:srgbClr val="FFFF00"/>
                </a:solidFill>
                <a:latin typeface="+mn-lt"/>
              </a:rPr>
              <a:t>Workstation</a:t>
            </a:r>
            <a:r>
              <a:rPr lang="ru-RU" smtClean="0">
                <a:solidFill>
                  <a:srgbClr val="FFFF00"/>
                </a:solidFill>
                <a:latin typeface="+mn-lt"/>
              </a:rPr>
              <a:t>, </a:t>
            </a:r>
            <a:r>
              <a:rPr lang="ru-RU" b="1" smtClean="0">
                <a:solidFill>
                  <a:srgbClr val="FFFF00"/>
                </a:solidFill>
                <a:latin typeface="+mn-lt"/>
              </a:rPr>
              <a:t>VMware Player</a:t>
            </a:r>
            <a:endParaRPr lang="ru-RU" smtClean="0">
              <a:solidFill>
                <a:srgbClr val="FFFF00"/>
              </a:solidFill>
              <a:latin typeface="+mn-lt"/>
            </a:endParaRPr>
          </a:p>
          <a:p>
            <a:endParaRPr lang="en-US" smtClean="0">
              <a:solidFill>
                <a:schemeClr val="bg1"/>
              </a:solidFill>
              <a:latin typeface="+mn-lt"/>
            </a:endParaRPr>
          </a:p>
          <a:p>
            <a:r>
              <a:rPr lang="ru-RU" b="1" smtClean="0">
                <a:solidFill>
                  <a:srgbClr val="FFFF00"/>
                </a:solidFill>
                <a:latin typeface="+mn-lt"/>
              </a:rPr>
              <a:t>Тип 1.5, 1+ </a:t>
            </a:r>
            <a:r>
              <a:rPr lang="ru-RU" b="1" smtClean="0">
                <a:solidFill>
                  <a:schemeClr val="bg1"/>
                </a:solidFill>
                <a:latin typeface="+mn-lt"/>
              </a:rPr>
              <a:t>- </a:t>
            </a:r>
            <a:r>
              <a:rPr lang="ru-RU" smtClean="0"/>
              <a:t> </a:t>
            </a:r>
            <a:r>
              <a:rPr lang="ru-RU" smtClean="0">
                <a:solidFill>
                  <a:schemeClr val="bg1"/>
                </a:solidFill>
                <a:latin typeface="+mn-lt"/>
              </a:rPr>
              <a:t> </a:t>
            </a:r>
            <a:r>
              <a:rPr lang="ru-RU" smtClean="0">
                <a:solidFill>
                  <a:schemeClr val="bg1"/>
                </a:solidFill>
                <a:latin typeface="+mn-lt"/>
              </a:rPr>
              <a:t>Гибридный , функции </a:t>
            </a:r>
            <a:r>
              <a:rPr lang="ru-RU" smtClean="0">
                <a:solidFill>
                  <a:schemeClr val="bg1"/>
                </a:solidFill>
                <a:latin typeface="+mn-lt"/>
              </a:rPr>
              <a:t>управления аппаратными средствами выполняются тонким гипервизором и специальной </a:t>
            </a:r>
            <a:r>
              <a:rPr lang="ru-RU" smtClean="0">
                <a:solidFill>
                  <a:schemeClr val="bg1"/>
                </a:solidFill>
                <a:latin typeface="+mn-lt"/>
              </a:rPr>
              <a:t>депривилегированной </a:t>
            </a:r>
            <a:r>
              <a:rPr lang="ru-RU" smtClean="0">
                <a:solidFill>
                  <a:schemeClr val="bg1"/>
                </a:solidFill>
                <a:latin typeface="+mn-lt"/>
              </a:rPr>
              <a:t>(корневой ) сервисной </a:t>
            </a:r>
            <a:r>
              <a:rPr lang="ru-RU" smtClean="0">
                <a:solidFill>
                  <a:schemeClr val="bg1"/>
                </a:solidFill>
                <a:latin typeface="+mn-lt"/>
              </a:rPr>
              <a:t>ОС, работающей под управлением тонкого гипервизора</a:t>
            </a:r>
            <a:r>
              <a:rPr lang="ru-RU" smtClean="0">
                <a:solidFill>
                  <a:schemeClr val="bg1"/>
                </a:solidFill>
                <a:latin typeface="+mn-lt"/>
              </a:rPr>
              <a:t>. </a:t>
            </a:r>
            <a:r>
              <a:rPr lang="ru-RU" smtClean="0">
                <a:solidFill>
                  <a:schemeClr val="bg1"/>
                </a:solidFill>
                <a:latin typeface="+mn-lt"/>
              </a:rPr>
              <a:t>Гипервизор </a:t>
            </a:r>
            <a:r>
              <a:rPr lang="ru-RU" smtClean="0">
                <a:solidFill>
                  <a:schemeClr val="bg1"/>
                </a:solidFill>
                <a:latin typeface="+mn-lt"/>
              </a:rPr>
              <a:t>управляет напрямую процессором и памятью компьютера, а через сервисную ОС гостевые ОС работают с остальными </a:t>
            </a:r>
            <a:r>
              <a:rPr lang="ru-RU" smtClean="0">
                <a:solidFill>
                  <a:schemeClr val="bg1"/>
                </a:solidFill>
                <a:latin typeface="+mn-lt"/>
              </a:rPr>
              <a:t>аппаратными </a:t>
            </a:r>
            <a:r>
              <a:rPr lang="ru-RU" smtClean="0">
                <a:solidFill>
                  <a:schemeClr val="bg1"/>
                </a:solidFill>
                <a:latin typeface="+mn-lt"/>
              </a:rPr>
              <a:t>компонентами.</a:t>
            </a:r>
            <a:r>
              <a:rPr lang="ru-RU" smtClean="0">
                <a:solidFill>
                  <a:schemeClr val="bg1"/>
                </a:solidFill>
                <a:latin typeface="+mn-lt"/>
              </a:rPr>
              <a:t> </a:t>
            </a:r>
            <a:r>
              <a:rPr lang="ru-RU" smtClean="0">
                <a:solidFill>
                  <a:schemeClr val="bg1"/>
                </a:solidFill>
                <a:latin typeface="+mn-lt"/>
              </a:rPr>
              <a:t>Через </a:t>
            </a:r>
            <a:r>
              <a:rPr lang="ru-RU" smtClean="0">
                <a:solidFill>
                  <a:schemeClr val="bg1"/>
                </a:solidFill>
                <a:latin typeface="+mn-lt"/>
              </a:rPr>
              <a:t>сервисную ОС гостевые ОС получают доступ к физическому оборудованию.</a:t>
            </a:r>
          </a:p>
          <a:p>
            <a:r>
              <a:rPr lang="ru-RU" smtClean="0">
                <a:solidFill>
                  <a:schemeClr val="bg1"/>
                </a:solidFill>
                <a:latin typeface="+mn-lt"/>
              </a:rPr>
              <a:t>Примерами данного вида гипервизоров выступают: </a:t>
            </a:r>
            <a:r>
              <a:rPr lang="ru-RU" b="1" smtClean="0">
                <a:solidFill>
                  <a:srgbClr val="FFFF00"/>
                </a:solidFill>
                <a:latin typeface="+mn-lt"/>
              </a:rPr>
              <a:t>Microsoft Virtual Server</a:t>
            </a:r>
            <a:r>
              <a:rPr lang="ru-RU" smtClean="0">
                <a:solidFill>
                  <a:srgbClr val="FFFF00"/>
                </a:solidFill>
                <a:latin typeface="+mn-lt"/>
              </a:rPr>
              <a:t>, </a:t>
            </a:r>
            <a:r>
              <a:rPr lang="ru-RU" b="1" smtClean="0">
                <a:solidFill>
                  <a:srgbClr val="FFFF00"/>
                </a:solidFill>
                <a:latin typeface="+mn-lt"/>
              </a:rPr>
              <a:t>Sun Logical Domains</a:t>
            </a:r>
            <a:r>
              <a:rPr lang="ru-RU" smtClean="0">
                <a:solidFill>
                  <a:srgbClr val="FFFF00"/>
                </a:solidFill>
                <a:latin typeface="+mn-lt"/>
              </a:rPr>
              <a:t>, </a:t>
            </a:r>
            <a:r>
              <a:rPr lang="ru-RU" b="1" smtClean="0">
                <a:solidFill>
                  <a:srgbClr val="FFFF00"/>
                </a:solidFill>
                <a:latin typeface="+mn-lt"/>
              </a:rPr>
              <a:t>Xen</a:t>
            </a:r>
            <a:r>
              <a:rPr lang="ru-RU" smtClean="0">
                <a:solidFill>
                  <a:srgbClr val="FFFF00"/>
                </a:solidFill>
                <a:latin typeface="+mn-lt"/>
              </a:rPr>
              <a:t>, </a:t>
            </a:r>
            <a:r>
              <a:rPr lang="ru-RU" b="1" smtClean="0">
                <a:solidFill>
                  <a:srgbClr val="FFFF00"/>
                </a:solidFill>
                <a:latin typeface="+mn-lt"/>
              </a:rPr>
              <a:t>Citrix XenServe</a:t>
            </a:r>
            <a:r>
              <a:rPr lang="ru-RU" smtClean="0">
                <a:solidFill>
                  <a:srgbClr val="FFFF00"/>
                </a:solidFill>
                <a:latin typeface="+mn-lt"/>
              </a:rPr>
              <a:t>r, </a:t>
            </a:r>
            <a:r>
              <a:rPr lang="ru-RU" b="1" smtClean="0">
                <a:solidFill>
                  <a:srgbClr val="FFFF00"/>
                </a:solidFill>
                <a:latin typeface="+mn-lt"/>
              </a:rPr>
              <a:t>Microsoft Hyper-V</a:t>
            </a:r>
            <a:r>
              <a:rPr lang="ru-RU" smtClean="0">
                <a:solidFill>
                  <a:srgbClr val="FFFF00"/>
                </a:solidFill>
                <a:latin typeface="+mn-lt"/>
              </a:rPr>
              <a:t>, </a:t>
            </a:r>
            <a:r>
              <a:rPr lang="ru-RU" b="1" smtClean="0">
                <a:solidFill>
                  <a:srgbClr val="FFFF00"/>
                </a:solidFill>
                <a:latin typeface="+mn-lt"/>
              </a:rPr>
              <a:t>VMware </a:t>
            </a:r>
            <a:r>
              <a:rPr lang="ru-RU" b="1" smtClean="0">
                <a:solidFill>
                  <a:srgbClr val="FFFF00"/>
                </a:solidFill>
                <a:latin typeface="+mn-lt"/>
              </a:rPr>
              <a:t>Workstation</a:t>
            </a:r>
            <a:endParaRPr lang="ru-RU" smtClean="0">
              <a:solidFill>
                <a:srgbClr val="FFFF00"/>
              </a:solidFill>
              <a:latin typeface="+mn-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ru-RU" altLang="ru-RU" sz="3200" smtClean="0">
                <a:solidFill>
                  <a:schemeClr val="bg1"/>
                </a:solidFill>
                <a:latin typeface="Calibri" pitchFamily="34" charset="0"/>
              </a:rPr>
              <a:t>Виртуализация</a:t>
            </a:r>
            <a:r>
              <a:rPr lang="en-US" altLang="ru-RU" sz="3200" smtClean="0">
                <a:solidFill>
                  <a:schemeClr val="bg1"/>
                </a:solidFill>
                <a:latin typeface="Calibri" pitchFamily="34" charset="0"/>
              </a:rPr>
              <a:t> </a:t>
            </a:r>
            <a:r>
              <a:rPr lang="ru-RU" altLang="ru-RU" sz="3200" smtClean="0">
                <a:solidFill>
                  <a:schemeClr val="bg1"/>
                </a:solidFill>
                <a:latin typeface="Calibri" pitchFamily="34" charset="0"/>
              </a:rPr>
              <a:t>ОС</a:t>
            </a:r>
            <a:r>
              <a:rPr lang="en-US" altLang="ru-RU" sz="3200" smtClean="0">
                <a:solidFill>
                  <a:schemeClr val="bg1"/>
                </a:solidFill>
                <a:latin typeface="Calibri" pitchFamily="34" charset="0"/>
              </a:rPr>
              <a:t>. Hypervisor</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251520" y="1041702"/>
            <a:ext cx="8244408" cy="4985980"/>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lang="ru-RU" b="1" smtClean="0">
                <a:solidFill>
                  <a:srgbClr val="FFFF00"/>
                </a:solidFill>
                <a:latin typeface="+mn-lt"/>
              </a:rPr>
              <a:t>Гипервизор (</a:t>
            </a:r>
            <a:r>
              <a:rPr lang="en-US" b="1" smtClean="0">
                <a:solidFill>
                  <a:srgbClr val="FFFF00"/>
                </a:solidFill>
                <a:latin typeface="+mn-lt"/>
              </a:rPr>
              <a:t>Hypervisor) </a:t>
            </a:r>
            <a:r>
              <a:rPr lang="en-US" smtClean="0">
                <a:solidFill>
                  <a:schemeClr val="bg1"/>
                </a:solidFill>
                <a:latin typeface="+mn-lt"/>
              </a:rPr>
              <a:t>– </a:t>
            </a:r>
            <a:r>
              <a:rPr lang="ru-RU" smtClean="0">
                <a:solidFill>
                  <a:schemeClr val="bg1"/>
                </a:solidFill>
                <a:latin typeface="+mn-lt"/>
              </a:rPr>
              <a:t>прослойка между «железом» и кодом </a:t>
            </a:r>
            <a:r>
              <a:rPr lang="ru-RU" i="1" smtClean="0">
                <a:solidFill>
                  <a:schemeClr val="bg1"/>
                </a:solidFill>
                <a:latin typeface="+mn-lt"/>
              </a:rPr>
              <a:t>гостевой </a:t>
            </a:r>
            <a:r>
              <a:rPr lang="en-US" i="1" smtClean="0">
                <a:solidFill>
                  <a:schemeClr val="bg1"/>
                </a:solidFill>
                <a:latin typeface="+mn-lt"/>
              </a:rPr>
              <a:t>OC:</a:t>
            </a:r>
            <a:endParaRPr lang="en-US" smtClean="0">
              <a:solidFill>
                <a:schemeClr val="bg1"/>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mtClean="0">
              <a:solidFill>
                <a:schemeClr val="bg1"/>
              </a:solidFill>
              <a:latin typeface="+mn-lt"/>
            </a:endParaRPr>
          </a:p>
          <a:p>
            <a:pPr>
              <a:buFont typeface="Arial" pitchFamily="34" charset="0"/>
              <a:buChar char="•"/>
            </a:pPr>
            <a:r>
              <a:rPr lang="en-US" b="1" smtClean="0">
                <a:solidFill>
                  <a:schemeClr val="bg1"/>
                </a:solidFill>
                <a:latin typeface="+mn-lt"/>
              </a:rPr>
              <a:t> </a:t>
            </a:r>
            <a:r>
              <a:rPr lang="ru-RU" b="1" smtClean="0">
                <a:solidFill>
                  <a:srgbClr val="FFFF00"/>
                </a:solidFill>
                <a:latin typeface="+mn-lt"/>
              </a:rPr>
              <a:t>Virtual Machine Monitor </a:t>
            </a:r>
            <a:r>
              <a:rPr lang="ru-RU" b="1" smtClean="0">
                <a:solidFill>
                  <a:schemeClr val="bg1"/>
                </a:solidFill>
                <a:latin typeface="+mn-lt"/>
              </a:rPr>
              <a:t>(VMM)</a:t>
            </a:r>
            <a:r>
              <a:rPr lang="ru-RU" smtClean="0">
                <a:solidFill>
                  <a:schemeClr val="bg1"/>
                </a:solidFill>
                <a:latin typeface="+mn-lt"/>
              </a:rPr>
              <a:t> (Монитор Виртуальной Машины): Используется для отделения и эмуляции набора привилегированных инструкций (которые может исполнять лишь само ядро его операционной системы)</a:t>
            </a:r>
          </a:p>
          <a:p>
            <a:pPr>
              <a:buFont typeface="Arial" pitchFamily="34" charset="0"/>
              <a:buChar char="•"/>
            </a:pPr>
            <a:r>
              <a:rPr lang="en-US" b="1" smtClean="0">
                <a:solidFill>
                  <a:schemeClr val="bg1"/>
                </a:solidFill>
                <a:latin typeface="+mn-lt"/>
              </a:rPr>
              <a:t> </a:t>
            </a:r>
            <a:r>
              <a:rPr lang="ru-RU" b="1" smtClean="0">
                <a:solidFill>
                  <a:srgbClr val="FFFF00"/>
                </a:solidFill>
                <a:latin typeface="+mn-lt"/>
              </a:rPr>
              <a:t>Device model</a:t>
            </a:r>
            <a:r>
              <a:rPr lang="ru-RU" smtClean="0">
                <a:solidFill>
                  <a:srgbClr val="FFFF00"/>
                </a:solidFill>
                <a:latin typeface="+mn-lt"/>
              </a:rPr>
              <a:t> </a:t>
            </a:r>
            <a:r>
              <a:rPr lang="ru-RU" smtClean="0">
                <a:solidFill>
                  <a:schemeClr val="bg1"/>
                </a:solidFill>
                <a:latin typeface="+mn-lt"/>
              </a:rPr>
              <a:t>(Модель Устройства): Используется для виртуализации имеющихся устройств ввода/ вывода</a:t>
            </a:r>
            <a:endParaRPr lang="en-US" smtClean="0">
              <a:solidFill>
                <a:schemeClr val="bg1"/>
              </a:solidFill>
              <a:latin typeface="+mn-lt"/>
            </a:endParaRPr>
          </a:p>
          <a:p>
            <a:pPr>
              <a:buFont typeface="Arial" pitchFamily="34" charset="0"/>
              <a:buChar char="•"/>
            </a:pPr>
            <a:endParaRPr lang="en-US" smtClean="0">
              <a:solidFill>
                <a:schemeClr val="bg1"/>
              </a:solidFill>
              <a:latin typeface="+mn-lt"/>
            </a:endParaRPr>
          </a:p>
          <a:p>
            <a:r>
              <a:rPr lang="ru-RU" smtClean="0">
                <a:solidFill>
                  <a:schemeClr val="bg1"/>
                </a:solidFill>
                <a:latin typeface="+mn-lt"/>
              </a:rPr>
              <a:t>Требования к гипервизору</a:t>
            </a:r>
            <a:r>
              <a:rPr lang="en-US" smtClean="0">
                <a:solidFill>
                  <a:schemeClr val="bg1"/>
                </a:solidFill>
                <a:latin typeface="+mn-lt"/>
              </a:rPr>
              <a:t>:</a:t>
            </a:r>
            <a:r>
              <a:rPr lang="ru-RU" smtClean="0"/>
              <a:t> </a:t>
            </a:r>
            <a:r>
              <a:rPr lang="ru-RU" smtClean="0">
                <a:solidFill>
                  <a:schemeClr val="bg1"/>
                </a:solidFill>
                <a:latin typeface="+mn-lt"/>
              </a:rPr>
              <a:t>(Popek and Goldberg, 1973):</a:t>
            </a:r>
          </a:p>
          <a:p>
            <a:pPr marL="342900" indent="-342900">
              <a:buFont typeface="+mj-lt"/>
              <a:buAutoNum type="arabicPeriod"/>
            </a:pPr>
            <a:r>
              <a:rPr lang="ru-RU" b="1" smtClean="0">
                <a:solidFill>
                  <a:srgbClr val="FFFF00"/>
                </a:solidFill>
                <a:latin typeface="+mn-lt"/>
              </a:rPr>
              <a:t>Изоляция</a:t>
            </a:r>
            <a:r>
              <a:rPr lang="ru-RU" smtClean="0">
                <a:solidFill>
                  <a:schemeClr val="bg1"/>
                </a:solidFill>
                <a:latin typeface="+mn-lt"/>
              </a:rPr>
              <a:t>: Обязан изолировать </a:t>
            </a:r>
            <a:r>
              <a:rPr lang="ru-RU" i="1" smtClean="0">
                <a:solidFill>
                  <a:schemeClr val="bg1"/>
                </a:solidFill>
                <a:latin typeface="+mn-lt"/>
              </a:rPr>
              <a:t>гостевые ОС </a:t>
            </a:r>
            <a:r>
              <a:rPr lang="ru-RU" smtClean="0">
                <a:solidFill>
                  <a:schemeClr val="bg1"/>
                </a:solidFill>
                <a:latin typeface="+mn-lt"/>
              </a:rPr>
              <a:t>(ВМ) друг от друга</a:t>
            </a:r>
          </a:p>
          <a:p>
            <a:pPr marL="342900" indent="-342900">
              <a:buFont typeface="+mj-lt"/>
              <a:buAutoNum type="arabicPeriod"/>
            </a:pPr>
            <a:r>
              <a:rPr lang="ru-RU" b="1" smtClean="0">
                <a:solidFill>
                  <a:srgbClr val="FFFF00"/>
                </a:solidFill>
                <a:latin typeface="+mn-lt"/>
              </a:rPr>
              <a:t>Эквивалентности</a:t>
            </a:r>
            <a:r>
              <a:rPr lang="ru-RU" smtClean="0">
                <a:solidFill>
                  <a:schemeClr val="bg1"/>
                </a:solidFill>
                <a:latin typeface="+mn-lt"/>
              </a:rPr>
              <a:t>: Должен вести себя точно так же, как при виртуализации, так и без неё. Это означает, что большинство (почти все) инструкций исполлняется в «железе» без какой бы то ни было трансляции</a:t>
            </a:r>
          </a:p>
          <a:p>
            <a:pPr marL="342900" indent="-342900">
              <a:buFont typeface="+mj-lt"/>
              <a:buAutoNum type="arabicPeriod"/>
            </a:pPr>
            <a:r>
              <a:rPr lang="ru-RU" b="1" smtClean="0">
                <a:solidFill>
                  <a:srgbClr val="FFFF00"/>
                </a:solidFill>
                <a:latin typeface="+mn-lt"/>
              </a:rPr>
              <a:t>Производительность</a:t>
            </a:r>
            <a:r>
              <a:rPr lang="ru-RU" smtClean="0">
                <a:solidFill>
                  <a:schemeClr val="bg1"/>
                </a:solidFill>
                <a:latin typeface="+mn-lt"/>
              </a:rPr>
              <a:t>: Сопоставимость производительности </a:t>
            </a:r>
            <a:r>
              <a:rPr lang="ru-RU" i="1" smtClean="0">
                <a:solidFill>
                  <a:schemeClr val="bg1"/>
                </a:solidFill>
                <a:latin typeface="+mn-lt"/>
              </a:rPr>
              <a:t>гостевой ОС </a:t>
            </a:r>
            <a:r>
              <a:rPr lang="ru-RU" smtClean="0">
                <a:solidFill>
                  <a:schemeClr val="bg1"/>
                </a:solidFill>
                <a:latin typeface="+mn-lt"/>
              </a:rPr>
              <a:t>под ВМ и </a:t>
            </a:r>
            <a:r>
              <a:rPr lang="en-US" smtClean="0">
                <a:solidFill>
                  <a:schemeClr val="bg1"/>
                </a:solidFill>
                <a:latin typeface="+mn-lt"/>
              </a:rPr>
              <a:t> </a:t>
            </a:r>
            <a:r>
              <a:rPr lang="ru-RU" smtClean="0">
                <a:solidFill>
                  <a:schemeClr val="bg1"/>
                </a:solidFill>
                <a:latin typeface="+mn-lt"/>
              </a:rPr>
              <a:t>без нее. Минимальные издержки запуска ВМ.</a:t>
            </a:r>
          </a:p>
          <a:p>
            <a:endParaRPr lang="ru-RU" smtClean="0">
              <a:solidFill>
                <a:schemeClr val="bg1"/>
              </a:solidFill>
              <a:latin typeface="+mn-lt"/>
            </a:endParaRPr>
          </a:p>
          <a:p>
            <a:endParaRPr lang="en-US" smtClean="0">
              <a:solidFill>
                <a:schemeClr val="bg1"/>
              </a:solidFill>
              <a:latin typeface="+mn-lt"/>
            </a:endParaRPr>
          </a:p>
          <a:p>
            <a:endParaRPr lang="ru-RU">
              <a:solidFill>
                <a:schemeClr val="bg1"/>
              </a:solidFill>
              <a:latin typeface="+mn-l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Hypervisor</a:t>
            </a:r>
            <a:r>
              <a:rPr lang="ru-RU" altLang="ru-RU" sz="3200" smtClean="0">
                <a:solidFill>
                  <a:schemeClr val="bg1"/>
                </a:solidFill>
                <a:latin typeface="Calibri" pitchFamily="34" charset="0"/>
              </a:rPr>
              <a:t>. Виртуализация памяти</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251520" y="764704"/>
            <a:ext cx="8244408" cy="2215991"/>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r>
              <a:rPr lang="ru-RU" smtClean="0">
                <a:solidFill>
                  <a:schemeClr val="bg1"/>
                </a:solidFill>
                <a:latin typeface="+mn-lt"/>
              </a:rPr>
              <a:t>Адресное пространство систем ВМ:</a:t>
            </a:r>
          </a:p>
          <a:p>
            <a:pPr marL="342900" indent="-342900">
              <a:buFont typeface="+mj-lt"/>
              <a:buAutoNum type="arabicPeriod"/>
            </a:pPr>
            <a:r>
              <a:rPr lang="ru-RU" b="1" smtClean="0">
                <a:solidFill>
                  <a:srgbClr val="FFFF00"/>
                </a:solidFill>
                <a:latin typeface="+mn-lt"/>
              </a:rPr>
              <a:t>Гостевая виртуальная память</a:t>
            </a:r>
            <a:r>
              <a:rPr lang="ru-RU" smtClean="0">
                <a:solidFill>
                  <a:srgbClr val="FFFF00"/>
                </a:solidFill>
                <a:latin typeface="+mn-lt"/>
              </a:rPr>
              <a:t>: </a:t>
            </a:r>
            <a:r>
              <a:rPr lang="ru-RU" smtClean="0">
                <a:solidFill>
                  <a:schemeClr val="bg1"/>
                </a:solidFill>
                <a:latin typeface="+mn-lt"/>
              </a:rPr>
              <a:t>уровень виртуализации АП, аналогичный ВАП обычной ОС (уровень </a:t>
            </a:r>
            <a:r>
              <a:rPr lang="ru-RU" smtClean="0">
                <a:solidFill>
                  <a:schemeClr val="bg1"/>
                </a:solidFill>
                <a:latin typeface="+mn-lt"/>
              </a:rPr>
              <a:t>ВАП-2</a:t>
            </a:r>
            <a:r>
              <a:rPr lang="ru-RU" smtClean="0">
                <a:solidFill>
                  <a:schemeClr val="bg1"/>
                </a:solidFill>
                <a:latin typeface="+mn-lt"/>
              </a:rPr>
              <a:t>).</a:t>
            </a:r>
            <a:r>
              <a:rPr lang="en-US" smtClean="0"/>
              <a:t> </a:t>
            </a:r>
            <a:endParaRPr lang="ru-RU" smtClean="0"/>
          </a:p>
          <a:p>
            <a:pPr marL="342900" indent="-342900"/>
            <a:r>
              <a:rPr lang="ru-RU" b="1" smtClean="0">
                <a:solidFill>
                  <a:srgbClr val="FFFF00"/>
                </a:solidFill>
                <a:latin typeface="+mn-lt"/>
              </a:rPr>
              <a:t>	</a:t>
            </a:r>
            <a:r>
              <a:rPr lang="en-US" b="1" smtClean="0">
                <a:solidFill>
                  <a:srgbClr val="FFFF00"/>
                </a:solidFill>
                <a:latin typeface="+mn-lt"/>
              </a:rPr>
              <a:t>GVA</a:t>
            </a:r>
            <a:r>
              <a:rPr lang="en-US" smtClean="0">
                <a:solidFill>
                  <a:schemeClr val="bg1"/>
                </a:solidFill>
                <a:latin typeface="+mn-lt"/>
              </a:rPr>
              <a:t> - Guest Virtual Address</a:t>
            </a:r>
          </a:p>
          <a:p>
            <a:pPr marL="342900" indent="-342900">
              <a:buAutoNum type="arabicPeriod" startAt="2"/>
            </a:pPr>
            <a:r>
              <a:rPr lang="ru-RU" b="1" smtClean="0">
                <a:solidFill>
                  <a:srgbClr val="FFFF00"/>
                </a:solidFill>
                <a:latin typeface="+mn-lt"/>
              </a:rPr>
              <a:t>Гостевая физическая память</a:t>
            </a:r>
            <a:r>
              <a:rPr lang="ru-RU" smtClean="0">
                <a:solidFill>
                  <a:schemeClr val="bg1"/>
                </a:solidFill>
                <a:latin typeface="+mn-lt"/>
              </a:rPr>
              <a:t>: ФАП в </a:t>
            </a:r>
            <a:r>
              <a:rPr lang="ru-RU" i="1" smtClean="0">
                <a:solidFill>
                  <a:schemeClr val="bg1"/>
                </a:solidFill>
                <a:latin typeface="+mn-lt"/>
              </a:rPr>
              <a:t> гостевой ОС</a:t>
            </a:r>
            <a:r>
              <a:rPr lang="en-US" i="1" smtClean="0">
                <a:solidFill>
                  <a:schemeClr val="bg1"/>
                </a:solidFill>
                <a:latin typeface="+mn-lt"/>
              </a:rPr>
              <a:t> </a:t>
            </a:r>
            <a:r>
              <a:rPr lang="en-US" smtClean="0">
                <a:solidFill>
                  <a:schemeClr val="bg1"/>
                </a:solidFill>
                <a:latin typeface="+mn-lt"/>
              </a:rPr>
              <a:t>(</a:t>
            </a:r>
            <a:r>
              <a:rPr lang="ru-RU" smtClean="0">
                <a:solidFill>
                  <a:schemeClr val="bg1"/>
                </a:solidFill>
                <a:latin typeface="+mn-lt"/>
              </a:rPr>
              <a:t>уровень </a:t>
            </a:r>
            <a:r>
              <a:rPr lang="ru-RU" smtClean="0">
                <a:solidFill>
                  <a:schemeClr val="bg1"/>
                </a:solidFill>
                <a:latin typeface="+mn-lt"/>
              </a:rPr>
              <a:t>ВАП-1</a:t>
            </a:r>
            <a:r>
              <a:rPr lang="en-US" smtClean="0">
                <a:solidFill>
                  <a:schemeClr val="bg1"/>
                </a:solidFill>
                <a:latin typeface="+mn-lt"/>
              </a:rPr>
              <a:t>) </a:t>
            </a:r>
            <a:endParaRPr lang="ru-RU" smtClean="0">
              <a:solidFill>
                <a:schemeClr val="bg1"/>
              </a:solidFill>
              <a:latin typeface="+mn-lt"/>
            </a:endParaRPr>
          </a:p>
          <a:p>
            <a:pPr marL="342900" indent="-342900"/>
            <a:r>
              <a:rPr lang="ru-RU" b="1" smtClean="0">
                <a:solidFill>
                  <a:schemeClr val="bg1"/>
                </a:solidFill>
                <a:latin typeface="+mn-lt"/>
              </a:rPr>
              <a:t>	</a:t>
            </a:r>
            <a:r>
              <a:rPr lang="en-US" b="1" smtClean="0">
                <a:solidFill>
                  <a:srgbClr val="FFFF00"/>
                </a:solidFill>
                <a:latin typeface="+mn-lt"/>
              </a:rPr>
              <a:t>GPA</a:t>
            </a:r>
            <a:r>
              <a:rPr lang="en-US" smtClean="0">
                <a:solidFill>
                  <a:schemeClr val="bg1"/>
                </a:solidFill>
                <a:latin typeface="+mn-lt"/>
              </a:rPr>
              <a:t> - Guest Physical Address</a:t>
            </a:r>
            <a:endParaRPr lang="ru-RU" smtClean="0">
              <a:solidFill>
                <a:schemeClr val="bg1"/>
              </a:solidFill>
              <a:latin typeface="+mn-lt"/>
            </a:endParaRPr>
          </a:p>
          <a:p>
            <a:pPr marL="342900" indent="-342900">
              <a:buAutoNum type="arabicPeriod" startAt="3"/>
            </a:pPr>
            <a:r>
              <a:rPr lang="ru-RU" b="1" smtClean="0">
                <a:solidFill>
                  <a:srgbClr val="FFFF00"/>
                </a:solidFill>
                <a:latin typeface="+mn-lt"/>
              </a:rPr>
              <a:t>Системная физическая память</a:t>
            </a:r>
            <a:r>
              <a:rPr lang="ru-RU" smtClean="0">
                <a:solidFill>
                  <a:schemeClr val="bg1"/>
                </a:solidFill>
                <a:latin typeface="+mn-lt"/>
              </a:rPr>
              <a:t>: </a:t>
            </a:r>
            <a:r>
              <a:rPr lang="ru-RU" smtClean="0">
                <a:solidFill>
                  <a:schemeClr val="bg1"/>
                </a:solidFill>
                <a:latin typeface="+mn-lt"/>
              </a:rPr>
              <a:t>ФАП  - </a:t>
            </a:r>
            <a:r>
              <a:rPr lang="ru-RU" smtClean="0">
                <a:solidFill>
                  <a:schemeClr val="bg1"/>
                </a:solidFill>
                <a:latin typeface="+mn-lt"/>
              </a:rPr>
              <a:t>АП </a:t>
            </a:r>
            <a:r>
              <a:rPr lang="ru-RU" smtClean="0">
                <a:solidFill>
                  <a:schemeClr val="bg1"/>
                </a:solidFill>
                <a:latin typeface="+mn-lt"/>
              </a:rPr>
              <a:t>физических адресов  процессора. </a:t>
            </a:r>
          </a:p>
          <a:p>
            <a:pPr marL="342900" indent="-342900"/>
            <a:r>
              <a:rPr lang="ru-RU" smtClean="0">
                <a:solidFill>
                  <a:schemeClr val="bg1"/>
                </a:solidFill>
                <a:latin typeface="+mn-lt"/>
              </a:rPr>
              <a:t>	</a:t>
            </a:r>
            <a:r>
              <a:rPr lang="en-US" b="1" smtClean="0">
                <a:solidFill>
                  <a:srgbClr val="FFFF00"/>
                </a:solidFill>
                <a:latin typeface="+mn-lt"/>
              </a:rPr>
              <a:t>SPA </a:t>
            </a:r>
            <a:r>
              <a:rPr lang="en-US" smtClean="0">
                <a:solidFill>
                  <a:schemeClr val="bg1"/>
                </a:solidFill>
                <a:latin typeface="+mn-lt"/>
              </a:rPr>
              <a:t>- System Physical </a:t>
            </a:r>
            <a:r>
              <a:rPr lang="en-US" smtClean="0">
                <a:solidFill>
                  <a:schemeClr val="bg1"/>
                </a:solidFill>
                <a:latin typeface="+mn-lt"/>
              </a:rPr>
              <a:t>Address</a:t>
            </a:r>
            <a:endParaRPr lang="ru-RU" smtClean="0">
              <a:solidFill>
                <a:schemeClr val="bg1"/>
              </a:solidFill>
              <a:latin typeface="+mn-lt"/>
            </a:endParaRPr>
          </a:p>
        </p:txBody>
      </p:sp>
      <p:sp>
        <p:nvSpPr>
          <p:cNvPr id="7" name="Прямоугольник 6"/>
          <p:cNvSpPr/>
          <p:nvPr/>
        </p:nvSpPr>
        <p:spPr>
          <a:xfrm>
            <a:off x="179512" y="6093296"/>
            <a:ext cx="8784976" cy="646331"/>
          </a:xfrm>
          <a:prstGeom prst="rect">
            <a:avLst/>
          </a:prstGeom>
        </p:spPr>
        <p:txBody>
          <a:bodyPr wrap="square">
            <a:spAutoFit/>
          </a:bodyPr>
          <a:lstStyle/>
          <a:p>
            <a:r>
              <a:rPr lang="en-US" smtClean="0">
                <a:solidFill>
                  <a:schemeClr val="bg1"/>
                </a:solidFill>
                <a:latin typeface="+mn-lt"/>
              </a:rPr>
              <a:t>https://www.tune-it.ru/en/web/il/home/-/blogs/</a:t>
            </a:r>
            <a:r>
              <a:rPr lang="ru-RU" smtClean="0">
                <a:solidFill>
                  <a:schemeClr val="bg1"/>
                </a:solidFill>
                <a:latin typeface="+mn-lt"/>
              </a:rPr>
              <a:t>виртуальная-виртуальная-память-1-</a:t>
            </a:r>
            <a:r>
              <a:rPr lang="en-US" smtClean="0">
                <a:solidFill>
                  <a:schemeClr val="bg1"/>
                </a:solidFill>
                <a:latin typeface="+mn-lt"/>
              </a:rPr>
              <a:t>shadow-tables</a:t>
            </a:r>
            <a:endParaRPr lang="ru-RU">
              <a:solidFill>
                <a:schemeClr val="bg1"/>
              </a:solidFill>
              <a:latin typeface="+mn-lt"/>
            </a:endParaRPr>
          </a:p>
        </p:txBody>
      </p:sp>
      <p:pic>
        <p:nvPicPr>
          <p:cNvPr id="2" name="Picture 2"/>
          <p:cNvPicPr>
            <a:picLocks noChangeAspect="1" noChangeArrowheads="1"/>
          </p:cNvPicPr>
          <p:nvPr/>
        </p:nvPicPr>
        <p:blipFill>
          <a:blip r:embed="rId3" cstate="print"/>
          <a:srcRect/>
          <a:stretch>
            <a:fillRect/>
          </a:stretch>
        </p:blipFill>
        <p:spPr bwMode="auto">
          <a:xfrm>
            <a:off x="683568" y="3140968"/>
            <a:ext cx="7145342" cy="28083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Hypervisor</a:t>
            </a:r>
            <a:r>
              <a:rPr lang="ru-RU" altLang="ru-RU" sz="3200" smtClean="0">
                <a:solidFill>
                  <a:schemeClr val="bg1"/>
                </a:solidFill>
                <a:latin typeface="Calibri" pitchFamily="34" charset="0"/>
              </a:rPr>
              <a:t>. Виртуализация памяти</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251520" y="868773"/>
            <a:ext cx="8244408" cy="2492990"/>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pPr marL="342900" indent="-342900"/>
            <a:r>
              <a:rPr lang="ru-RU" smtClean="0">
                <a:solidFill>
                  <a:schemeClr val="bg1"/>
                </a:solidFill>
                <a:latin typeface="+mn-lt"/>
              </a:rPr>
              <a:t>Вариант </a:t>
            </a:r>
            <a:r>
              <a:rPr lang="ru-RU" smtClean="0">
                <a:solidFill>
                  <a:schemeClr val="bg1"/>
                </a:solidFill>
                <a:latin typeface="+mn-lt"/>
              </a:rPr>
              <a:t>1</a:t>
            </a:r>
            <a:r>
              <a:rPr lang="en-US" smtClean="0">
                <a:solidFill>
                  <a:schemeClr val="bg1"/>
                </a:solidFill>
                <a:latin typeface="+mn-lt"/>
              </a:rPr>
              <a:t>: </a:t>
            </a:r>
            <a:r>
              <a:rPr lang="ru-RU" i="1" smtClean="0">
                <a:solidFill>
                  <a:schemeClr val="bg1"/>
                </a:solidFill>
                <a:latin typeface="+mn-lt"/>
              </a:rPr>
              <a:t>теневая таблица </a:t>
            </a:r>
            <a:r>
              <a:rPr lang="ru-RU" i="1" smtClean="0">
                <a:solidFill>
                  <a:schemeClr val="bg1"/>
                </a:solidFill>
                <a:latin typeface="+mn-lt"/>
              </a:rPr>
              <a:t>страниц (</a:t>
            </a:r>
            <a:r>
              <a:rPr lang="en-US" i="1" smtClean="0">
                <a:solidFill>
                  <a:schemeClr val="bg1"/>
                </a:solidFill>
                <a:latin typeface="+mn-lt"/>
              </a:rPr>
              <a:t>Shadow PagesTable</a:t>
            </a:r>
            <a:r>
              <a:rPr lang="ru-RU" i="1" smtClean="0">
                <a:solidFill>
                  <a:schemeClr val="bg1"/>
                </a:solidFill>
                <a:latin typeface="+mn-lt"/>
              </a:rPr>
              <a:t>)</a:t>
            </a:r>
            <a:r>
              <a:rPr lang="en-US" smtClean="0">
                <a:solidFill>
                  <a:schemeClr val="bg1"/>
                </a:solidFill>
                <a:latin typeface="+mn-lt"/>
              </a:rPr>
              <a:t>:</a:t>
            </a:r>
            <a:endParaRPr lang="en-US" smtClean="0">
              <a:solidFill>
                <a:schemeClr val="bg1"/>
              </a:solidFill>
              <a:latin typeface="+mn-lt"/>
            </a:endParaRPr>
          </a:p>
          <a:p>
            <a:pPr marL="342900" indent="-342900">
              <a:buFont typeface="Arial" pitchFamily="34" charset="0"/>
              <a:buChar char="•"/>
            </a:pPr>
            <a:r>
              <a:rPr lang="ru-RU" smtClean="0">
                <a:solidFill>
                  <a:schemeClr val="bg1"/>
                </a:solidFill>
                <a:latin typeface="+mn-lt"/>
              </a:rPr>
              <a:t>таблица преобразования </a:t>
            </a:r>
            <a:r>
              <a:rPr lang="en-US" smtClean="0">
                <a:solidFill>
                  <a:schemeClr val="bg1"/>
                </a:solidFill>
                <a:latin typeface="+mn-lt"/>
              </a:rPr>
              <a:t>GVA – SPA</a:t>
            </a:r>
            <a:r>
              <a:rPr lang="ru-RU" smtClean="0">
                <a:solidFill>
                  <a:schemeClr val="bg1"/>
                </a:solidFill>
                <a:latin typeface="+mn-lt"/>
              </a:rPr>
              <a:t>, управляемая гипервизором. Гипервизор «подменяет» </a:t>
            </a:r>
            <a:r>
              <a:rPr lang="en-US" smtClean="0">
                <a:solidFill>
                  <a:schemeClr val="bg1"/>
                </a:solidFill>
                <a:latin typeface="+mn-lt"/>
              </a:rPr>
              <a:t>CR3</a:t>
            </a:r>
            <a:r>
              <a:rPr lang="ru-RU" smtClean="0">
                <a:solidFill>
                  <a:schemeClr val="bg1"/>
                </a:solidFill>
                <a:latin typeface="+mn-lt"/>
              </a:rPr>
              <a:t>, установленную </a:t>
            </a:r>
            <a:r>
              <a:rPr lang="ru-RU" i="1" smtClean="0">
                <a:solidFill>
                  <a:schemeClr val="bg1"/>
                </a:solidFill>
                <a:latin typeface="+mn-lt"/>
              </a:rPr>
              <a:t>гостевой ОС, </a:t>
            </a:r>
            <a:r>
              <a:rPr lang="ru-RU" smtClean="0">
                <a:solidFill>
                  <a:schemeClr val="bg1"/>
                </a:solidFill>
                <a:latin typeface="+mn-lt"/>
              </a:rPr>
              <a:t>на адрес теневых таблиц </a:t>
            </a:r>
            <a:r>
              <a:rPr lang="ru-RU" smtClean="0">
                <a:solidFill>
                  <a:schemeClr val="bg1"/>
                </a:solidFill>
                <a:latin typeface="+mn-lt"/>
              </a:rPr>
              <a:t>страниц</a:t>
            </a:r>
          </a:p>
          <a:p>
            <a:pPr marL="342900" indent="-342900">
              <a:buFont typeface="Arial" pitchFamily="34" charset="0"/>
              <a:buChar char="•"/>
            </a:pPr>
            <a:r>
              <a:rPr lang="ru-RU" smtClean="0">
                <a:solidFill>
                  <a:schemeClr val="bg1"/>
                </a:solidFill>
                <a:latin typeface="+mn-lt"/>
              </a:rPr>
              <a:t>отслеживание </a:t>
            </a:r>
            <a:r>
              <a:rPr lang="ru-RU" smtClean="0">
                <a:solidFill>
                  <a:schemeClr val="bg1"/>
                </a:solidFill>
                <a:latin typeface="+mn-lt"/>
              </a:rPr>
              <a:t>изменений, вносимых гостевой ОС в</a:t>
            </a:r>
            <a:r>
              <a:rPr lang="en-US" smtClean="0">
                <a:solidFill>
                  <a:schemeClr val="bg1"/>
                </a:solidFill>
                <a:latin typeface="+mn-lt"/>
              </a:rPr>
              <a:t> </a:t>
            </a:r>
            <a:r>
              <a:rPr lang="ru-RU" smtClean="0">
                <a:solidFill>
                  <a:schemeClr val="bg1"/>
                </a:solidFill>
                <a:latin typeface="+mn-lt"/>
              </a:rPr>
              <a:t>собственную таблицу страниц </a:t>
            </a:r>
            <a:r>
              <a:rPr lang="en-US" smtClean="0">
                <a:solidFill>
                  <a:schemeClr val="bg1"/>
                </a:solidFill>
                <a:latin typeface="+mn-lt"/>
              </a:rPr>
              <a:t>Guest Pag Table</a:t>
            </a:r>
            <a:r>
              <a:rPr lang="ru-RU" smtClean="0">
                <a:solidFill>
                  <a:schemeClr val="bg1"/>
                </a:solidFill>
                <a:latin typeface="+mn-lt"/>
              </a:rPr>
              <a:t> </a:t>
            </a:r>
          </a:p>
          <a:p>
            <a:pPr marL="800100" lvl="1" indent="-342900">
              <a:buFont typeface="Arial" pitchFamily="34" charset="0"/>
              <a:buChar char="•"/>
            </a:pPr>
            <a:r>
              <a:rPr lang="en-US" smtClean="0">
                <a:solidFill>
                  <a:schemeClr val="bg1"/>
                </a:solidFill>
                <a:latin typeface="+mn-lt"/>
              </a:rPr>
              <a:t>Guest Pag </a:t>
            </a:r>
            <a:r>
              <a:rPr lang="en-US" smtClean="0">
                <a:solidFill>
                  <a:schemeClr val="bg1"/>
                </a:solidFill>
                <a:latin typeface="+mn-lt"/>
              </a:rPr>
              <a:t>Table</a:t>
            </a:r>
            <a:r>
              <a:rPr lang="ru-RU" smtClean="0">
                <a:solidFill>
                  <a:schemeClr val="bg1"/>
                </a:solidFill>
                <a:latin typeface="+mn-lt"/>
              </a:rPr>
              <a:t> </a:t>
            </a:r>
            <a:r>
              <a:rPr lang="ru-RU" smtClean="0">
                <a:solidFill>
                  <a:schemeClr val="bg1"/>
                </a:solidFill>
                <a:latin typeface="+mn-lt"/>
              </a:rPr>
              <a:t>размещается в ВАП, для ее страниц установлен </a:t>
            </a:r>
            <a:r>
              <a:rPr lang="ru-RU" altLang="ru-RU" smtClean="0">
                <a:solidFill>
                  <a:srgbClr val="FFFFFF"/>
                </a:solidFill>
                <a:latin typeface="+mn-lt"/>
              </a:rPr>
              <a:t>Cashe </a:t>
            </a:r>
            <a:r>
              <a:rPr lang="ru-RU" altLang="ru-RU" smtClean="0">
                <a:solidFill>
                  <a:srgbClr val="FFFFFF"/>
                </a:solidFill>
                <a:latin typeface="+mn-lt"/>
              </a:rPr>
              <a:t>Disabled — кэширование запрещено, любая запись вызывает страничное прерывание (сохранение измененных </a:t>
            </a:r>
            <a:r>
              <a:rPr lang="ru-RU" altLang="ru-RU" smtClean="0">
                <a:solidFill>
                  <a:srgbClr val="FFFFFF"/>
                </a:solidFill>
                <a:latin typeface="+mn-lt"/>
              </a:rPr>
              <a:t>данных</a:t>
            </a:r>
            <a:r>
              <a:rPr lang="ru-RU" altLang="ru-RU" smtClean="0">
                <a:solidFill>
                  <a:srgbClr val="FFFFFF"/>
                </a:solidFill>
                <a:latin typeface="+mn-lt"/>
              </a:rPr>
              <a:t>)</a:t>
            </a:r>
            <a:endParaRPr lang="ru-RU" altLang="ru-RU" smtClean="0">
              <a:solidFill>
                <a:srgbClr val="FFFFFF"/>
              </a:solidFill>
              <a:latin typeface="+mn-lt"/>
            </a:endParaRPr>
          </a:p>
        </p:txBody>
      </p:sp>
      <p:pic>
        <p:nvPicPr>
          <p:cNvPr id="1026" name="Picture 2"/>
          <p:cNvPicPr>
            <a:picLocks noChangeAspect="1" noChangeArrowheads="1"/>
          </p:cNvPicPr>
          <p:nvPr/>
        </p:nvPicPr>
        <p:blipFill>
          <a:blip r:embed="rId3" cstate="print"/>
          <a:srcRect/>
          <a:stretch>
            <a:fillRect/>
          </a:stretch>
        </p:blipFill>
        <p:spPr bwMode="auto">
          <a:xfrm>
            <a:off x="2915816" y="3573016"/>
            <a:ext cx="5954274" cy="29523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Hypervisor</a:t>
            </a:r>
            <a:r>
              <a:rPr lang="ru-RU" altLang="ru-RU" sz="3200" smtClean="0">
                <a:solidFill>
                  <a:schemeClr val="bg1"/>
                </a:solidFill>
                <a:latin typeface="Calibri" pitchFamily="34" charset="0"/>
              </a:rPr>
              <a:t>. Виртуализация памяти</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251520" y="764704"/>
            <a:ext cx="8244408" cy="1938992"/>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r>
              <a:rPr lang="ru-RU" smtClean="0">
                <a:solidFill>
                  <a:schemeClr val="bg1"/>
                </a:solidFill>
                <a:latin typeface="+mn-lt"/>
              </a:rPr>
              <a:t>Вариант </a:t>
            </a:r>
            <a:r>
              <a:rPr lang="en-US" smtClean="0">
                <a:solidFill>
                  <a:schemeClr val="bg1"/>
                </a:solidFill>
                <a:latin typeface="+mn-lt"/>
              </a:rPr>
              <a:t>2</a:t>
            </a:r>
            <a:r>
              <a:rPr lang="en-US" smtClean="0">
                <a:solidFill>
                  <a:schemeClr val="bg1"/>
                </a:solidFill>
                <a:latin typeface="+mn-lt"/>
              </a:rPr>
              <a:t>: </a:t>
            </a:r>
            <a:r>
              <a:rPr lang="ru-RU" b="1" smtClean="0">
                <a:solidFill>
                  <a:srgbClr val="FFFF00"/>
                </a:solidFill>
                <a:latin typeface="+mn-lt"/>
              </a:rPr>
              <a:t>Вложенные таблицы страниц с аппаратной поддержкой</a:t>
            </a:r>
          </a:p>
          <a:p>
            <a:r>
              <a:rPr lang="ru-RU" smtClean="0">
                <a:solidFill>
                  <a:schemeClr val="bg1"/>
                </a:solidFill>
                <a:latin typeface="+mn-lt"/>
              </a:rPr>
              <a:t>Intel и AMD предоставляют решение через аппаратные расширения. Intel </a:t>
            </a:r>
            <a:r>
              <a:rPr lang="en-US" smtClean="0">
                <a:solidFill>
                  <a:schemeClr val="bg1"/>
                </a:solidFill>
                <a:latin typeface="+mn-lt"/>
              </a:rPr>
              <a:t> - </a:t>
            </a:r>
            <a:r>
              <a:rPr lang="ru-RU" i="1" smtClean="0">
                <a:solidFill>
                  <a:schemeClr val="bg1"/>
                </a:solidFill>
                <a:latin typeface="+mn-lt"/>
              </a:rPr>
              <a:t>EPT</a:t>
            </a:r>
            <a:r>
              <a:rPr lang="ru-RU" smtClean="0">
                <a:solidFill>
                  <a:schemeClr val="bg1"/>
                </a:solidFill>
                <a:latin typeface="+mn-lt"/>
              </a:rPr>
              <a:t> (</a:t>
            </a:r>
            <a:r>
              <a:rPr lang="ru-RU" i="1" smtClean="0">
                <a:solidFill>
                  <a:schemeClr val="bg1"/>
                </a:solidFill>
                <a:latin typeface="+mn-lt"/>
              </a:rPr>
              <a:t>Extended Page Table</a:t>
            </a:r>
            <a:r>
              <a:rPr lang="ru-RU" smtClean="0">
                <a:solidFill>
                  <a:schemeClr val="bg1"/>
                </a:solidFill>
                <a:latin typeface="+mn-lt"/>
              </a:rPr>
              <a:t>, Расширенная таблица страниц), что делает возможным для MMU проходить по двум</a:t>
            </a:r>
            <a:r>
              <a:rPr lang="en-US" smtClean="0">
                <a:solidFill>
                  <a:schemeClr val="bg1"/>
                </a:solidFill>
                <a:latin typeface="+mn-lt"/>
              </a:rPr>
              <a:t> </a:t>
            </a:r>
            <a:r>
              <a:rPr lang="ru-RU" smtClean="0">
                <a:solidFill>
                  <a:schemeClr val="bg1"/>
                </a:solidFill>
                <a:latin typeface="+mn-lt"/>
              </a:rPr>
              <a:t>таблицам страниц</a:t>
            </a:r>
          </a:p>
          <a:p>
            <a:pPr>
              <a:buFont typeface="Arial" pitchFamily="34" charset="0"/>
              <a:buChar char="•"/>
            </a:pPr>
            <a:r>
              <a:rPr lang="ru-RU" smtClean="0">
                <a:solidFill>
                  <a:schemeClr val="bg1"/>
                </a:solidFill>
                <a:latin typeface="+mn-lt"/>
              </a:rPr>
              <a:t> </a:t>
            </a:r>
            <a:r>
              <a:rPr lang="ru-RU" smtClean="0">
                <a:solidFill>
                  <a:schemeClr val="bg1"/>
                </a:solidFill>
                <a:latin typeface="+mn-lt"/>
              </a:rPr>
              <a:t>4 уровня таблиц преобразования  </a:t>
            </a:r>
            <a:r>
              <a:rPr lang="en-US" smtClean="0">
                <a:solidFill>
                  <a:schemeClr val="bg1"/>
                </a:solidFill>
                <a:latin typeface="+mn-lt"/>
              </a:rPr>
              <a:t>GVA – GPA</a:t>
            </a:r>
          </a:p>
          <a:p>
            <a:pPr>
              <a:buFont typeface="Arial" pitchFamily="34" charset="0"/>
              <a:buChar char="•"/>
            </a:pPr>
            <a:r>
              <a:rPr lang="ru-RU" smtClean="0">
                <a:solidFill>
                  <a:schemeClr val="bg1"/>
                </a:solidFill>
                <a:latin typeface="+mn-lt"/>
              </a:rPr>
              <a:t> 4 уровня таблиц </a:t>
            </a:r>
            <a:r>
              <a:rPr lang="ru-RU" smtClean="0">
                <a:solidFill>
                  <a:schemeClr val="bg1"/>
                </a:solidFill>
                <a:latin typeface="+mn-lt"/>
              </a:rPr>
              <a:t>преобразования  </a:t>
            </a:r>
            <a:r>
              <a:rPr lang="en-US" smtClean="0">
                <a:solidFill>
                  <a:schemeClr val="bg1"/>
                </a:solidFill>
                <a:latin typeface="+mn-lt"/>
              </a:rPr>
              <a:t>GPA – SPA (EPT)</a:t>
            </a:r>
            <a:endParaRPr lang="ru-RU" smtClean="0">
              <a:solidFill>
                <a:schemeClr val="bg1"/>
              </a:solidFill>
              <a:latin typeface="+mn-lt"/>
            </a:endParaRPr>
          </a:p>
          <a:p>
            <a:pPr>
              <a:buFont typeface="Arial" pitchFamily="34" charset="0"/>
              <a:buChar char="•"/>
            </a:pPr>
            <a:endParaRPr lang="ru-RU" smtClean="0">
              <a:solidFill>
                <a:schemeClr val="bg1"/>
              </a:solidFill>
              <a:latin typeface="+mn-lt"/>
            </a:endParaRPr>
          </a:p>
        </p:txBody>
      </p:sp>
      <p:pic>
        <p:nvPicPr>
          <p:cNvPr id="3" name="Picture 3"/>
          <p:cNvPicPr>
            <a:picLocks noChangeAspect="1" noChangeArrowheads="1"/>
          </p:cNvPicPr>
          <p:nvPr/>
        </p:nvPicPr>
        <p:blipFill>
          <a:blip r:embed="rId3" cstate="print"/>
          <a:srcRect/>
          <a:stretch>
            <a:fillRect/>
          </a:stretch>
        </p:blipFill>
        <p:spPr bwMode="auto">
          <a:xfrm>
            <a:off x="179512" y="2492896"/>
            <a:ext cx="5967784" cy="3590287"/>
          </a:xfrm>
          <a:prstGeom prst="rect">
            <a:avLst/>
          </a:prstGeom>
          <a:noFill/>
          <a:ln w="9525">
            <a:noFill/>
            <a:miter lim="800000"/>
            <a:headEnd/>
            <a:tailEnd/>
          </a:ln>
          <a:effectLst/>
        </p:spPr>
      </p:pic>
      <p:sp>
        <p:nvSpPr>
          <p:cNvPr id="8" name="Прямоугольник 7"/>
          <p:cNvSpPr/>
          <p:nvPr/>
        </p:nvSpPr>
        <p:spPr>
          <a:xfrm>
            <a:off x="0" y="6211669"/>
            <a:ext cx="8928992" cy="646331"/>
          </a:xfrm>
          <a:prstGeom prst="rect">
            <a:avLst/>
          </a:prstGeom>
        </p:spPr>
        <p:txBody>
          <a:bodyPr wrap="square">
            <a:spAutoFit/>
          </a:bodyPr>
          <a:lstStyle/>
          <a:p>
            <a:r>
              <a:rPr lang="en-US" smtClean="0">
                <a:solidFill>
                  <a:schemeClr val="bg1"/>
                </a:solidFill>
                <a:latin typeface="+mn-lt"/>
              </a:rPr>
              <a:t>https://wasm.in/blogs/virtualizacija-dlja-samyx-malenkix-2-upravljajuschie-struktury-ept-mtrr.705/</a:t>
            </a:r>
            <a:endParaRPr lang="ru-RU">
              <a:solidFill>
                <a:schemeClr val="bg1"/>
              </a:solidFill>
              <a:latin typeface="+mn-l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Hypervisor</a:t>
            </a:r>
            <a:r>
              <a:rPr lang="ru-RU" altLang="ru-RU" sz="3200" smtClean="0">
                <a:solidFill>
                  <a:schemeClr val="bg1"/>
                </a:solidFill>
                <a:latin typeface="Calibri" pitchFamily="34" charset="0"/>
              </a:rPr>
              <a:t>. Виртуализация процессора</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179512" y="764704"/>
            <a:ext cx="8496944" cy="4985980"/>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lang="ru-RU" b="1" smtClean="0">
                <a:solidFill>
                  <a:srgbClr val="FFFF00"/>
                </a:solidFill>
                <a:latin typeface="+mn-lt"/>
              </a:rPr>
              <a:t>Кольца защиты</a:t>
            </a:r>
            <a:r>
              <a:rPr lang="en-US" b="1" smtClean="0">
                <a:solidFill>
                  <a:srgbClr val="FFFF00"/>
                </a:solidFill>
                <a:latin typeface="+mn-lt"/>
              </a:rPr>
              <a:t>: </a:t>
            </a:r>
            <a:r>
              <a:rPr lang="ru-RU" smtClean="0">
                <a:solidFill>
                  <a:schemeClr val="bg1"/>
                </a:solidFill>
                <a:latin typeface="+mn-lt"/>
              </a:rPr>
              <a:t>аппаратный уровень процессора (0-3), определяющий возможности выполнения тех или иных привилегированных команд (или прерываний при их исполнении). </a:t>
            </a:r>
          </a:p>
          <a:p>
            <a:pPr marL="0" marR="0" lvl="0" indent="0" algn="just" defTabSz="914400" rtl="0" eaLnBrk="1" fontAlgn="base" latinLnBrk="0" hangingPunct="1">
              <a:lnSpc>
                <a:spcPct val="100000"/>
              </a:lnSpc>
              <a:spcBef>
                <a:spcPct val="0"/>
              </a:spcBef>
              <a:spcAft>
                <a:spcPct val="0"/>
              </a:spcAft>
              <a:buClrTx/>
              <a:buSzTx/>
              <a:buFontTx/>
              <a:buNone/>
              <a:tabLst/>
            </a:pPr>
            <a:endParaRPr lang="ru-RU" smtClean="0">
              <a:solidFill>
                <a:schemeClr val="bg1"/>
              </a:solidFill>
              <a:latin typeface="+mn-lt"/>
            </a:endParaRPr>
          </a:p>
          <a:p>
            <a:pPr lvl="0" algn="just"/>
            <a:r>
              <a:rPr lang="ru-RU" b="1" smtClean="0">
                <a:solidFill>
                  <a:srgbClr val="FFFF00"/>
                </a:solidFill>
                <a:latin typeface="+mn-lt"/>
              </a:rPr>
              <a:t>Полная виртуализация</a:t>
            </a:r>
            <a:r>
              <a:rPr lang="ru-RU" b="1" smtClean="0">
                <a:solidFill>
                  <a:schemeClr val="bg1"/>
                </a:solidFill>
                <a:latin typeface="+mn-lt"/>
              </a:rPr>
              <a:t>. </a:t>
            </a:r>
            <a:r>
              <a:rPr lang="ru-RU" smtClean="0">
                <a:solidFill>
                  <a:schemeClr val="bg1"/>
                </a:solidFill>
                <a:latin typeface="+mn-lt"/>
              </a:rPr>
              <a:t>Соответствующие инструкции отлавливаются и эмулируются для надлежащей целевой среды. Это вызывает большое число накладных расходов, поскольку должно перехватываться большое число инструкций в соответствующем хосте/ гипервизоре с </a:t>
            </a:r>
            <a:r>
              <a:rPr lang="ru-RU" smtClean="0">
                <a:solidFill>
                  <a:schemeClr val="bg1"/>
                </a:solidFill>
                <a:latin typeface="+mn-lt"/>
              </a:rPr>
              <a:t>последующей </a:t>
            </a:r>
            <a:r>
              <a:rPr lang="ru-RU" smtClean="0">
                <a:solidFill>
                  <a:schemeClr val="bg1"/>
                </a:solidFill>
                <a:latin typeface="+mn-lt"/>
              </a:rPr>
              <a:t>эмуляцией</a:t>
            </a:r>
          </a:p>
          <a:p>
            <a:pPr lvl="0" algn="just"/>
            <a:endParaRPr lang="ru-RU" smtClean="0">
              <a:solidFill>
                <a:schemeClr val="bg1"/>
              </a:solidFill>
              <a:latin typeface="+mn-lt"/>
            </a:endParaRPr>
          </a:p>
          <a:p>
            <a:pPr lvl="0" algn="just"/>
            <a:r>
              <a:rPr lang="ru-RU" b="1" smtClean="0">
                <a:solidFill>
                  <a:srgbClr val="FFFF00"/>
                </a:solidFill>
                <a:latin typeface="+mn-lt"/>
              </a:rPr>
              <a:t>Паравиртуализация. </a:t>
            </a:r>
            <a:r>
              <a:rPr lang="ru-RU" i="1" smtClean="0">
                <a:solidFill>
                  <a:schemeClr val="bg1"/>
                </a:solidFill>
                <a:latin typeface="+mn-lt"/>
              </a:rPr>
              <a:t>Г</a:t>
            </a:r>
            <a:r>
              <a:rPr lang="ru-RU" i="1" smtClean="0">
                <a:solidFill>
                  <a:schemeClr val="bg1"/>
                </a:solidFill>
                <a:latin typeface="+mn-lt"/>
              </a:rPr>
              <a:t>остевая </a:t>
            </a:r>
            <a:r>
              <a:rPr lang="ru-RU" i="1" smtClean="0">
                <a:solidFill>
                  <a:schemeClr val="bg1"/>
                </a:solidFill>
                <a:latin typeface="+mn-lt"/>
              </a:rPr>
              <a:t>ОС </a:t>
            </a:r>
            <a:r>
              <a:rPr lang="ru-RU" smtClean="0">
                <a:solidFill>
                  <a:schemeClr val="bg1"/>
                </a:solidFill>
                <a:latin typeface="+mn-lt"/>
              </a:rPr>
              <a:t>знает, что она в виртуальной машине, и знает как можно обратиться к хостовой ОС за определенными системными функциями. Таким образом снимается проблема эмуляции нулевого кольца — гостевая ОС знает, что она не в нулевом и ведет </a:t>
            </a:r>
            <a:r>
              <a:rPr lang="ru-RU" smtClean="0">
                <a:solidFill>
                  <a:schemeClr val="bg1"/>
                </a:solidFill>
                <a:latin typeface="+mn-lt"/>
              </a:rPr>
              <a:t>себя </a:t>
            </a:r>
            <a:r>
              <a:rPr lang="ru-RU" smtClean="0">
                <a:solidFill>
                  <a:schemeClr val="bg1"/>
                </a:solidFill>
                <a:latin typeface="+mn-lt"/>
              </a:rPr>
              <a:t>соответственно.</a:t>
            </a:r>
            <a:endParaRPr lang="ru-RU" smtClean="0">
              <a:solidFill>
                <a:schemeClr val="bg1"/>
              </a:solidFill>
              <a:latin typeface="+mn-lt"/>
            </a:endParaRPr>
          </a:p>
          <a:p>
            <a:pPr lvl="0" algn="just"/>
            <a:endParaRPr lang="ru-RU" smtClean="0">
              <a:solidFill>
                <a:schemeClr val="bg1"/>
              </a:solidFill>
              <a:latin typeface="+mn-lt"/>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mtClean="0">
              <a:solidFill>
                <a:schemeClr val="bg1"/>
              </a:solidFill>
              <a:latin typeface="+mn-lt"/>
            </a:endParaRPr>
          </a:p>
          <a:p>
            <a:endParaRPr lang="ru-RU" smtClean="0">
              <a:solidFill>
                <a:schemeClr val="bg1"/>
              </a:solidFill>
              <a:latin typeface="+mn-lt"/>
            </a:endParaRPr>
          </a:p>
          <a:p>
            <a:endParaRPr lang="en-US" smtClean="0">
              <a:solidFill>
                <a:schemeClr val="bg1"/>
              </a:solidFill>
              <a:latin typeface="+mn-lt"/>
            </a:endParaRPr>
          </a:p>
          <a:p>
            <a:endParaRPr lang="ru-RU">
              <a:solidFill>
                <a:schemeClr val="bg1"/>
              </a:solidFill>
              <a:latin typeface="+mn-lt"/>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Hypervisor</a:t>
            </a:r>
            <a:r>
              <a:rPr lang="ru-RU" altLang="ru-RU" sz="3200" smtClean="0">
                <a:solidFill>
                  <a:schemeClr val="bg1"/>
                </a:solidFill>
                <a:latin typeface="Calibri" pitchFamily="34" charset="0"/>
              </a:rPr>
              <a:t>. Виртуализация ввода</a:t>
            </a:r>
            <a:r>
              <a:rPr lang="en-US" altLang="ru-RU" sz="3200" smtClean="0">
                <a:solidFill>
                  <a:schemeClr val="bg1"/>
                </a:solidFill>
                <a:latin typeface="Calibri" pitchFamily="34" charset="0"/>
              </a:rPr>
              <a:t>/</a:t>
            </a:r>
            <a:r>
              <a:rPr lang="ru-RU" altLang="ru-RU" sz="3200" smtClean="0">
                <a:solidFill>
                  <a:schemeClr val="bg1"/>
                </a:solidFill>
                <a:latin typeface="Calibri" pitchFamily="34" charset="0"/>
              </a:rPr>
              <a:t>вывода</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251520" y="692696"/>
            <a:ext cx="8244408" cy="1661993"/>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r>
              <a:rPr lang="ru-RU" smtClean="0">
                <a:solidFill>
                  <a:schemeClr val="bg1"/>
                </a:solidFill>
                <a:latin typeface="+mn-lt"/>
              </a:rPr>
              <a:t>М</a:t>
            </a:r>
            <a:r>
              <a:rPr lang="ru-RU" smtClean="0">
                <a:solidFill>
                  <a:schemeClr val="bg1"/>
                </a:solidFill>
                <a:latin typeface="+mn-lt"/>
              </a:rPr>
              <a:t>одели </a:t>
            </a:r>
            <a:r>
              <a:rPr lang="ru-RU" smtClean="0">
                <a:solidFill>
                  <a:schemeClr val="bg1"/>
                </a:solidFill>
                <a:latin typeface="+mn-lt"/>
              </a:rPr>
              <a:t>виртуализации ввода/ вывода:</a:t>
            </a:r>
          </a:p>
          <a:p>
            <a:pPr algn="just">
              <a:buFont typeface="Arial" pitchFamily="34" charset="0"/>
              <a:buChar char="•"/>
            </a:pPr>
            <a:r>
              <a:rPr lang="ru-RU" b="1" smtClean="0">
                <a:solidFill>
                  <a:schemeClr val="bg1"/>
                </a:solidFill>
                <a:latin typeface="+mn-lt"/>
              </a:rPr>
              <a:t> </a:t>
            </a:r>
            <a:r>
              <a:rPr lang="ru-RU" b="1" smtClean="0">
                <a:solidFill>
                  <a:srgbClr val="FFFF00"/>
                </a:solidFill>
                <a:latin typeface="+mn-lt"/>
              </a:rPr>
              <a:t>Полная виртуализация</a:t>
            </a:r>
            <a:r>
              <a:rPr lang="ru-RU" b="1" smtClean="0">
                <a:solidFill>
                  <a:schemeClr val="bg1"/>
                </a:solidFill>
                <a:latin typeface="+mn-lt"/>
              </a:rPr>
              <a:t>. </a:t>
            </a:r>
            <a:r>
              <a:rPr lang="ru-RU" i="1" smtClean="0">
                <a:solidFill>
                  <a:schemeClr val="bg1"/>
                </a:solidFill>
                <a:latin typeface="+mn-lt"/>
              </a:rPr>
              <a:t>Г</a:t>
            </a:r>
            <a:r>
              <a:rPr lang="ru-RU" i="1" smtClean="0">
                <a:solidFill>
                  <a:schemeClr val="bg1"/>
                </a:solidFill>
                <a:latin typeface="+mn-lt"/>
              </a:rPr>
              <a:t>остевая ОС </a:t>
            </a:r>
            <a:r>
              <a:rPr lang="ru-RU" smtClean="0">
                <a:solidFill>
                  <a:schemeClr val="bg1"/>
                </a:solidFill>
                <a:latin typeface="+mn-lt"/>
              </a:rPr>
              <a:t>не осведомлёна </a:t>
            </a:r>
            <a:r>
              <a:rPr lang="ru-RU" smtClean="0">
                <a:solidFill>
                  <a:schemeClr val="bg1"/>
                </a:solidFill>
                <a:latin typeface="+mn-lt"/>
              </a:rPr>
              <a:t>о том, </a:t>
            </a:r>
            <a:r>
              <a:rPr lang="ru-RU" smtClean="0">
                <a:solidFill>
                  <a:schemeClr val="bg1"/>
                </a:solidFill>
                <a:latin typeface="+mn-lt"/>
              </a:rPr>
              <a:t>что </a:t>
            </a:r>
            <a:r>
              <a:rPr lang="ru-RU" smtClean="0">
                <a:solidFill>
                  <a:schemeClr val="bg1"/>
                </a:solidFill>
                <a:latin typeface="+mn-lt"/>
              </a:rPr>
              <a:t>она запущена </a:t>
            </a:r>
            <a:r>
              <a:rPr lang="ru-RU" smtClean="0">
                <a:solidFill>
                  <a:schemeClr val="bg1"/>
                </a:solidFill>
                <a:latin typeface="+mn-lt"/>
              </a:rPr>
              <a:t>в некотором гипервизоре </a:t>
            </a:r>
            <a:r>
              <a:rPr lang="ru-RU" smtClean="0">
                <a:solidFill>
                  <a:schemeClr val="bg1"/>
                </a:solidFill>
                <a:latin typeface="+mn-lt"/>
              </a:rPr>
              <a:t>и </a:t>
            </a:r>
            <a:r>
              <a:rPr lang="ru-RU" smtClean="0">
                <a:solidFill>
                  <a:schemeClr val="bg1"/>
                </a:solidFill>
                <a:latin typeface="+mn-lt"/>
              </a:rPr>
              <a:t>не </a:t>
            </a:r>
            <a:r>
              <a:rPr lang="ru-RU" smtClean="0">
                <a:solidFill>
                  <a:schemeClr val="bg1"/>
                </a:solidFill>
                <a:latin typeface="+mn-lt"/>
              </a:rPr>
              <a:t>нуждается ни в каких изменениях для запуска в гипервизоре. Всякий раз, когда </a:t>
            </a:r>
            <a:r>
              <a:rPr lang="ru-RU" smtClean="0">
                <a:solidFill>
                  <a:schemeClr val="bg1"/>
                </a:solidFill>
                <a:latin typeface="+mn-lt"/>
              </a:rPr>
              <a:t>такой </a:t>
            </a:r>
            <a:r>
              <a:rPr lang="ru-RU" smtClean="0">
                <a:solidFill>
                  <a:schemeClr val="bg1"/>
                </a:solidFill>
                <a:latin typeface="+mn-lt"/>
              </a:rPr>
              <a:t>гостевая ОС </a:t>
            </a:r>
            <a:r>
              <a:rPr lang="ru-RU" smtClean="0">
                <a:solidFill>
                  <a:schemeClr val="bg1"/>
                </a:solidFill>
                <a:latin typeface="+mn-lt"/>
              </a:rPr>
              <a:t>выполняет </a:t>
            </a:r>
            <a:r>
              <a:rPr lang="ru-RU" smtClean="0">
                <a:solidFill>
                  <a:schemeClr val="bg1"/>
                </a:solidFill>
                <a:latin typeface="+mn-lt"/>
              </a:rPr>
              <a:t>вызовы </a:t>
            </a:r>
            <a:r>
              <a:rPr lang="ru-RU" smtClean="0">
                <a:solidFill>
                  <a:schemeClr val="bg1"/>
                </a:solidFill>
                <a:latin typeface="+mn-lt"/>
              </a:rPr>
              <a:t>ввода/вывода</a:t>
            </a:r>
            <a:r>
              <a:rPr lang="ru-RU" smtClean="0">
                <a:solidFill>
                  <a:schemeClr val="bg1"/>
                </a:solidFill>
                <a:latin typeface="+mn-lt"/>
              </a:rPr>
              <a:t>, они перехватываются </a:t>
            </a:r>
            <a:r>
              <a:rPr lang="ru-RU" smtClean="0">
                <a:solidFill>
                  <a:schemeClr val="bg1"/>
                </a:solidFill>
                <a:latin typeface="+mn-lt"/>
              </a:rPr>
              <a:t>в </a:t>
            </a:r>
            <a:r>
              <a:rPr lang="ru-RU" smtClean="0">
                <a:solidFill>
                  <a:schemeClr val="bg1"/>
                </a:solidFill>
                <a:latin typeface="+mn-lt"/>
              </a:rPr>
              <a:t>гипервизоре </a:t>
            </a:r>
            <a:r>
              <a:rPr lang="ru-RU" smtClean="0">
                <a:solidFill>
                  <a:schemeClr val="bg1"/>
                </a:solidFill>
                <a:latin typeface="+mn-lt"/>
              </a:rPr>
              <a:t>и сам гипервизор выполняет этот ввод/ вывод в </a:t>
            </a:r>
            <a:r>
              <a:rPr lang="ru-RU" smtClean="0">
                <a:solidFill>
                  <a:schemeClr val="bg1"/>
                </a:solidFill>
                <a:latin typeface="+mn-lt"/>
              </a:rPr>
              <a:t>соответствующем </a:t>
            </a:r>
            <a:r>
              <a:rPr lang="ru-RU" smtClean="0">
                <a:solidFill>
                  <a:schemeClr val="bg1"/>
                </a:solidFill>
                <a:latin typeface="+mn-lt"/>
              </a:rPr>
              <a:t>устройстве</a:t>
            </a:r>
            <a:endParaRPr lang="ru-RU" smtClean="0">
              <a:solidFill>
                <a:schemeClr val="bg1"/>
              </a:solidFill>
              <a:latin typeface="+mn-lt"/>
            </a:endParaRPr>
          </a:p>
        </p:txBody>
      </p:sp>
      <p:pic>
        <p:nvPicPr>
          <p:cNvPr id="5" name="Picture 3"/>
          <p:cNvPicPr>
            <a:picLocks noChangeAspect="1" noChangeArrowheads="1"/>
          </p:cNvPicPr>
          <p:nvPr/>
        </p:nvPicPr>
        <p:blipFill>
          <a:blip r:embed="rId3" cstate="print"/>
          <a:srcRect/>
          <a:stretch>
            <a:fillRect/>
          </a:stretch>
        </p:blipFill>
        <p:spPr bwMode="auto">
          <a:xfrm>
            <a:off x="3419872" y="2492896"/>
            <a:ext cx="5599214" cy="4176464"/>
          </a:xfrm>
          <a:prstGeom prst="rect">
            <a:avLst/>
          </a:prstGeom>
          <a:noFill/>
          <a:ln w="9525">
            <a:noFill/>
            <a:miter lim="800000"/>
            <a:headEnd/>
            <a:tailEnd/>
          </a:ln>
          <a:effectLst/>
        </p:spPr>
      </p:pic>
      <p:sp>
        <p:nvSpPr>
          <p:cNvPr id="6" name="Прямоугольник 5"/>
          <p:cNvSpPr/>
          <p:nvPr/>
        </p:nvSpPr>
        <p:spPr>
          <a:xfrm>
            <a:off x="251520" y="2420888"/>
            <a:ext cx="3168352" cy="2585323"/>
          </a:xfrm>
          <a:prstGeom prst="rect">
            <a:avLst/>
          </a:prstGeom>
        </p:spPr>
        <p:txBody>
          <a:bodyPr wrap="square">
            <a:spAutoFit/>
          </a:bodyPr>
          <a:lstStyle/>
          <a:p>
            <a:pPr>
              <a:buFont typeface="Arial" pitchFamily="34" charset="0"/>
              <a:buChar char="•"/>
            </a:pPr>
            <a:r>
              <a:rPr lang="ru-RU" b="1" smtClean="0">
                <a:solidFill>
                  <a:schemeClr val="bg1"/>
                </a:solidFill>
                <a:latin typeface="+mn-lt"/>
              </a:rPr>
              <a:t> </a:t>
            </a:r>
            <a:r>
              <a:rPr lang="ru-RU" b="1" smtClean="0">
                <a:solidFill>
                  <a:srgbClr val="FFFF00"/>
                </a:solidFill>
                <a:latin typeface="+mn-lt"/>
              </a:rPr>
              <a:t>Паравиртуализация</a:t>
            </a:r>
            <a:r>
              <a:rPr lang="ru-RU" b="1" smtClean="0">
                <a:solidFill>
                  <a:schemeClr val="bg1"/>
                </a:solidFill>
                <a:latin typeface="+mn-lt"/>
              </a:rPr>
              <a:t>. </a:t>
            </a:r>
            <a:r>
              <a:rPr lang="ru-RU" i="1" smtClean="0">
                <a:solidFill>
                  <a:schemeClr val="bg1"/>
                </a:solidFill>
                <a:latin typeface="+mn-lt"/>
              </a:rPr>
              <a:t>Гостевая ОС</a:t>
            </a:r>
            <a:r>
              <a:rPr lang="ru-RU" smtClean="0">
                <a:solidFill>
                  <a:schemeClr val="bg1"/>
                </a:solidFill>
                <a:latin typeface="+mn-lt"/>
              </a:rPr>
              <a:t> осведомлена о том, что она запущена в виртуальной среде и использует специальные драйверы. Соответствующие системные вызовы для ввода/ вывода заменяются гипервызовами.</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Hypervisor</a:t>
            </a:r>
            <a:r>
              <a:rPr lang="ru-RU" altLang="ru-RU" sz="3200" smtClean="0">
                <a:solidFill>
                  <a:schemeClr val="bg1"/>
                </a:solidFill>
                <a:latin typeface="Calibri" pitchFamily="34" charset="0"/>
              </a:rPr>
              <a:t>. Виртуализация ввода</a:t>
            </a:r>
            <a:r>
              <a:rPr lang="en-US" altLang="ru-RU" sz="3200" smtClean="0">
                <a:solidFill>
                  <a:schemeClr val="bg1"/>
                </a:solidFill>
                <a:latin typeface="Calibri" pitchFamily="34" charset="0"/>
              </a:rPr>
              <a:t>/</a:t>
            </a:r>
            <a:r>
              <a:rPr lang="ru-RU" altLang="ru-RU" sz="3200" smtClean="0">
                <a:solidFill>
                  <a:schemeClr val="bg1"/>
                </a:solidFill>
                <a:latin typeface="Calibri" pitchFamily="34" charset="0"/>
              </a:rPr>
              <a:t>вывода</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251520" y="764704"/>
            <a:ext cx="8244408" cy="5539978"/>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r>
              <a:rPr lang="ru-RU" smtClean="0">
                <a:solidFill>
                  <a:schemeClr val="bg1"/>
                </a:solidFill>
                <a:latin typeface="+mn-lt"/>
              </a:rPr>
              <a:t>Hyper-V - </a:t>
            </a:r>
            <a:r>
              <a:rPr lang="ru-RU" b="1" smtClean="0">
                <a:solidFill>
                  <a:srgbClr val="FFFF00"/>
                </a:solidFill>
                <a:latin typeface="+mn-lt"/>
              </a:rPr>
              <a:t>раздел</a:t>
            </a:r>
            <a:r>
              <a:rPr lang="ru-RU" b="1" smtClean="0">
                <a:solidFill>
                  <a:srgbClr val="FFFF00"/>
                </a:solidFill>
                <a:latin typeface="+mn-lt"/>
              </a:rPr>
              <a:t> </a:t>
            </a:r>
            <a:r>
              <a:rPr lang="ru-RU" smtClean="0">
                <a:solidFill>
                  <a:schemeClr val="bg1"/>
                </a:solidFill>
                <a:latin typeface="+mn-lt"/>
              </a:rPr>
              <a:t>— логическая единица разграничения, поддерживаемая гипервизором, в котором работают</a:t>
            </a:r>
            <a:r>
              <a:rPr lang="ru-RU" smtClean="0">
                <a:solidFill>
                  <a:schemeClr val="bg1"/>
                </a:solidFill>
                <a:latin typeface="+mn-lt"/>
              </a:rPr>
              <a:t> </a:t>
            </a:r>
            <a:r>
              <a:rPr lang="ru-RU" smtClean="0">
                <a:solidFill>
                  <a:schemeClr val="bg1"/>
                </a:solidFill>
                <a:latin typeface="+mn-lt"/>
              </a:rPr>
              <a:t>ОС. </a:t>
            </a:r>
            <a:r>
              <a:rPr lang="ru-RU" smtClean="0">
                <a:solidFill>
                  <a:schemeClr val="bg1"/>
                </a:solidFill>
                <a:latin typeface="+mn-lt"/>
              </a:rPr>
              <a:t>Каждый экземпляр гипервизора должен иметь один </a:t>
            </a:r>
            <a:r>
              <a:rPr lang="ru-RU" i="1" smtClean="0">
                <a:solidFill>
                  <a:srgbClr val="FFFF00"/>
                </a:solidFill>
                <a:latin typeface="+mn-lt"/>
              </a:rPr>
              <a:t>родительский </a:t>
            </a:r>
            <a:r>
              <a:rPr lang="ru-RU" i="1" smtClean="0">
                <a:solidFill>
                  <a:srgbClr val="FFFF00"/>
                </a:solidFill>
                <a:latin typeface="+mn-lt"/>
              </a:rPr>
              <a:t>(корневой) раздел</a:t>
            </a:r>
            <a:r>
              <a:rPr lang="ru-RU" smtClean="0">
                <a:solidFill>
                  <a:schemeClr val="bg1"/>
                </a:solidFill>
                <a:latin typeface="+mn-lt"/>
              </a:rPr>
              <a:t> с запущенной Windows Server 2008. Стек виртуализации запускается на родительском разделе и обладает прямым доступом к аппаратным устройствам</a:t>
            </a:r>
            <a:r>
              <a:rPr lang="ru-RU" smtClean="0">
                <a:solidFill>
                  <a:schemeClr val="bg1"/>
                </a:solidFill>
                <a:latin typeface="+mn-lt"/>
              </a:rPr>
              <a:t>. </a:t>
            </a:r>
            <a:r>
              <a:rPr lang="ru-RU" smtClean="0">
                <a:solidFill>
                  <a:schemeClr val="bg1"/>
                </a:solidFill>
                <a:latin typeface="+mn-lt"/>
              </a:rPr>
              <a:t>Родительский </a:t>
            </a:r>
            <a:r>
              <a:rPr lang="ru-RU" smtClean="0">
                <a:solidFill>
                  <a:schemeClr val="bg1"/>
                </a:solidFill>
                <a:latin typeface="+mn-lt"/>
              </a:rPr>
              <a:t>раздел порождает </a:t>
            </a:r>
            <a:r>
              <a:rPr lang="ru-RU" i="1" smtClean="0">
                <a:solidFill>
                  <a:schemeClr val="bg1"/>
                </a:solidFill>
                <a:latin typeface="+mn-lt"/>
              </a:rPr>
              <a:t>дочерние разделы</a:t>
            </a:r>
            <a:r>
              <a:rPr lang="ru-RU" smtClean="0">
                <a:solidFill>
                  <a:schemeClr val="bg1"/>
                </a:solidFill>
                <a:latin typeface="+mn-lt"/>
              </a:rPr>
              <a:t>, на которых и располагаются </a:t>
            </a:r>
            <a:r>
              <a:rPr lang="ru-RU" smtClean="0">
                <a:solidFill>
                  <a:schemeClr val="bg1"/>
                </a:solidFill>
                <a:latin typeface="+mn-lt"/>
              </a:rPr>
              <a:t>гостевые </a:t>
            </a:r>
            <a:r>
              <a:rPr lang="ru-RU" smtClean="0">
                <a:solidFill>
                  <a:schemeClr val="bg1"/>
                </a:solidFill>
                <a:latin typeface="+mn-lt"/>
              </a:rPr>
              <a:t>ОС. </a:t>
            </a:r>
            <a:r>
              <a:rPr lang="ru-RU" smtClean="0">
                <a:solidFill>
                  <a:schemeClr val="bg1"/>
                </a:solidFill>
                <a:latin typeface="+mn-lt"/>
              </a:rPr>
              <a:t>Родительский раздел создает дочерние при </a:t>
            </a:r>
            <a:r>
              <a:rPr lang="ru-RU" smtClean="0">
                <a:solidFill>
                  <a:schemeClr val="bg1"/>
                </a:solidFill>
                <a:latin typeface="+mn-lt"/>
              </a:rPr>
              <a:t>помощи </a:t>
            </a:r>
            <a:r>
              <a:rPr lang="ru-RU" smtClean="0">
                <a:solidFill>
                  <a:schemeClr val="bg1"/>
                </a:solidFill>
                <a:latin typeface="+mn-lt"/>
              </a:rPr>
              <a:t>API-</a:t>
            </a:r>
            <a:r>
              <a:rPr lang="ru-RU" i="1" smtClean="0">
                <a:solidFill>
                  <a:schemeClr val="bg1"/>
                </a:solidFill>
                <a:latin typeface="+mn-lt"/>
              </a:rPr>
              <a:t>гипервизора</a:t>
            </a:r>
            <a:r>
              <a:rPr lang="ru-RU" smtClean="0">
                <a:solidFill>
                  <a:schemeClr val="bg1"/>
                </a:solidFill>
                <a:latin typeface="+mn-lt"/>
              </a:rPr>
              <a:t>.</a:t>
            </a:r>
          </a:p>
          <a:p>
            <a:endParaRPr lang="ru-RU" smtClean="0">
              <a:solidFill>
                <a:schemeClr val="bg1"/>
              </a:solidFill>
              <a:latin typeface="+mn-lt"/>
            </a:endParaRPr>
          </a:p>
          <a:p>
            <a:r>
              <a:rPr lang="ru-RU" smtClean="0">
                <a:solidFill>
                  <a:schemeClr val="bg1"/>
                </a:solidFill>
                <a:latin typeface="+mn-lt"/>
              </a:rPr>
              <a:t>Виртуализированные разделы </a:t>
            </a:r>
            <a:r>
              <a:rPr lang="ru-RU" smtClean="0">
                <a:solidFill>
                  <a:schemeClr val="bg1"/>
                </a:solidFill>
                <a:latin typeface="+mn-lt"/>
              </a:rPr>
              <a:t>не </a:t>
            </a:r>
            <a:r>
              <a:rPr lang="ru-RU" smtClean="0">
                <a:solidFill>
                  <a:schemeClr val="bg1"/>
                </a:solidFill>
                <a:latin typeface="+mn-lt"/>
              </a:rPr>
              <a:t>имеют </a:t>
            </a:r>
            <a:r>
              <a:rPr lang="ru-RU" smtClean="0">
                <a:solidFill>
                  <a:schemeClr val="bg1"/>
                </a:solidFill>
                <a:latin typeface="+mn-lt"/>
              </a:rPr>
              <a:t>ни доступа к физическому процессору, ни возможности управлять его реальными прерываниями. Вместо этого у них есть виртуальное представление процессора </a:t>
            </a:r>
            <a:r>
              <a:rPr lang="ru-RU" smtClean="0">
                <a:solidFill>
                  <a:schemeClr val="bg1"/>
                </a:solidFill>
                <a:latin typeface="+mn-lt"/>
              </a:rPr>
              <a:t>и </a:t>
            </a:r>
            <a:r>
              <a:rPr lang="ru-RU" smtClean="0">
                <a:solidFill>
                  <a:schemeClr val="bg1"/>
                </a:solidFill>
                <a:latin typeface="+mn-lt"/>
              </a:rPr>
              <a:t>гостевое АП. </a:t>
            </a:r>
          </a:p>
          <a:p>
            <a:endParaRPr lang="ru-RU" smtClean="0">
              <a:solidFill>
                <a:schemeClr val="bg1"/>
              </a:solidFill>
              <a:latin typeface="+mn-lt"/>
            </a:endParaRPr>
          </a:p>
          <a:p>
            <a:r>
              <a:rPr lang="ru-RU" smtClean="0">
                <a:solidFill>
                  <a:schemeClr val="bg1"/>
                </a:solidFill>
                <a:latin typeface="+mn-lt"/>
              </a:rPr>
              <a:t>Гипервизор </a:t>
            </a:r>
            <a:r>
              <a:rPr lang="ru-RU" smtClean="0">
                <a:solidFill>
                  <a:schemeClr val="bg1"/>
                </a:solidFill>
                <a:latin typeface="+mn-lt"/>
              </a:rPr>
              <a:t>управляет прерываниями процессора и перенаправляет их в соответствующий раздел, используя логический </a:t>
            </a:r>
            <a:r>
              <a:rPr lang="ru-RU" i="1" smtClean="0">
                <a:solidFill>
                  <a:schemeClr val="bg1"/>
                </a:solidFill>
                <a:latin typeface="+mn-lt"/>
              </a:rPr>
              <a:t>контроллер искусственных прерываний</a:t>
            </a:r>
            <a:r>
              <a:rPr lang="ru-RU" smtClean="0">
                <a:solidFill>
                  <a:schemeClr val="bg1"/>
                </a:solidFill>
                <a:latin typeface="+mn-lt"/>
              </a:rPr>
              <a:t> (</a:t>
            </a:r>
            <a:r>
              <a:rPr lang="ru-RU" i="1" smtClean="0">
                <a:solidFill>
                  <a:schemeClr val="bg1"/>
                </a:solidFill>
                <a:latin typeface="+mn-lt"/>
              </a:rPr>
              <a:t>Synthetic Interrupt Controller</a:t>
            </a:r>
            <a:r>
              <a:rPr lang="ru-RU" smtClean="0">
                <a:solidFill>
                  <a:schemeClr val="bg1"/>
                </a:solidFill>
                <a:latin typeface="+mn-lt"/>
              </a:rPr>
              <a:t> или сокр. SynIC</a:t>
            </a:r>
            <a:r>
              <a:rPr lang="ru-RU" smtClean="0">
                <a:solidFill>
                  <a:schemeClr val="bg1"/>
                </a:solidFill>
                <a:latin typeface="+mn-lt"/>
              </a:rPr>
              <a:t>). </a:t>
            </a:r>
            <a:endParaRPr lang="ru-RU" smtClean="0">
              <a:solidFill>
                <a:schemeClr val="bg1"/>
              </a:solidFill>
              <a:latin typeface="+mn-lt"/>
            </a:endParaRPr>
          </a:p>
          <a:p>
            <a:endParaRPr lang="ru-RU" smtClean="0">
              <a:solidFill>
                <a:schemeClr val="bg1"/>
              </a:solidFill>
              <a:latin typeface="+mn-lt"/>
            </a:endParaRPr>
          </a:p>
          <a:p>
            <a:r>
              <a:rPr lang="ru-RU" smtClean="0">
                <a:solidFill>
                  <a:schemeClr val="bg1"/>
                </a:solidFill>
                <a:latin typeface="+mn-lt"/>
              </a:rPr>
              <a:t>Дочерние </a:t>
            </a:r>
            <a:r>
              <a:rPr lang="ru-RU" smtClean="0">
                <a:solidFill>
                  <a:schemeClr val="bg1"/>
                </a:solidFill>
                <a:latin typeface="+mn-lt"/>
              </a:rPr>
              <a:t>разделы </a:t>
            </a:r>
            <a:r>
              <a:rPr lang="ru-RU" smtClean="0">
                <a:solidFill>
                  <a:schemeClr val="bg1"/>
                </a:solidFill>
                <a:latin typeface="+mn-lt"/>
              </a:rPr>
              <a:t>получают </a:t>
            </a:r>
            <a:r>
              <a:rPr lang="ru-RU" smtClean="0">
                <a:solidFill>
                  <a:schemeClr val="bg1"/>
                </a:solidFill>
                <a:latin typeface="+mn-lt"/>
              </a:rPr>
              <a:t>виртуальное представление ресурсов, называемое </a:t>
            </a:r>
            <a:r>
              <a:rPr lang="ru-RU" i="1" smtClean="0">
                <a:solidFill>
                  <a:schemeClr val="bg1"/>
                </a:solidFill>
                <a:latin typeface="+mn-lt"/>
              </a:rPr>
              <a:t>виртуальными устройствами</a:t>
            </a:r>
            <a:r>
              <a:rPr lang="ru-RU" smtClean="0">
                <a:solidFill>
                  <a:schemeClr val="bg1"/>
                </a:solidFill>
                <a:latin typeface="+mn-lt"/>
              </a:rPr>
              <a:t>. Любая попытка обращения к виртуальным устройствам перенаправляется через </a:t>
            </a:r>
            <a:r>
              <a:rPr lang="ru-RU" i="1" smtClean="0">
                <a:solidFill>
                  <a:schemeClr val="bg1"/>
                </a:solidFill>
                <a:latin typeface="+mn-lt"/>
              </a:rPr>
              <a:t>VMBus</a:t>
            </a:r>
            <a:r>
              <a:rPr lang="ru-RU" smtClean="0">
                <a:solidFill>
                  <a:schemeClr val="bg1"/>
                </a:solidFill>
                <a:latin typeface="+mn-lt"/>
              </a:rPr>
              <a:t> к устройствам родительского раздела, которые и обработают данный запрос</a:t>
            </a:r>
            <a:r>
              <a:rPr lang="ru-RU" smtClean="0">
                <a:solidFill>
                  <a:schemeClr val="bg1"/>
                </a:solidFill>
                <a:latin typeface="+mn-lt"/>
              </a:rPr>
              <a:t>. </a:t>
            </a:r>
            <a:endParaRPr lang="ru-RU" smtClean="0">
              <a:solidFill>
                <a:schemeClr val="bg1"/>
              </a:solidFill>
              <a:latin typeface="+mn-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smtClean="0">
                <a:solidFill>
                  <a:schemeClr val="bg1"/>
                </a:solidFill>
                <a:latin typeface="Calibri" pitchFamily="34" charset="0"/>
              </a:rPr>
              <a:t>Hypervisor</a:t>
            </a:r>
            <a:r>
              <a:rPr lang="ru-RU" altLang="ru-RU" sz="3200" smtClean="0">
                <a:solidFill>
                  <a:schemeClr val="bg1"/>
                </a:solidFill>
                <a:latin typeface="Calibri" pitchFamily="34" charset="0"/>
              </a:rPr>
              <a:t>. Виртуализация ввода</a:t>
            </a:r>
            <a:r>
              <a:rPr lang="en-US" altLang="ru-RU" sz="3200" smtClean="0">
                <a:solidFill>
                  <a:schemeClr val="bg1"/>
                </a:solidFill>
                <a:latin typeface="Calibri" pitchFamily="34" charset="0"/>
              </a:rPr>
              <a:t>/</a:t>
            </a:r>
            <a:r>
              <a:rPr lang="ru-RU" altLang="ru-RU" sz="3200" smtClean="0">
                <a:solidFill>
                  <a:schemeClr val="bg1"/>
                </a:solidFill>
                <a:latin typeface="Calibri" pitchFamily="34" charset="0"/>
              </a:rPr>
              <a:t>вывода</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1025" name="Rectangle 1"/>
          <p:cNvSpPr>
            <a:spLocks noChangeArrowheads="1"/>
          </p:cNvSpPr>
          <p:nvPr/>
        </p:nvSpPr>
        <p:spPr bwMode="auto">
          <a:xfrm>
            <a:off x="395536" y="836712"/>
            <a:ext cx="8244408" cy="3046988"/>
          </a:xfrm>
          <a:prstGeom prst="rect">
            <a:avLst/>
          </a:prstGeom>
          <a:noFill/>
          <a:ln w="9525">
            <a:noFill/>
            <a:miter lim="800000"/>
            <a:headEnd/>
            <a:tailEnd/>
          </a:ln>
          <a:effectLst/>
        </p:spPr>
        <p:txBody>
          <a:bodyPr vert="horz" wrap="square" lIns="39675" tIns="0" rIns="39675" bIns="0" numCol="1" anchor="ctr" anchorCtr="0" compatLnSpc="1">
            <a:prstTxWarp prst="textNoShape">
              <a:avLst/>
            </a:prstTxWarp>
            <a:spAutoFit/>
          </a:bodyPr>
          <a:lstStyle/>
          <a:p>
            <a:r>
              <a:rPr lang="ru-RU" b="1" smtClean="0">
                <a:solidFill>
                  <a:srgbClr val="FFFF00"/>
                </a:solidFill>
                <a:latin typeface="+mn-lt"/>
              </a:rPr>
              <a:t>VMBus </a:t>
            </a:r>
            <a:r>
              <a:rPr lang="ru-RU" smtClean="0">
                <a:solidFill>
                  <a:schemeClr val="bg1"/>
                </a:solidFill>
                <a:latin typeface="+mn-lt"/>
              </a:rPr>
              <a:t>— это логический канал, осуществляющий взаимодействие между разделами. Ответ возвращается также через VMBus. Если устройства родительского раздела также являются виртуальными устройствами, то запрос будет передаваться дальше, пока не достигнет такого родительского раздела, где он получит доступ к физическим устройствам. </a:t>
            </a:r>
            <a:r>
              <a:rPr lang="ru-RU" smtClean="0">
                <a:solidFill>
                  <a:schemeClr val="bg1"/>
                </a:solidFill>
                <a:latin typeface="+mn-lt"/>
              </a:rPr>
              <a:t>Родительские </a:t>
            </a:r>
            <a:r>
              <a:rPr lang="ru-RU" smtClean="0">
                <a:solidFill>
                  <a:schemeClr val="bg1"/>
                </a:solidFill>
                <a:latin typeface="+mn-lt"/>
              </a:rPr>
              <a:t>разделы запускают </a:t>
            </a:r>
            <a:r>
              <a:rPr lang="ru-RU" i="1" smtClean="0">
                <a:solidFill>
                  <a:schemeClr val="bg1"/>
                </a:solidFill>
                <a:latin typeface="+mn-lt"/>
              </a:rPr>
              <a:t>провайдер сервиса виртуализации</a:t>
            </a:r>
            <a:r>
              <a:rPr lang="ru-RU" smtClean="0">
                <a:solidFill>
                  <a:schemeClr val="bg1"/>
                </a:solidFill>
                <a:latin typeface="+mn-lt"/>
              </a:rPr>
              <a:t> (</a:t>
            </a:r>
            <a:r>
              <a:rPr lang="ru-RU" i="1" smtClean="0">
                <a:solidFill>
                  <a:schemeClr val="bg1"/>
                </a:solidFill>
                <a:latin typeface="+mn-lt"/>
              </a:rPr>
              <a:t>Virtualization Service Provider</a:t>
            </a:r>
            <a:r>
              <a:rPr lang="ru-RU" smtClean="0">
                <a:solidFill>
                  <a:schemeClr val="bg1"/>
                </a:solidFill>
                <a:latin typeface="+mn-lt"/>
              </a:rPr>
              <a:t> или сокр. VSP), который соединяется с VMBus и обрабатывает запросы доступа к устройствам от дочерних разделов. Виртуальные устройства дочернего раздела работают с </a:t>
            </a:r>
            <a:r>
              <a:rPr lang="ru-RU" i="1" smtClean="0">
                <a:solidFill>
                  <a:schemeClr val="bg1"/>
                </a:solidFill>
                <a:latin typeface="+mn-lt"/>
              </a:rPr>
              <a:t>клиентом сервиса виртуализации</a:t>
            </a:r>
            <a:r>
              <a:rPr lang="ru-RU" smtClean="0">
                <a:solidFill>
                  <a:schemeClr val="bg1"/>
                </a:solidFill>
                <a:latin typeface="+mn-lt"/>
              </a:rPr>
              <a:t> (</a:t>
            </a:r>
            <a:r>
              <a:rPr lang="ru-RU" i="1" smtClean="0">
                <a:solidFill>
                  <a:schemeClr val="bg1"/>
                </a:solidFill>
                <a:latin typeface="+mn-lt"/>
              </a:rPr>
              <a:t>Virtualization Service Client</a:t>
            </a:r>
            <a:r>
              <a:rPr lang="ru-RU" smtClean="0">
                <a:solidFill>
                  <a:schemeClr val="bg1"/>
                </a:solidFill>
                <a:latin typeface="+mn-lt"/>
              </a:rPr>
              <a:t> </a:t>
            </a:r>
            <a:r>
              <a:rPr lang="ru-RU" smtClean="0">
                <a:solidFill>
                  <a:schemeClr val="bg1"/>
                </a:solidFill>
                <a:latin typeface="+mn-lt"/>
              </a:rPr>
              <a:t>,VSC</a:t>
            </a:r>
            <a:r>
              <a:rPr lang="ru-RU" smtClean="0">
                <a:solidFill>
                  <a:schemeClr val="bg1"/>
                </a:solidFill>
                <a:latin typeface="+mn-lt"/>
              </a:rPr>
              <a:t>), который перенаправляет запрос через VMBus к VSP родительского раздела. Этот процесс прозрачен для гостевой </a:t>
            </a:r>
            <a:r>
              <a:rPr lang="ru-RU" smtClean="0">
                <a:solidFill>
                  <a:schemeClr val="bg1"/>
                </a:solidFill>
                <a:latin typeface="+mn-lt"/>
              </a:rPr>
              <a:t>ОС</a:t>
            </a:r>
            <a:r>
              <a:rPr lang="ru-RU" smtClean="0">
                <a:solidFill>
                  <a:schemeClr val="bg1"/>
                </a:solidFill>
                <a:latin typeface="+mn-lt"/>
              </a:rPr>
              <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dirty="0" smtClean="0">
                <a:solidFill>
                  <a:schemeClr val="bg1"/>
                </a:solidFill>
                <a:latin typeface="+mn-lt"/>
              </a:rPr>
              <a:t>WSL -</a:t>
            </a:r>
            <a:r>
              <a:rPr lang="en-US" sz="3200" dirty="0" smtClean="0">
                <a:solidFill>
                  <a:schemeClr val="bg1"/>
                </a:solidFill>
                <a:latin typeface="+mn-lt"/>
              </a:rPr>
              <a:t>Windows-</a:t>
            </a:r>
            <a:r>
              <a:rPr lang="en-US" sz="3200" dirty="0">
                <a:solidFill>
                  <a:schemeClr val="bg1"/>
                </a:solidFill>
                <a:latin typeface="+mn-lt"/>
              </a:rPr>
              <a:t>S</a:t>
            </a:r>
            <a:r>
              <a:rPr lang="en-US" sz="3200" dirty="0" smtClean="0">
                <a:solidFill>
                  <a:schemeClr val="bg1"/>
                </a:solidFill>
                <a:latin typeface="+mn-lt"/>
              </a:rPr>
              <a:t>ubsystem-for-Linux</a:t>
            </a:r>
            <a:r>
              <a:rPr lang="en-US" altLang="ru-RU" sz="3200" dirty="0" smtClean="0">
                <a:solidFill>
                  <a:schemeClr val="bg1"/>
                </a:solidFill>
                <a:latin typeface="+mn-lt"/>
              </a:rPr>
              <a:t> </a:t>
            </a:r>
            <a:endParaRPr lang="ru-RU" altLang="ru-RU" sz="3200" dirty="0">
              <a:solidFill>
                <a:schemeClr val="bg1"/>
              </a:solidFill>
              <a:latin typeface="+mn-lt"/>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3" name="Прямоугольник 2"/>
          <p:cNvSpPr/>
          <p:nvPr/>
        </p:nvSpPr>
        <p:spPr>
          <a:xfrm>
            <a:off x="4211960" y="692696"/>
            <a:ext cx="4775218" cy="646331"/>
          </a:xfrm>
          <a:prstGeom prst="rect">
            <a:avLst/>
          </a:prstGeom>
        </p:spPr>
        <p:txBody>
          <a:bodyPr wrap="none">
            <a:spAutoFit/>
          </a:bodyPr>
          <a:lstStyle/>
          <a:p>
            <a:pPr>
              <a:defRPr/>
            </a:pPr>
            <a:r>
              <a:rPr lang="ru-RU" dirty="0" smtClean="0">
                <a:solidFill>
                  <a:srgbClr val="FFFF00"/>
                </a:solidFill>
                <a:latin typeface="+mn-lt"/>
              </a:rPr>
              <a:t>«</a:t>
            </a:r>
            <a:r>
              <a:rPr lang="en-US" dirty="0" smtClean="0">
                <a:solidFill>
                  <a:srgbClr val="FFFF00"/>
                </a:solidFill>
                <a:latin typeface="+mn-lt"/>
              </a:rPr>
              <a:t>So like DOS before him, this Windows must die</a:t>
            </a:r>
            <a:r>
              <a:rPr lang="ru-RU" dirty="0" smtClean="0">
                <a:solidFill>
                  <a:srgbClr val="FFFF00"/>
                </a:solidFill>
                <a:latin typeface="+mn-lt"/>
              </a:rPr>
              <a:t>»</a:t>
            </a:r>
            <a:endParaRPr lang="en-US" dirty="0" smtClean="0">
              <a:solidFill>
                <a:srgbClr val="FFFF00"/>
              </a:solidFill>
              <a:latin typeface="+mn-lt"/>
            </a:endParaRPr>
          </a:p>
          <a:p>
            <a:pPr>
              <a:defRPr/>
            </a:pPr>
            <a:r>
              <a:rPr lang="ru-RU" b="1" dirty="0" smtClean="0">
                <a:solidFill>
                  <a:schemeClr val="bg1"/>
                </a:solidFill>
                <a:latin typeface="+mn-lt"/>
              </a:rPr>
              <a:t>Реминисценция на «</a:t>
            </a:r>
            <a:r>
              <a:rPr lang="en-US" b="1" dirty="0" smtClean="0">
                <a:solidFill>
                  <a:schemeClr val="bg1"/>
                </a:solidFill>
                <a:latin typeface="+mn-lt"/>
              </a:rPr>
              <a:t>Jesus Christ  Superstar</a:t>
            </a:r>
            <a:r>
              <a:rPr lang="ru-RU" b="1" dirty="0" smtClean="0">
                <a:solidFill>
                  <a:schemeClr val="bg1"/>
                </a:solidFill>
                <a:latin typeface="+mn-lt"/>
              </a:rPr>
              <a:t>»</a:t>
            </a:r>
            <a:endParaRPr lang="ru-RU" b="1" dirty="0">
              <a:solidFill>
                <a:schemeClr val="bg1"/>
              </a:solidFill>
              <a:latin typeface="+mn-lt"/>
            </a:endParaRPr>
          </a:p>
        </p:txBody>
      </p:sp>
      <p:sp>
        <p:nvSpPr>
          <p:cNvPr id="2" name="Прямоугольник 1"/>
          <p:cNvSpPr/>
          <p:nvPr/>
        </p:nvSpPr>
        <p:spPr>
          <a:xfrm>
            <a:off x="179512" y="1268760"/>
            <a:ext cx="8964488" cy="2308324"/>
          </a:xfrm>
          <a:prstGeom prst="rect">
            <a:avLst/>
          </a:prstGeom>
        </p:spPr>
        <p:txBody>
          <a:bodyPr wrap="square">
            <a:spAutoFit/>
          </a:bodyPr>
          <a:lstStyle/>
          <a:p>
            <a:pPr algn="just">
              <a:defRPr/>
            </a:pPr>
            <a:r>
              <a:rPr lang="en-US" dirty="0" smtClean="0">
                <a:solidFill>
                  <a:srgbClr val="FFFF00"/>
                </a:solidFill>
                <a:latin typeface="+mn-lt"/>
              </a:rPr>
              <a:t>http://onreader.mdl.ru/LearnWindowsSubsystemLinuxProfessionals/content/index.html</a:t>
            </a:r>
          </a:p>
          <a:p>
            <a:pPr algn="just">
              <a:defRPr/>
            </a:pPr>
            <a:r>
              <a:rPr lang="ru-RU" dirty="0" smtClean="0">
                <a:solidFill>
                  <a:schemeClr val="bg1"/>
                </a:solidFill>
                <a:latin typeface="+mn-lt"/>
              </a:rPr>
              <a:t>Изучаем подсистемы </a:t>
            </a:r>
            <a:r>
              <a:rPr lang="ru-RU" dirty="0" err="1" smtClean="0">
                <a:solidFill>
                  <a:schemeClr val="bg1"/>
                </a:solidFill>
                <a:latin typeface="+mn-lt"/>
              </a:rPr>
              <a:t>Windows</a:t>
            </a:r>
            <a:r>
              <a:rPr lang="ru-RU" dirty="0" smtClean="0">
                <a:solidFill>
                  <a:schemeClr val="bg1"/>
                </a:solidFill>
                <a:latin typeface="+mn-lt"/>
              </a:rPr>
              <a:t> для </a:t>
            </a:r>
            <a:r>
              <a:rPr lang="ru-RU" dirty="0" err="1" smtClean="0">
                <a:solidFill>
                  <a:schemeClr val="bg1"/>
                </a:solidFill>
                <a:latin typeface="+mn-lt"/>
              </a:rPr>
              <a:t>Linux</a:t>
            </a:r>
            <a:endParaRPr lang="ru-RU" dirty="0" smtClean="0">
              <a:solidFill>
                <a:schemeClr val="bg1"/>
              </a:solidFill>
              <a:latin typeface="+mn-lt"/>
            </a:endParaRPr>
          </a:p>
          <a:p>
            <a:pPr algn="just">
              <a:defRPr/>
            </a:pPr>
            <a:r>
              <a:rPr lang="en-US" dirty="0" smtClean="0">
                <a:solidFill>
                  <a:srgbClr val="FFFF00"/>
                </a:solidFill>
              </a:rPr>
              <a:t>https://techrocks.ru/2019/11/17/windows-subsystem-for-linux-wsl/</a:t>
            </a:r>
            <a:r>
              <a:rPr lang="ru-RU" dirty="0" smtClean="0">
                <a:solidFill>
                  <a:srgbClr val="FFFF00"/>
                </a:solidFill>
              </a:rPr>
              <a:t> </a:t>
            </a:r>
            <a:r>
              <a:rPr lang="ru-RU" dirty="0" smtClean="0">
                <a:solidFill>
                  <a:schemeClr val="bg1"/>
                </a:solidFill>
              </a:rPr>
              <a:t>- популярно</a:t>
            </a:r>
            <a:endParaRPr lang="en-US" dirty="0" smtClean="0">
              <a:solidFill>
                <a:schemeClr val="bg1"/>
              </a:solidFill>
            </a:endParaRPr>
          </a:p>
          <a:p>
            <a:pPr algn="just">
              <a:defRPr/>
            </a:pPr>
            <a:endParaRPr lang="ru-RU" dirty="0" smtClean="0">
              <a:solidFill>
                <a:schemeClr val="bg1"/>
              </a:solidFill>
              <a:latin typeface="+mn-lt"/>
            </a:endParaRPr>
          </a:p>
          <a:p>
            <a:pPr algn="just">
              <a:defRPr/>
            </a:pPr>
            <a:endParaRPr lang="ru-RU" dirty="0" smtClean="0">
              <a:solidFill>
                <a:schemeClr val="bg1"/>
              </a:solidFill>
              <a:latin typeface="+mn-lt"/>
            </a:endParaRPr>
          </a:p>
          <a:p>
            <a:pPr algn="just">
              <a:defRPr/>
            </a:pPr>
            <a:endParaRPr lang="en-US" dirty="0" smtClean="0">
              <a:solidFill>
                <a:schemeClr val="bg1"/>
              </a:solidFill>
            </a:endParaRPr>
          </a:p>
          <a:p>
            <a:pPr algn="just">
              <a:defRPr/>
            </a:pPr>
            <a:endParaRPr lang="en-US" dirty="0" smtClean="0">
              <a:solidFill>
                <a:schemeClr val="bg1"/>
              </a:solidFill>
            </a:endParaRPr>
          </a:p>
          <a:p>
            <a:pPr algn="just">
              <a:defRPr/>
            </a:pPr>
            <a:endParaRPr lang="ru-RU" dirty="0">
              <a:solidFill>
                <a:schemeClr val="bg1"/>
              </a:solidFill>
            </a:endParaRPr>
          </a:p>
        </p:txBody>
      </p:sp>
      <p:sp>
        <p:nvSpPr>
          <p:cNvPr id="6" name="Прямоугольник 5"/>
          <p:cNvSpPr/>
          <p:nvPr/>
        </p:nvSpPr>
        <p:spPr>
          <a:xfrm>
            <a:off x="251520" y="2276872"/>
            <a:ext cx="8496944" cy="923330"/>
          </a:xfrm>
          <a:prstGeom prst="rect">
            <a:avLst/>
          </a:prstGeom>
        </p:spPr>
        <p:txBody>
          <a:bodyPr wrap="square">
            <a:spAutoFit/>
          </a:bodyPr>
          <a:lstStyle/>
          <a:p>
            <a:pPr algn="just">
              <a:defRPr/>
            </a:pPr>
            <a:r>
              <a:rPr lang="en-US" dirty="0" smtClean="0">
                <a:solidFill>
                  <a:schemeClr val="bg1"/>
                </a:solidFill>
                <a:latin typeface="+mn-lt"/>
              </a:rPr>
              <a:t>WSL - Windows-Subsystem-for-Linux:</a:t>
            </a:r>
          </a:p>
          <a:p>
            <a:pPr algn="just">
              <a:buFont typeface="Arial" pitchFamily="34" charset="0"/>
              <a:buChar char="•"/>
              <a:defRPr/>
            </a:pPr>
            <a:r>
              <a:rPr lang="en-US" dirty="0" smtClean="0">
                <a:solidFill>
                  <a:schemeClr val="bg1"/>
                </a:solidFill>
                <a:latin typeface="+mn-lt"/>
              </a:rPr>
              <a:t> WSL1 - </a:t>
            </a:r>
            <a:r>
              <a:rPr lang="ru-RU" dirty="0" smtClean="0">
                <a:solidFill>
                  <a:schemeClr val="bg1"/>
                </a:solidFill>
                <a:latin typeface="+mn-lt"/>
              </a:rPr>
              <a:t>подсистема позволяет в </a:t>
            </a:r>
            <a:r>
              <a:rPr lang="ru-RU" dirty="0" err="1" smtClean="0">
                <a:solidFill>
                  <a:schemeClr val="bg1"/>
                </a:solidFill>
                <a:latin typeface="+mn-lt"/>
              </a:rPr>
              <a:t>Windows</a:t>
            </a:r>
            <a:r>
              <a:rPr lang="ru-RU" dirty="0" smtClean="0">
                <a:solidFill>
                  <a:schemeClr val="bg1"/>
                </a:solidFill>
                <a:latin typeface="+mn-lt"/>
              </a:rPr>
              <a:t> запускать программы GNU/</a:t>
            </a:r>
            <a:r>
              <a:rPr lang="ru-RU" dirty="0" err="1" smtClean="0">
                <a:solidFill>
                  <a:schemeClr val="bg1"/>
                </a:solidFill>
                <a:latin typeface="+mn-lt"/>
              </a:rPr>
              <a:t>Linux</a:t>
            </a:r>
            <a:r>
              <a:rPr lang="ru-RU" dirty="0" smtClean="0">
                <a:solidFill>
                  <a:schemeClr val="bg1"/>
                </a:solidFill>
                <a:latin typeface="+mn-lt"/>
              </a:rPr>
              <a:t> в двоичном исполняемом формате ELF-64</a:t>
            </a:r>
            <a:r>
              <a:rPr lang="en-US" dirty="0" smtClean="0">
                <a:solidFill>
                  <a:schemeClr val="bg1"/>
                </a:solidFill>
                <a:latin typeface="+mn-lt"/>
              </a:rPr>
              <a:t> (</a:t>
            </a:r>
            <a:r>
              <a:rPr lang="ru-RU" dirty="0" smtClean="0">
                <a:solidFill>
                  <a:schemeClr val="bg1"/>
                </a:solidFill>
                <a:latin typeface="+mn-lt"/>
              </a:rPr>
              <a:t>эмуляция </a:t>
            </a:r>
            <a:r>
              <a:rPr lang="en-US" dirty="0" smtClean="0">
                <a:solidFill>
                  <a:schemeClr val="bg1"/>
                </a:solidFill>
                <a:latin typeface="+mn-lt"/>
              </a:rPr>
              <a:t>API </a:t>
            </a:r>
            <a:r>
              <a:rPr lang="ru-RU" dirty="0" smtClean="0">
                <a:solidFill>
                  <a:schemeClr val="bg1"/>
                </a:solidFill>
                <a:latin typeface="+mn-lt"/>
              </a:rPr>
              <a:t>процесса</a:t>
            </a:r>
            <a:r>
              <a:rPr lang="en-US" dirty="0" smtClean="0">
                <a:solidFill>
                  <a:schemeClr val="bg1"/>
                </a:solidFill>
                <a:latin typeface="+mn-lt"/>
              </a:rPr>
              <a:t>)</a:t>
            </a:r>
            <a:endParaRPr lang="ru-RU" dirty="0" smtClean="0">
              <a:solidFill>
                <a:schemeClr val="bg1"/>
              </a:solidFill>
              <a:latin typeface="+mn-lt"/>
            </a:endParaRPr>
          </a:p>
        </p:txBody>
      </p:sp>
      <p:sp>
        <p:nvSpPr>
          <p:cNvPr id="8" name="Прямоугольник 7"/>
          <p:cNvSpPr/>
          <p:nvPr/>
        </p:nvSpPr>
        <p:spPr>
          <a:xfrm>
            <a:off x="251520" y="3284984"/>
            <a:ext cx="3528392" cy="2031325"/>
          </a:xfrm>
          <a:prstGeom prst="rect">
            <a:avLst/>
          </a:prstGeom>
        </p:spPr>
        <p:txBody>
          <a:bodyPr wrap="square">
            <a:spAutoFit/>
          </a:bodyPr>
          <a:lstStyle/>
          <a:p>
            <a:pPr algn="just">
              <a:buFont typeface="Arial" pitchFamily="34" charset="0"/>
              <a:buChar char="•"/>
              <a:defRPr/>
            </a:pPr>
            <a:r>
              <a:rPr lang="ru-RU" dirty="0" smtClean="0">
                <a:solidFill>
                  <a:schemeClr val="bg1"/>
                </a:solidFill>
                <a:latin typeface="+mn-lt"/>
              </a:rPr>
              <a:t> </a:t>
            </a:r>
            <a:r>
              <a:rPr lang="en-US" dirty="0" smtClean="0">
                <a:solidFill>
                  <a:schemeClr val="bg1"/>
                </a:solidFill>
                <a:latin typeface="+mn-lt"/>
              </a:rPr>
              <a:t>WSL2 – </a:t>
            </a:r>
            <a:r>
              <a:rPr lang="ru-RU" dirty="0" smtClean="0">
                <a:solidFill>
                  <a:schemeClr val="bg1"/>
                </a:solidFill>
                <a:latin typeface="+mn-lt"/>
              </a:rPr>
              <a:t>виртуальная машина с </a:t>
            </a:r>
            <a:r>
              <a:rPr lang="en-US" dirty="0" smtClean="0">
                <a:solidFill>
                  <a:schemeClr val="bg1"/>
                </a:solidFill>
                <a:latin typeface="+mn-lt"/>
              </a:rPr>
              <a:t>Linux  </a:t>
            </a:r>
            <a:r>
              <a:rPr lang="ru-RU" dirty="0" smtClean="0">
                <a:solidFill>
                  <a:schemeClr val="bg1"/>
                </a:solidFill>
                <a:latin typeface="+mn-lt"/>
              </a:rPr>
              <a:t>на основе </a:t>
            </a:r>
            <a:r>
              <a:rPr lang="ru-RU" dirty="0" err="1" smtClean="0">
                <a:solidFill>
                  <a:schemeClr val="bg1"/>
                </a:solidFill>
                <a:latin typeface="+mn-lt"/>
              </a:rPr>
              <a:t>арзитектуры</a:t>
            </a:r>
            <a:r>
              <a:rPr lang="ru-RU" dirty="0" smtClean="0">
                <a:solidFill>
                  <a:schemeClr val="bg1"/>
                </a:solidFill>
                <a:latin typeface="+mn-lt"/>
              </a:rPr>
              <a:t> </a:t>
            </a:r>
            <a:r>
              <a:rPr lang="en-US" dirty="0" smtClean="0">
                <a:solidFill>
                  <a:schemeClr val="bg1"/>
                </a:solidFill>
                <a:latin typeface="+mn-lt"/>
              </a:rPr>
              <a:t>Hyper-V (</a:t>
            </a:r>
            <a:r>
              <a:rPr lang="ru-RU" dirty="0" smtClean="0">
                <a:solidFill>
                  <a:schemeClr val="bg1"/>
                </a:solidFill>
                <a:latin typeface="+mn-lt"/>
              </a:rPr>
              <a:t>гипервизор, аппаратно-программная изоляция среды ОС от «железа», создание виртуальной среды исполнения кода ОС (в т.ч. ядра)</a:t>
            </a:r>
            <a:endParaRPr lang="en-US" dirty="0" smtClean="0">
              <a:solidFill>
                <a:schemeClr val="bg1"/>
              </a:solidFill>
              <a:latin typeface="+mn-lt"/>
            </a:endParaRPr>
          </a:p>
        </p:txBody>
      </p:sp>
      <p:pic>
        <p:nvPicPr>
          <p:cNvPr id="1027" name="Picture 3"/>
          <p:cNvPicPr>
            <a:picLocks noChangeAspect="1" noChangeArrowheads="1"/>
          </p:cNvPicPr>
          <p:nvPr/>
        </p:nvPicPr>
        <p:blipFill>
          <a:blip r:embed="rId3" cstate="print"/>
          <a:srcRect/>
          <a:stretch>
            <a:fillRect/>
          </a:stretch>
        </p:blipFill>
        <p:spPr bwMode="auto">
          <a:xfrm>
            <a:off x="4067944" y="3212976"/>
            <a:ext cx="4685941" cy="34952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dirty="0" smtClean="0">
                <a:solidFill>
                  <a:schemeClr val="bg1"/>
                </a:solidFill>
                <a:latin typeface="Calibri" pitchFamily="34" charset="0"/>
              </a:rPr>
              <a:t>WSL – </a:t>
            </a:r>
            <a:r>
              <a:rPr lang="ru-RU" altLang="ru-RU" sz="3200" dirty="0" smtClean="0">
                <a:solidFill>
                  <a:schemeClr val="bg1"/>
                </a:solidFill>
                <a:latin typeface="Calibri" pitchFamily="34" charset="0"/>
              </a:rPr>
              <a:t>запуск</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2" name="Прямоугольник 1"/>
          <p:cNvSpPr/>
          <p:nvPr/>
        </p:nvSpPr>
        <p:spPr>
          <a:xfrm>
            <a:off x="179512" y="692696"/>
            <a:ext cx="8721725" cy="923330"/>
          </a:xfrm>
          <a:prstGeom prst="rect">
            <a:avLst/>
          </a:prstGeom>
        </p:spPr>
        <p:txBody>
          <a:bodyPr>
            <a:spAutoFit/>
          </a:bodyPr>
          <a:lstStyle/>
          <a:p>
            <a:pPr algn="just">
              <a:defRPr/>
            </a:pPr>
            <a:r>
              <a:rPr lang="en-US" dirty="0" err="1" smtClean="0">
                <a:solidFill>
                  <a:schemeClr val="bg1"/>
                </a:solidFill>
                <a:latin typeface="+mn-lt"/>
              </a:rPr>
              <a:t>PowerShell</a:t>
            </a:r>
            <a:r>
              <a:rPr lang="en-US" dirty="0" smtClean="0">
                <a:solidFill>
                  <a:schemeClr val="bg1"/>
                </a:solidFill>
                <a:latin typeface="+mn-lt"/>
              </a:rPr>
              <a:t> -</a:t>
            </a:r>
            <a:r>
              <a:rPr lang="ru-RU" dirty="0">
                <a:latin typeface="+mn-lt"/>
              </a:rPr>
              <a:t> </a:t>
            </a:r>
            <a:r>
              <a:rPr lang="ru-RU" dirty="0">
                <a:solidFill>
                  <a:schemeClr val="bg1"/>
                </a:solidFill>
                <a:latin typeface="+mn-lt"/>
              </a:rPr>
              <a:t>расширяемое средство автоматизации от </a:t>
            </a:r>
            <a:r>
              <a:rPr lang="ru-RU" dirty="0" err="1">
                <a:solidFill>
                  <a:schemeClr val="bg1"/>
                </a:solidFill>
                <a:latin typeface="+mn-lt"/>
              </a:rPr>
              <a:t>Microsoft</a:t>
            </a:r>
            <a:r>
              <a:rPr lang="ru-RU" dirty="0">
                <a:solidFill>
                  <a:schemeClr val="bg1"/>
                </a:solidFill>
                <a:latin typeface="+mn-lt"/>
              </a:rPr>
              <a:t> с открытым исходным кодом, состоящее из оболочки с </a:t>
            </a:r>
            <a:r>
              <a:rPr lang="ru-RU" b="1" dirty="0">
                <a:solidFill>
                  <a:srgbClr val="FFFF00"/>
                </a:solidFill>
                <a:latin typeface="+mn-lt"/>
              </a:rPr>
              <a:t>интерфейсом командной строки</a:t>
            </a:r>
            <a:r>
              <a:rPr lang="ru-RU" dirty="0">
                <a:solidFill>
                  <a:schemeClr val="bg1"/>
                </a:solidFill>
                <a:latin typeface="+mn-lt"/>
              </a:rPr>
              <a:t> и сопутствующего языка </a:t>
            </a:r>
            <a:r>
              <a:rPr lang="ru-RU" dirty="0" smtClean="0">
                <a:solidFill>
                  <a:schemeClr val="bg1"/>
                </a:solidFill>
                <a:latin typeface="+mn-lt"/>
              </a:rPr>
              <a:t>сценариев</a:t>
            </a:r>
            <a:endParaRPr lang="en-US" dirty="0" smtClean="0">
              <a:solidFill>
                <a:schemeClr val="bg1"/>
              </a:solidFill>
              <a:latin typeface="+mn-lt"/>
            </a:endParaRPr>
          </a:p>
        </p:txBody>
      </p:sp>
      <p:pic>
        <p:nvPicPr>
          <p:cNvPr id="14338" name="Picture 2"/>
          <p:cNvPicPr>
            <a:picLocks noChangeAspect="1" noChangeArrowheads="1"/>
          </p:cNvPicPr>
          <p:nvPr/>
        </p:nvPicPr>
        <p:blipFill>
          <a:blip r:embed="rId3" cstate="print"/>
          <a:srcRect/>
          <a:stretch>
            <a:fillRect/>
          </a:stretch>
        </p:blipFill>
        <p:spPr bwMode="auto">
          <a:xfrm>
            <a:off x="251519" y="1700808"/>
            <a:ext cx="4007663" cy="2232248"/>
          </a:xfrm>
          <a:prstGeom prst="rect">
            <a:avLst/>
          </a:prstGeom>
          <a:noFill/>
          <a:ln w="9525">
            <a:noFill/>
            <a:miter lim="800000"/>
            <a:headEnd/>
            <a:tailEnd/>
          </a:ln>
          <a:effectLst/>
        </p:spPr>
      </p:pic>
      <p:pic>
        <p:nvPicPr>
          <p:cNvPr id="14339" name="Picture 3"/>
          <p:cNvPicPr>
            <a:picLocks noChangeAspect="1" noChangeArrowheads="1"/>
          </p:cNvPicPr>
          <p:nvPr/>
        </p:nvPicPr>
        <p:blipFill>
          <a:blip r:embed="rId4" cstate="print"/>
          <a:srcRect/>
          <a:stretch>
            <a:fillRect/>
          </a:stretch>
        </p:blipFill>
        <p:spPr bwMode="auto">
          <a:xfrm>
            <a:off x="3203848" y="2348880"/>
            <a:ext cx="5526955" cy="2674968"/>
          </a:xfrm>
          <a:prstGeom prst="rect">
            <a:avLst/>
          </a:prstGeom>
          <a:noFill/>
          <a:ln w="9525">
            <a:noFill/>
            <a:miter lim="800000"/>
            <a:headEnd/>
            <a:tailEnd/>
          </a:ln>
          <a:effectLst/>
        </p:spPr>
      </p:pic>
      <p:sp>
        <p:nvSpPr>
          <p:cNvPr id="7" name="Прямоугольник 6"/>
          <p:cNvSpPr/>
          <p:nvPr/>
        </p:nvSpPr>
        <p:spPr>
          <a:xfrm>
            <a:off x="323528" y="5157192"/>
            <a:ext cx="6571030" cy="923330"/>
          </a:xfrm>
          <a:prstGeom prst="rect">
            <a:avLst/>
          </a:prstGeom>
        </p:spPr>
        <p:txBody>
          <a:bodyPr wrap="square">
            <a:spAutoFit/>
          </a:bodyPr>
          <a:lstStyle/>
          <a:p>
            <a:r>
              <a:rPr lang="en-US" dirty="0" smtClean="0">
                <a:solidFill>
                  <a:schemeClr val="bg1"/>
                </a:solidFill>
                <a:latin typeface="+mn-lt"/>
              </a:rPr>
              <a:t>WSL </a:t>
            </a:r>
            <a:r>
              <a:rPr lang="ru-RU" dirty="0" smtClean="0">
                <a:solidFill>
                  <a:schemeClr val="bg1"/>
                </a:solidFill>
                <a:latin typeface="+mn-lt"/>
              </a:rPr>
              <a:t>запускается как команда в </a:t>
            </a:r>
            <a:r>
              <a:rPr lang="en-US" dirty="0" err="1" smtClean="0">
                <a:solidFill>
                  <a:schemeClr val="bg1"/>
                </a:solidFill>
                <a:latin typeface="+mn-lt"/>
              </a:rPr>
              <a:t>PowerShell</a:t>
            </a:r>
            <a:endParaRPr lang="en-US" dirty="0" smtClean="0">
              <a:solidFill>
                <a:schemeClr val="bg1"/>
              </a:solidFill>
              <a:latin typeface="+mn-lt"/>
            </a:endParaRPr>
          </a:p>
          <a:p>
            <a:r>
              <a:rPr lang="en-US" dirty="0" smtClean="0">
                <a:solidFill>
                  <a:srgbClr val="FFFF00"/>
                </a:solidFill>
                <a:latin typeface="+mn-lt"/>
              </a:rPr>
              <a:t>https://docs.microsoft.com/ru-ru/windows/wsl/basic-commands</a:t>
            </a:r>
          </a:p>
          <a:p>
            <a:endParaRPr lang="ru-RU" dirty="0">
              <a:solidFill>
                <a:srgbClr val="FFFF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dirty="0" smtClean="0">
                <a:solidFill>
                  <a:schemeClr val="bg1"/>
                </a:solidFill>
                <a:latin typeface="Calibri" pitchFamily="34" charset="0"/>
              </a:rPr>
              <a:t>WSL – </a:t>
            </a:r>
            <a:r>
              <a:rPr lang="ru-RU" altLang="ru-RU" sz="3200" dirty="0" smtClean="0">
                <a:solidFill>
                  <a:schemeClr val="bg1"/>
                </a:solidFill>
                <a:latin typeface="Calibri" pitchFamily="34" charset="0"/>
              </a:rPr>
              <a:t>команды</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2" name="Прямоугольник 1"/>
          <p:cNvSpPr/>
          <p:nvPr/>
        </p:nvSpPr>
        <p:spPr>
          <a:xfrm>
            <a:off x="179512" y="692696"/>
            <a:ext cx="8721725" cy="369332"/>
          </a:xfrm>
          <a:prstGeom prst="rect">
            <a:avLst/>
          </a:prstGeom>
        </p:spPr>
        <p:txBody>
          <a:bodyPr>
            <a:spAutoFit/>
          </a:bodyPr>
          <a:lstStyle/>
          <a:p>
            <a:pPr algn="just">
              <a:defRPr/>
            </a:pPr>
            <a:r>
              <a:rPr lang="ru-RU" dirty="0" smtClean="0">
                <a:solidFill>
                  <a:schemeClr val="bg1"/>
                </a:solidFill>
                <a:latin typeface="+mn-lt"/>
              </a:rPr>
              <a:t>Просмотр доступных и установленных дистрибутивов </a:t>
            </a:r>
            <a:r>
              <a:rPr lang="en-US" dirty="0" smtClean="0">
                <a:solidFill>
                  <a:schemeClr val="bg1"/>
                </a:solidFill>
                <a:latin typeface="+mn-lt"/>
              </a:rPr>
              <a:t>Linux</a:t>
            </a:r>
          </a:p>
        </p:txBody>
      </p:sp>
      <p:pic>
        <p:nvPicPr>
          <p:cNvPr id="15362" name="Picture 2"/>
          <p:cNvPicPr>
            <a:picLocks noChangeAspect="1" noChangeArrowheads="1"/>
          </p:cNvPicPr>
          <p:nvPr/>
        </p:nvPicPr>
        <p:blipFill>
          <a:blip r:embed="rId3" cstate="print"/>
          <a:srcRect/>
          <a:stretch>
            <a:fillRect/>
          </a:stretch>
        </p:blipFill>
        <p:spPr bwMode="auto">
          <a:xfrm>
            <a:off x="251520" y="1124744"/>
            <a:ext cx="6336704" cy="2469952"/>
          </a:xfrm>
          <a:prstGeom prst="rect">
            <a:avLst/>
          </a:prstGeom>
          <a:noFill/>
          <a:ln w="9525">
            <a:noFill/>
            <a:miter lim="800000"/>
            <a:headEnd/>
            <a:tailEnd/>
          </a:ln>
          <a:effectLst/>
        </p:spPr>
      </p:pic>
      <p:sp>
        <p:nvSpPr>
          <p:cNvPr id="9" name="Прямоугольник 8"/>
          <p:cNvSpPr/>
          <p:nvPr/>
        </p:nvSpPr>
        <p:spPr>
          <a:xfrm>
            <a:off x="251521" y="3717032"/>
            <a:ext cx="3888432" cy="369332"/>
          </a:xfrm>
          <a:prstGeom prst="rect">
            <a:avLst/>
          </a:prstGeom>
        </p:spPr>
        <p:txBody>
          <a:bodyPr wrap="square">
            <a:spAutoFit/>
          </a:bodyPr>
          <a:lstStyle/>
          <a:p>
            <a:pPr algn="just">
              <a:defRPr/>
            </a:pPr>
            <a:r>
              <a:rPr lang="ru-RU" dirty="0" smtClean="0">
                <a:solidFill>
                  <a:schemeClr val="bg1"/>
                </a:solidFill>
                <a:latin typeface="+mn-lt"/>
              </a:rPr>
              <a:t>Установка дистрибутива из списка</a:t>
            </a:r>
            <a:endParaRPr lang="en-US" dirty="0" smtClean="0">
              <a:solidFill>
                <a:schemeClr val="bg1"/>
              </a:solidFill>
              <a:latin typeface="+mn-lt"/>
            </a:endParaRPr>
          </a:p>
        </p:txBody>
      </p:sp>
      <p:pic>
        <p:nvPicPr>
          <p:cNvPr id="15363" name="Picture 3"/>
          <p:cNvPicPr>
            <a:picLocks noChangeAspect="1" noChangeArrowheads="1"/>
          </p:cNvPicPr>
          <p:nvPr/>
        </p:nvPicPr>
        <p:blipFill>
          <a:blip r:embed="rId4" cstate="print"/>
          <a:srcRect/>
          <a:stretch>
            <a:fillRect/>
          </a:stretch>
        </p:blipFill>
        <p:spPr bwMode="auto">
          <a:xfrm>
            <a:off x="251520" y="4077072"/>
            <a:ext cx="4038600" cy="571500"/>
          </a:xfrm>
          <a:prstGeom prst="rect">
            <a:avLst/>
          </a:prstGeom>
          <a:noFill/>
          <a:ln w="9525">
            <a:noFill/>
            <a:miter lim="800000"/>
            <a:headEnd/>
            <a:tailEnd/>
          </a:ln>
          <a:effectLst/>
        </p:spPr>
      </p:pic>
      <p:sp>
        <p:nvSpPr>
          <p:cNvPr id="11" name="Прямоугольник 10"/>
          <p:cNvSpPr/>
          <p:nvPr/>
        </p:nvSpPr>
        <p:spPr>
          <a:xfrm>
            <a:off x="395536" y="4797152"/>
            <a:ext cx="3888432" cy="646331"/>
          </a:xfrm>
          <a:prstGeom prst="rect">
            <a:avLst/>
          </a:prstGeom>
        </p:spPr>
        <p:txBody>
          <a:bodyPr wrap="square">
            <a:spAutoFit/>
          </a:bodyPr>
          <a:lstStyle/>
          <a:p>
            <a:pPr algn="just">
              <a:defRPr/>
            </a:pPr>
            <a:r>
              <a:rPr lang="ru-RU" dirty="0" smtClean="0">
                <a:solidFill>
                  <a:schemeClr val="bg1"/>
                </a:solidFill>
                <a:latin typeface="+mn-lt"/>
              </a:rPr>
              <a:t>Установка дистрибутива </a:t>
            </a:r>
            <a:r>
              <a:rPr lang="en-US" dirty="0">
                <a:solidFill>
                  <a:schemeClr val="bg1"/>
                </a:solidFill>
                <a:latin typeface="+mn-lt"/>
              </a:rPr>
              <a:t>o</a:t>
            </a:r>
            <a:r>
              <a:rPr lang="en-US" dirty="0" smtClean="0">
                <a:solidFill>
                  <a:schemeClr val="bg1"/>
                </a:solidFill>
                <a:latin typeface="+mn-lt"/>
              </a:rPr>
              <a:t>nline</a:t>
            </a:r>
          </a:p>
          <a:p>
            <a:pPr algn="just">
              <a:defRPr/>
            </a:pPr>
            <a:r>
              <a:rPr lang="en-US" dirty="0">
                <a:solidFill>
                  <a:schemeClr val="bg1"/>
                </a:solidFill>
                <a:latin typeface="+mn-lt"/>
              </a:rPr>
              <a:t>https://aka.ms/wslstore - </a:t>
            </a:r>
            <a:r>
              <a:rPr lang="en-US" dirty="0" err="1" smtClean="0">
                <a:solidFill>
                  <a:schemeClr val="bg1"/>
                </a:solidFill>
                <a:latin typeface="+mn-lt"/>
              </a:rPr>
              <a:t>wsl</a:t>
            </a:r>
            <a:r>
              <a:rPr lang="en-US" dirty="0" smtClean="0">
                <a:solidFill>
                  <a:schemeClr val="bg1"/>
                </a:solidFill>
                <a:latin typeface="+mn-lt"/>
              </a:rPr>
              <a:t> </a:t>
            </a:r>
            <a:r>
              <a:rPr lang="en-US" dirty="0" err="1">
                <a:solidFill>
                  <a:schemeClr val="bg1"/>
                </a:solidFill>
                <a:latin typeface="+mn-lt"/>
              </a:rPr>
              <a:t>Ubuntu</a:t>
            </a:r>
            <a:endParaRPr lang="en-US" dirty="0" smtClean="0">
              <a:solidFill>
                <a:schemeClr val="bg1"/>
              </a:solidFill>
              <a:latin typeface="+mn-lt"/>
            </a:endParaRPr>
          </a:p>
        </p:txBody>
      </p:sp>
      <p:pic>
        <p:nvPicPr>
          <p:cNvPr id="15364" name="Picture 4"/>
          <p:cNvPicPr>
            <a:picLocks noChangeAspect="1" noChangeArrowheads="1"/>
          </p:cNvPicPr>
          <p:nvPr/>
        </p:nvPicPr>
        <p:blipFill>
          <a:blip r:embed="rId5" cstate="print"/>
          <a:srcRect/>
          <a:stretch>
            <a:fillRect/>
          </a:stretch>
        </p:blipFill>
        <p:spPr bwMode="auto">
          <a:xfrm>
            <a:off x="5220072" y="3140968"/>
            <a:ext cx="2633498" cy="3024336"/>
          </a:xfrm>
          <a:prstGeom prst="rect">
            <a:avLst/>
          </a:prstGeom>
          <a:noFill/>
          <a:ln w="9525">
            <a:noFill/>
            <a:miter lim="800000"/>
            <a:headEnd/>
            <a:tailEnd/>
          </a:ln>
          <a:effectLst/>
        </p:spPr>
      </p:pic>
      <p:pic>
        <p:nvPicPr>
          <p:cNvPr id="15365" name="Picture 5"/>
          <p:cNvPicPr>
            <a:picLocks noChangeAspect="1" noChangeArrowheads="1"/>
          </p:cNvPicPr>
          <p:nvPr/>
        </p:nvPicPr>
        <p:blipFill>
          <a:blip r:embed="rId6" cstate="print"/>
          <a:srcRect/>
          <a:stretch>
            <a:fillRect/>
          </a:stretch>
        </p:blipFill>
        <p:spPr bwMode="auto">
          <a:xfrm>
            <a:off x="395536" y="5517232"/>
            <a:ext cx="4264408" cy="994345"/>
          </a:xfrm>
          <a:prstGeom prst="rect">
            <a:avLst/>
          </a:prstGeom>
          <a:noFill/>
          <a:ln w="9525">
            <a:noFill/>
            <a:miter lim="800000"/>
            <a:headEnd/>
            <a:tailEnd/>
          </a:ln>
          <a:effectLst/>
        </p:spPr>
      </p:pic>
      <p:sp>
        <p:nvSpPr>
          <p:cNvPr id="14" name="Прямоугольник 13"/>
          <p:cNvSpPr/>
          <p:nvPr/>
        </p:nvSpPr>
        <p:spPr>
          <a:xfrm>
            <a:off x="5344914" y="6237312"/>
            <a:ext cx="3180807" cy="369332"/>
          </a:xfrm>
          <a:prstGeom prst="rect">
            <a:avLst/>
          </a:prstGeom>
        </p:spPr>
        <p:txBody>
          <a:bodyPr wrap="none">
            <a:spAutoFit/>
          </a:bodyPr>
          <a:lstStyle/>
          <a:p>
            <a:pPr algn="just">
              <a:defRPr/>
            </a:pPr>
            <a:r>
              <a:rPr lang="ru-RU" dirty="0" smtClean="0">
                <a:solidFill>
                  <a:schemeClr val="bg1"/>
                </a:solidFill>
                <a:latin typeface="+mn-lt"/>
              </a:rPr>
              <a:t>При установке – логин</a:t>
            </a:r>
            <a:r>
              <a:rPr lang="en-US" dirty="0" smtClean="0">
                <a:solidFill>
                  <a:schemeClr val="bg1"/>
                </a:solidFill>
                <a:latin typeface="+mn-lt"/>
              </a:rPr>
              <a:t>/</a:t>
            </a:r>
            <a:r>
              <a:rPr lang="ru-RU" dirty="0" smtClean="0">
                <a:solidFill>
                  <a:schemeClr val="bg1"/>
                </a:solidFill>
                <a:latin typeface="+mn-lt"/>
              </a:rPr>
              <a:t>пароль</a:t>
            </a:r>
            <a:endParaRPr lang="en-US" dirty="0">
              <a:solidFill>
                <a:schemeClr val="bg1"/>
              </a:solidFill>
              <a:latin typeface="+mn-l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dirty="0" smtClean="0">
                <a:solidFill>
                  <a:schemeClr val="bg1"/>
                </a:solidFill>
                <a:latin typeface="Calibri" pitchFamily="34" charset="0"/>
              </a:rPr>
              <a:t>WSL – </a:t>
            </a:r>
            <a:r>
              <a:rPr lang="ru-RU" altLang="ru-RU" sz="3200" dirty="0" smtClean="0">
                <a:solidFill>
                  <a:schemeClr val="bg1"/>
                </a:solidFill>
                <a:latin typeface="Calibri" pitchFamily="34" charset="0"/>
              </a:rPr>
              <a:t>команды</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2" name="Прямоугольник 1"/>
          <p:cNvSpPr/>
          <p:nvPr/>
        </p:nvSpPr>
        <p:spPr>
          <a:xfrm>
            <a:off x="179512" y="692696"/>
            <a:ext cx="8721725" cy="369332"/>
          </a:xfrm>
          <a:prstGeom prst="rect">
            <a:avLst/>
          </a:prstGeom>
        </p:spPr>
        <p:txBody>
          <a:bodyPr>
            <a:spAutoFit/>
          </a:bodyPr>
          <a:lstStyle/>
          <a:p>
            <a:pPr algn="just">
              <a:defRPr/>
            </a:pPr>
            <a:r>
              <a:rPr lang="ru-RU" dirty="0" smtClean="0">
                <a:solidFill>
                  <a:schemeClr val="bg1"/>
                </a:solidFill>
                <a:latin typeface="+mn-lt"/>
              </a:rPr>
              <a:t>Старт </a:t>
            </a:r>
            <a:r>
              <a:rPr lang="en-US" dirty="0" smtClean="0">
                <a:solidFill>
                  <a:schemeClr val="bg1"/>
                </a:solidFill>
                <a:latin typeface="+mn-lt"/>
              </a:rPr>
              <a:t>Linux </a:t>
            </a:r>
            <a:r>
              <a:rPr lang="ru-RU" dirty="0" smtClean="0">
                <a:solidFill>
                  <a:schemeClr val="bg1"/>
                </a:solidFill>
                <a:latin typeface="+mn-lt"/>
              </a:rPr>
              <a:t>и авторизация</a:t>
            </a:r>
            <a:endParaRPr lang="en-US" dirty="0" smtClean="0">
              <a:solidFill>
                <a:schemeClr val="bg1"/>
              </a:solidFill>
              <a:latin typeface="+mn-lt"/>
            </a:endParaRPr>
          </a:p>
        </p:txBody>
      </p:sp>
      <p:pic>
        <p:nvPicPr>
          <p:cNvPr id="16387" name="Picture 3"/>
          <p:cNvPicPr>
            <a:picLocks noChangeAspect="1" noChangeArrowheads="1"/>
          </p:cNvPicPr>
          <p:nvPr/>
        </p:nvPicPr>
        <p:blipFill>
          <a:blip r:embed="rId3" cstate="print"/>
          <a:srcRect/>
          <a:stretch>
            <a:fillRect/>
          </a:stretch>
        </p:blipFill>
        <p:spPr bwMode="auto">
          <a:xfrm>
            <a:off x="251520" y="1052736"/>
            <a:ext cx="4162425" cy="904875"/>
          </a:xfrm>
          <a:prstGeom prst="rect">
            <a:avLst/>
          </a:prstGeom>
          <a:noFill/>
          <a:ln w="9525">
            <a:noFill/>
            <a:miter lim="800000"/>
            <a:headEnd/>
            <a:tailEnd/>
          </a:ln>
          <a:effectLst/>
        </p:spPr>
      </p:pic>
      <p:pic>
        <p:nvPicPr>
          <p:cNvPr id="16388" name="Picture 4"/>
          <p:cNvPicPr>
            <a:picLocks noChangeAspect="1" noChangeArrowheads="1"/>
          </p:cNvPicPr>
          <p:nvPr/>
        </p:nvPicPr>
        <p:blipFill>
          <a:blip r:embed="rId4" cstate="print"/>
          <a:srcRect/>
          <a:stretch>
            <a:fillRect/>
          </a:stretch>
        </p:blipFill>
        <p:spPr bwMode="auto">
          <a:xfrm>
            <a:off x="4499992" y="692696"/>
            <a:ext cx="4451857" cy="4801022"/>
          </a:xfrm>
          <a:prstGeom prst="rect">
            <a:avLst/>
          </a:prstGeom>
          <a:noFill/>
          <a:ln w="9525">
            <a:noFill/>
            <a:miter lim="800000"/>
            <a:headEnd/>
            <a:tailEnd/>
          </a:ln>
          <a:effectLst/>
        </p:spPr>
      </p:pic>
      <p:sp>
        <p:nvSpPr>
          <p:cNvPr id="14" name="Прямоугольник 13"/>
          <p:cNvSpPr/>
          <p:nvPr/>
        </p:nvSpPr>
        <p:spPr>
          <a:xfrm>
            <a:off x="395536" y="5661248"/>
            <a:ext cx="8496943" cy="646331"/>
          </a:xfrm>
          <a:prstGeom prst="rect">
            <a:avLst/>
          </a:prstGeom>
        </p:spPr>
        <p:txBody>
          <a:bodyPr wrap="square">
            <a:spAutoFit/>
          </a:bodyPr>
          <a:lstStyle/>
          <a:p>
            <a:pPr algn="just">
              <a:defRPr/>
            </a:pPr>
            <a:r>
              <a:rPr lang="ru-RU" dirty="0" smtClean="0">
                <a:solidFill>
                  <a:schemeClr val="bg1"/>
                </a:solidFill>
                <a:latin typeface="+mn-lt"/>
              </a:rPr>
              <a:t>Смешанное исполнение программ в </a:t>
            </a:r>
            <a:r>
              <a:rPr lang="en-US" dirty="0" smtClean="0">
                <a:solidFill>
                  <a:schemeClr val="bg1"/>
                </a:solidFill>
                <a:latin typeface="+mn-lt"/>
              </a:rPr>
              <a:t>Linux </a:t>
            </a:r>
            <a:r>
              <a:rPr lang="ru-RU" dirty="0" smtClean="0">
                <a:solidFill>
                  <a:schemeClr val="bg1"/>
                </a:solidFill>
                <a:latin typeface="+mn-lt"/>
              </a:rPr>
              <a:t>и </a:t>
            </a:r>
            <a:r>
              <a:rPr lang="en-US" dirty="0" smtClean="0">
                <a:solidFill>
                  <a:schemeClr val="bg1"/>
                </a:solidFill>
                <a:latin typeface="+mn-lt"/>
              </a:rPr>
              <a:t>Windows</a:t>
            </a:r>
            <a:r>
              <a:rPr lang="ru-RU" dirty="0" smtClean="0">
                <a:solidFill>
                  <a:schemeClr val="bg1"/>
                </a:solidFill>
                <a:latin typeface="+mn-lt"/>
              </a:rPr>
              <a:t>, проводник </a:t>
            </a:r>
            <a:r>
              <a:rPr lang="en-US" dirty="0" smtClean="0">
                <a:solidFill>
                  <a:schemeClr val="bg1"/>
                </a:solidFill>
                <a:latin typeface="+mn-lt"/>
              </a:rPr>
              <a:t>Windows </a:t>
            </a:r>
            <a:r>
              <a:rPr lang="ru-RU" dirty="0" smtClean="0">
                <a:solidFill>
                  <a:schemeClr val="bg1"/>
                </a:solidFill>
                <a:latin typeface="+mn-lt"/>
              </a:rPr>
              <a:t>с корневым каталогом </a:t>
            </a:r>
            <a:r>
              <a:rPr lang="en-US" dirty="0" smtClean="0">
                <a:solidFill>
                  <a:schemeClr val="bg1"/>
                </a:solidFill>
                <a:latin typeface="+mn-lt"/>
              </a:rPr>
              <a:t>Linux</a:t>
            </a:r>
          </a:p>
        </p:txBody>
      </p:sp>
      <p:cxnSp>
        <p:nvCxnSpPr>
          <p:cNvPr id="9" name="Прямая со стрелкой 8"/>
          <p:cNvCxnSpPr/>
          <p:nvPr/>
        </p:nvCxnSpPr>
        <p:spPr>
          <a:xfrm flipH="1">
            <a:off x="7164288" y="4221088"/>
            <a:ext cx="648072" cy="100811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dirty="0" smtClean="0">
                <a:solidFill>
                  <a:schemeClr val="bg1"/>
                </a:solidFill>
                <a:latin typeface="Calibri" pitchFamily="34" charset="0"/>
              </a:rPr>
              <a:t>WSL /</a:t>
            </a:r>
            <a:r>
              <a:rPr lang="en-US" altLang="ru-RU" sz="3200" dirty="0" err="1" smtClean="0">
                <a:solidFill>
                  <a:schemeClr val="bg1"/>
                </a:solidFill>
                <a:latin typeface="Calibri" pitchFamily="34" charset="0"/>
              </a:rPr>
              <a:t>Ubuntu</a:t>
            </a:r>
            <a:r>
              <a:rPr lang="en-US" altLang="ru-RU" sz="3200" dirty="0" smtClean="0">
                <a:solidFill>
                  <a:schemeClr val="bg1"/>
                </a:solidFill>
                <a:latin typeface="Calibri" pitchFamily="34" charset="0"/>
              </a:rPr>
              <a:t> – </a:t>
            </a:r>
            <a:r>
              <a:rPr lang="ru-RU" altLang="ru-RU" sz="3200" dirty="0" smtClean="0">
                <a:solidFill>
                  <a:schemeClr val="bg1"/>
                </a:solidFill>
                <a:latin typeface="Calibri" pitchFamily="34" charset="0"/>
              </a:rPr>
              <a:t>установка компонент</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3" cstate="print"/>
          <a:srcRect/>
          <a:stretch>
            <a:fillRect/>
          </a:stretch>
        </p:blipFill>
        <p:spPr bwMode="auto">
          <a:xfrm>
            <a:off x="263525" y="206375"/>
            <a:ext cx="400050" cy="400050"/>
          </a:xfrm>
          <a:prstGeom prst="rect">
            <a:avLst/>
          </a:prstGeom>
          <a:noFill/>
          <a:ln w="9525">
            <a:noFill/>
            <a:miter lim="800000"/>
            <a:headEnd/>
            <a:tailEnd/>
          </a:ln>
        </p:spPr>
      </p:pic>
      <p:sp>
        <p:nvSpPr>
          <p:cNvPr id="2" name="Прямоугольник 1"/>
          <p:cNvSpPr/>
          <p:nvPr/>
        </p:nvSpPr>
        <p:spPr>
          <a:xfrm>
            <a:off x="179512" y="692696"/>
            <a:ext cx="8721725" cy="3970318"/>
          </a:xfrm>
          <a:prstGeom prst="rect">
            <a:avLst/>
          </a:prstGeom>
        </p:spPr>
        <p:txBody>
          <a:bodyPr>
            <a:spAutoFit/>
          </a:bodyPr>
          <a:lstStyle/>
          <a:p>
            <a:pPr algn="just">
              <a:defRPr/>
            </a:pPr>
            <a:r>
              <a:rPr lang="ru-RU" dirty="0" smtClean="0">
                <a:solidFill>
                  <a:srgbClr val="FFFF00"/>
                </a:solidFill>
              </a:rPr>
              <a:t>Установка </a:t>
            </a:r>
            <a:r>
              <a:rPr lang="en-US" dirty="0" smtClean="0">
                <a:solidFill>
                  <a:srgbClr val="FFFF00"/>
                </a:solidFill>
              </a:rPr>
              <a:t>c/</a:t>
            </a:r>
            <a:r>
              <a:rPr lang="en-US" dirty="0" err="1" smtClean="0">
                <a:solidFill>
                  <a:srgbClr val="FFFF00"/>
                </a:solidFill>
              </a:rPr>
              <a:t>c++</a:t>
            </a:r>
            <a:r>
              <a:rPr lang="en-US" dirty="0" smtClean="0">
                <a:solidFill>
                  <a:srgbClr val="FFFF00"/>
                </a:solidFill>
              </a:rPr>
              <a:t> </a:t>
            </a:r>
            <a:r>
              <a:rPr lang="ru-RU" dirty="0" smtClean="0">
                <a:solidFill>
                  <a:srgbClr val="FFFF00"/>
                </a:solidFill>
              </a:rPr>
              <a:t>в </a:t>
            </a:r>
            <a:r>
              <a:rPr lang="en-US" dirty="0" err="1" smtClean="0">
                <a:solidFill>
                  <a:srgbClr val="FFFF00"/>
                </a:solidFill>
              </a:rPr>
              <a:t>wsl</a:t>
            </a:r>
            <a:r>
              <a:rPr lang="en-US" dirty="0" smtClean="0">
                <a:solidFill>
                  <a:srgbClr val="FFFF00"/>
                </a:solidFill>
              </a:rPr>
              <a:t>/</a:t>
            </a:r>
            <a:r>
              <a:rPr lang="en-US" dirty="0" err="1" smtClean="0">
                <a:solidFill>
                  <a:srgbClr val="FFFF00"/>
                </a:solidFill>
              </a:rPr>
              <a:t>Ubuntu</a:t>
            </a:r>
            <a:endParaRPr lang="en-US" dirty="0" smtClean="0">
              <a:solidFill>
                <a:srgbClr val="FFFF00"/>
              </a:solidFill>
            </a:endParaRPr>
          </a:p>
          <a:p>
            <a:pPr algn="just">
              <a:defRPr/>
            </a:pPr>
            <a:r>
              <a:rPr lang="en-US" dirty="0" err="1" smtClean="0">
                <a:solidFill>
                  <a:schemeClr val="bg1"/>
                </a:solidFill>
              </a:rPr>
              <a:t>sudo</a:t>
            </a:r>
            <a:r>
              <a:rPr lang="en-US" dirty="0" smtClean="0">
                <a:solidFill>
                  <a:schemeClr val="bg1"/>
                </a:solidFill>
              </a:rPr>
              <a:t> apt-get update</a:t>
            </a:r>
          </a:p>
          <a:p>
            <a:pPr algn="just">
              <a:defRPr/>
            </a:pPr>
            <a:r>
              <a:rPr lang="en-US" dirty="0" err="1" smtClean="0">
                <a:solidFill>
                  <a:schemeClr val="bg1"/>
                </a:solidFill>
              </a:rPr>
              <a:t>sudo</a:t>
            </a:r>
            <a:r>
              <a:rPr lang="en-US" dirty="0" smtClean="0">
                <a:solidFill>
                  <a:schemeClr val="bg1"/>
                </a:solidFill>
              </a:rPr>
              <a:t> apt install </a:t>
            </a:r>
            <a:r>
              <a:rPr lang="en-US" dirty="0" err="1" smtClean="0">
                <a:solidFill>
                  <a:schemeClr val="bg1"/>
                </a:solidFill>
              </a:rPr>
              <a:t>gcc</a:t>
            </a:r>
            <a:endParaRPr lang="en-US" dirty="0" smtClean="0">
              <a:solidFill>
                <a:schemeClr val="bg1"/>
              </a:solidFill>
            </a:endParaRPr>
          </a:p>
          <a:p>
            <a:pPr algn="just">
              <a:defRPr/>
            </a:pPr>
            <a:r>
              <a:rPr lang="en-US" dirty="0" err="1" smtClean="0">
                <a:solidFill>
                  <a:schemeClr val="bg1"/>
                </a:solidFill>
              </a:rPr>
              <a:t>sudo</a:t>
            </a:r>
            <a:r>
              <a:rPr lang="en-US" dirty="0" smtClean="0">
                <a:solidFill>
                  <a:schemeClr val="bg1"/>
                </a:solidFill>
              </a:rPr>
              <a:t> apt install g++</a:t>
            </a:r>
          </a:p>
          <a:p>
            <a:pPr algn="just">
              <a:defRPr/>
            </a:pPr>
            <a:r>
              <a:rPr lang="en-US" dirty="0" err="1" smtClean="0">
                <a:solidFill>
                  <a:schemeClr val="bg1"/>
                </a:solidFill>
              </a:rPr>
              <a:t>sudo</a:t>
            </a:r>
            <a:r>
              <a:rPr lang="en-US" dirty="0" smtClean="0">
                <a:solidFill>
                  <a:schemeClr val="bg1"/>
                </a:solidFill>
              </a:rPr>
              <a:t> apt-get install build-essential </a:t>
            </a:r>
            <a:r>
              <a:rPr lang="en-US" dirty="0" err="1" smtClean="0">
                <a:solidFill>
                  <a:schemeClr val="bg1"/>
                </a:solidFill>
              </a:rPr>
              <a:t>gdb</a:t>
            </a:r>
            <a:endParaRPr lang="en-US" dirty="0" smtClean="0">
              <a:solidFill>
                <a:schemeClr val="bg1"/>
              </a:solidFill>
            </a:endParaRPr>
          </a:p>
          <a:p>
            <a:pPr algn="just">
              <a:defRPr/>
            </a:pPr>
            <a:endParaRPr lang="en-US" dirty="0" smtClean="0">
              <a:solidFill>
                <a:schemeClr val="bg1"/>
              </a:solidFill>
            </a:endParaRPr>
          </a:p>
          <a:p>
            <a:pPr algn="just">
              <a:defRPr/>
            </a:pPr>
            <a:r>
              <a:rPr lang="ru-RU" dirty="0" smtClean="0">
                <a:solidFill>
                  <a:srgbClr val="FFFF00"/>
                </a:solidFill>
              </a:rPr>
              <a:t>Установка </a:t>
            </a:r>
            <a:r>
              <a:rPr lang="en-US" dirty="0" err="1" smtClean="0">
                <a:solidFill>
                  <a:srgbClr val="FFFF00"/>
                </a:solidFill>
              </a:rPr>
              <a:t>CodeBlocks</a:t>
            </a:r>
            <a:r>
              <a:rPr lang="en-US" dirty="0" smtClean="0">
                <a:solidFill>
                  <a:srgbClr val="FFFF00"/>
                </a:solidFill>
              </a:rPr>
              <a:t> </a:t>
            </a:r>
            <a:endParaRPr lang="ru-RU" dirty="0" smtClean="0">
              <a:solidFill>
                <a:srgbClr val="FFFF00"/>
              </a:solidFill>
            </a:endParaRPr>
          </a:p>
          <a:p>
            <a:pPr algn="just">
              <a:defRPr/>
            </a:pPr>
            <a:r>
              <a:rPr lang="en-US" dirty="0" err="1" smtClean="0">
                <a:solidFill>
                  <a:schemeClr val="bg1"/>
                </a:solidFill>
              </a:rPr>
              <a:t>sudo</a:t>
            </a:r>
            <a:r>
              <a:rPr lang="en-US" dirty="0" smtClean="0">
                <a:solidFill>
                  <a:schemeClr val="bg1"/>
                </a:solidFill>
              </a:rPr>
              <a:t> add-apt-repository </a:t>
            </a:r>
            <a:r>
              <a:rPr lang="en-US" dirty="0" err="1" smtClean="0">
                <a:solidFill>
                  <a:schemeClr val="bg1"/>
                </a:solidFill>
              </a:rPr>
              <a:t>ppa:damien-moore</a:t>
            </a:r>
            <a:r>
              <a:rPr lang="en-US" dirty="0" smtClean="0">
                <a:solidFill>
                  <a:schemeClr val="bg1"/>
                </a:solidFill>
              </a:rPr>
              <a:t>/</a:t>
            </a:r>
            <a:r>
              <a:rPr lang="en-US" dirty="0" err="1" smtClean="0">
                <a:solidFill>
                  <a:schemeClr val="bg1"/>
                </a:solidFill>
              </a:rPr>
              <a:t>codeblocks</a:t>
            </a:r>
            <a:r>
              <a:rPr lang="en-US" dirty="0" smtClean="0">
                <a:solidFill>
                  <a:schemeClr val="bg1"/>
                </a:solidFill>
              </a:rPr>
              <a:t>-stable</a:t>
            </a:r>
          </a:p>
          <a:p>
            <a:pPr algn="just">
              <a:defRPr/>
            </a:pPr>
            <a:r>
              <a:rPr lang="en-US" dirty="0" err="1" smtClean="0">
                <a:solidFill>
                  <a:schemeClr val="bg1"/>
                </a:solidFill>
              </a:rPr>
              <a:t>sudo</a:t>
            </a:r>
            <a:r>
              <a:rPr lang="en-US" dirty="0" smtClean="0">
                <a:solidFill>
                  <a:schemeClr val="bg1"/>
                </a:solidFill>
              </a:rPr>
              <a:t> apt update </a:t>
            </a:r>
          </a:p>
          <a:p>
            <a:pPr algn="just">
              <a:defRPr/>
            </a:pPr>
            <a:r>
              <a:rPr lang="en-US" dirty="0" err="1" smtClean="0">
                <a:solidFill>
                  <a:schemeClr val="bg1"/>
                </a:solidFill>
              </a:rPr>
              <a:t>sudo</a:t>
            </a:r>
            <a:r>
              <a:rPr lang="en-US" dirty="0" smtClean="0">
                <a:solidFill>
                  <a:schemeClr val="bg1"/>
                </a:solidFill>
              </a:rPr>
              <a:t> apt install </a:t>
            </a:r>
            <a:r>
              <a:rPr lang="en-US" dirty="0" err="1" smtClean="0">
                <a:solidFill>
                  <a:schemeClr val="bg1"/>
                </a:solidFill>
              </a:rPr>
              <a:t>codeblocks</a:t>
            </a:r>
            <a:r>
              <a:rPr lang="en-US" dirty="0" smtClean="0">
                <a:solidFill>
                  <a:schemeClr val="bg1"/>
                </a:solidFill>
              </a:rPr>
              <a:t> </a:t>
            </a:r>
            <a:r>
              <a:rPr lang="en-US" dirty="0" err="1" smtClean="0">
                <a:solidFill>
                  <a:schemeClr val="bg1"/>
                </a:solidFill>
              </a:rPr>
              <a:t>codeblocks-contrib</a:t>
            </a:r>
            <a:endParaRPr lang="en-US" dirty="0" smtClean="0">
              <a:solidFill>
                <a:schemeClr val="bg1"/>
              </a:solidFill>
            </a:endParaRPr>
          </a:p>
          <a:p>
            <a:pPr algn="just">
              <a:defRPr/>
            </a:pPr>
            <a:endParaRPr lang="en-US" dirty="0" smtClean="0">
              <a:solidFill>
                <a:schemeClr val="bg1"/>
              </a:solidFill>
            </a:endParaRPr>
          </a:p>
          <a:p>
            <a:pPr algn="just">
              <a:defRPr/>
            </a:pPr>
            <a:r>
              <a:rPr lang="ru-RU" dirty="0" smtClean="0">
                <a:solidFill>
                  <a:srgbClr val="FFFF00"/>
                </a:solidFill>
              </a:rPr>
              <a:t>Установка </a:t>
            </a:r>
            <a:r>
              <a:rPr lang="en-US" dirty="0" err="1" smtClean="0">
                <a:solidFill>
                  <a:srgbClr val="FFFF00"/>
                </a:solidFill>
              </a:rPr>
              <a:t>freeGlut</a:t>
            </a:r>
            <a:r>
              <a:rPr lang="en-US" dirty="0" smtClean="0">
                <a:solidFill>
                  <a:srgbClr val="FFFF00"/>
                </a:solidFill>
              </a:rPr>
              <a:t> (</a:t>
            </a:r>
            <a:r>
              <a:rPr lang="ru-RU" dirty="0" smtClean="0">
                <a:solidFill>
                  <a:srgbClr val="FFFF00"/>
                </a:solidFill>
              </a:rPr>
              <a:t>3</a:t>
            </a:r>
            <a:r>
              <a:rPr lang="en-US" dirty="0" smtClean="0">
                <a:solidFill>
                  <a:srgbClr val="FFFF00"/>
                </a:solidFill>
              </a:rPr>
              <a:t>D-</a:t>
            </a:r>
            <a:r>
              <a:rPr lang="ru-RU" dirty="0" smtClean="0">
                <a:solidFill>
                  <a:srgbClr val="FFFF00"/>
                </a:solidFill>
              </a:rPr>
              <a:t>графика </a:t>
            </a:r>
            <a:r>
              <a:rPr lang="en-US" dirty="0" smtClean="0">
                <a:solidFill>
                  <a:srgbClr val="FFFF00"/>
                </a:solidFill>
              </a:rPr>
              <a:t>OpenGL </a:t>
            </a:r>
            <a:r>
              <a:rPr lang="ru-RU" dirty="0" smtClean="0">
                <a:solidFill>
                  <a:srgbClr val="FFFF00"/>
                </a:solidFill>
              </a:rPr>
              <a:t>для РГР)</a:t>
            </a:r>
            <a:endParaRPr lang="en-US" dirty="0" smtClean="0">
              <a:solidFill>
                <a:srgbClr val="FFFF00"/>
              </a:solidFill>
            </a:endParaRPr>
          </a:p>
          <a:p>
            <a:pPr algn="just">
              <a:defRPr/>
            </a:pPr>
            <a:r>
              <a:rPr lang="en-US" dirty="0" err="1" smtClean="0">
                <a:solidFill>
                  <a:schemeClr val="bg1"/>
                </a:solidFill>
              </a:rPr>
              <a:t>sudo</a:t>
            </a:r>
            <a:r>
              <a:rPr lang="en-US" dirty="0" smtClean="0">
                <a:solidFill>
                  <a:schemeClr val="bg1"/>
                </a:solidFill>
              </a:rPr>
              <a:t> apt-get install freeglut3 </a:t>
            </a:r>
            <a:r>
              <a:rPr lang="en-US" dirty="0" err="1" smtClean="0">
                <a:solidFill>
                  <a:schemeClr val="bg1"/>
                </a:solidFill>
              </a:rPr>
              <a:t>freeglut3</a:t>
            </a:r>
            <a:r>
              <a:rPr lang="en-US" dirty="0" smtClean="0">
                <a:solidFill>
                  <a:schemeClr val="bg1"/>
                </a:solidFill>
              </a:rPr>
              <a:t>-dev</a:t>
            </a:r>
          </a:p>
          <a:p>
            <a:pPr algn="just">
              <a:defRPr/>
            </a:pPr>
            <a:r>
              <a:rPr lang="en-US" dirty="0" err="1" smtClean="0">
                <a:solidFill>
                  <a:schemeClr val="bg1"/>
                </a:solidFill>
              </a:rPr>
              <a:t>sudo</a:t>
            </a:r>
            <a:r>
              <a:rPr lang="en-US" dirty="0" smtClean="0">
                <a:solidFill>
                  <a:schemeClr val="bg1"/>
                </a:solidFill>
              </a:rPr>
              <a:t> apt-get install </a:t>
            </a:r>
            <a:r>
              <a:rPr lang="en-US" dirty="0" err="1" smtClean="0">
                <a:solidFill>
                  <a:schemeClr val="bg1"/>
                </a:solidFill>
              </a:rPr>
              <a:t>binutils</a:t>
            </a:r>
            <a:r>
              <a:rPr lang="en-US" dirty="0" smtClean="0">
                <a:solidFill>
                  <a:schemeClr val="bg1"/>
                </a:solidFill>
              </a:rPr>
              <a:t>-gold</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ru-RU" altLang="ru-RU" sz="3200" dirty="0" smtClean="0">
                <a:solidFill>
                  <a:schemeClr val="bg1"/>
                </a:solidFill>
                <a:latin typeface="Calibri" pitchFamily="34" charset="0"/>
              </a:rPr>
              <a:t>Графика для приложений </a:t>
            </a:r>
            <a:r>
              <a:rPr lang="en-US" altLang="ru-RU" sz="3200" dirty="0" smtClean="0">
                <a:solidFill>
                  <a:schemeClr val="bg1"/>
                </a:solidFill>
                <a:latin typeface="Calibri" pitchFamily="34" charset="0"/>
              </a:rPr>
              <a:t>Linux</a:t>
            </a:r>
            <a:r>
              <a:rPr lang="ru-RU" altLang="ru-RU" sz="3200" dirty="0" smtClean="0">
                <a:solidFill>
                  <a:schemeClr val="bg1"/>
                </a:solidFill>
                <a:latin typeface="Calibri" pitchFamily="34" charset="0"/>
              </a:rPr>
              <a:t> в </a:t>
            </a:r>
            <a:r>
              <a:rPr lang="en-US" altLang="ru-RU" sz="3200" dirty="0" smtClean="0">
                <a:solidFill>
                  <a:schemeClr val="bg1"/>
                </a:solidFill>
                <a:latin typeface="Calibri" pitchFamily="34" charset="0"/>
              </a:rPr>
              <a:t>WSL</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2" cstate="print"/>
          <a:srcRect/>
          <a:stretch>
            <a:fillRect/>
          </a:stretch>
        </p:blipFill>
        <p:spPr bwMode="auto">
          <a:xfrm>
            <a:off x="263525" y="206375"/>
            <a:ext cx="400050" cy="400050"/>
          </a:xfrm>
          <a:prstGeom prst="rect">
            <a:avLst/>
          </a:prstGeom>
          <a:noFill/>
          <a:ln w="9525">
            <a:noFill/>
            <a:miter lim="800000"/>
            <a:headEnd/>
            <a:tailEnd/>
          </a:ln>
        </p:spPr>
      </p:pic>
      <p:sp>
        <p:nvSpPr>
          <p:cNvPr id="2" name="Прямоугольник 1"/>
          <p:cNvSpPr/>
          <p:nvPr/>
        </p:nvSpPr>
        <p:spPr>
          <a:xfrm>
            <a:off x="179512" y="692696"/>
            <a:ext cx="8721725" cy="3970318"/>
          </a:xfrm>
          <a:prstGeom prst="rect">
            <a:avLst/>
          </a:prstGeom>
        </p:spPr>
        <p:txBody>
          <a:bodyPr>
            <a:spAutoFit/>
          </a:bodyPr>
          <a:lstStyle/>
          <a:p>
            <a:pPr algn="just">
              <a:defRPr/>
            </a:pPr>
            <a:r>
              <a:rPr lang="en-US" dirty="0" err="1" smtClean="0">
                <a:solidFill>
                  <a:srgbClr val="FFFF00"/>
                </a:solidFill>
                <a:latin typeface="+mn-lt"/>
              </a:rPr>
              <a:t>VcXsrv</a:t>
            </a:r>
            <a:r>
              <a:rPr lang="en-US" dirty="0" smtClean="0">
                <a:solidFill>
                  <a:srgbClr val="FFFF00"/>
                </a:solidFill>
                <a:latin typeface="+mn-lt"/>
              </a:rPr>
              <a:t> </a:t>
            </a:r>
            <a:r>
              <a:rPr lang="ru-RU" dirty="0" smtClean="0">
                <a:solidFill>
                  <a:schemeClr val="bg1"/>
                </a:solidFill>
                <a:latin typeface="+mn-lt"/>
              </a:rPr>
              <a:t>под </a:t>
            </a:r>
            <a:r>
              <a:rPr lang="en-US" dirty="0" smtClean="0">
                <a:solidFill>
                  <a:schemeClr val="bg1"/>
                </a:solidFill>
                <a:latin typeface="+mn-lt"/>
              </a:rPr>
              <a:t>Windows - </a:t>
            </a:r>
            <a:r>
              <a:rPr lang="ru-RU" dirty="0" smtClean="0">
                <a:solidFill>
                  <a:schemeClr val="bg1"/>
                </a:solidFill>
                <a:latin typeface="+mn-lt"/>
              </a:rPr>
              <a:t>эмуляция граф. интерфейса </a:t>
            </a:r>
            <a:r>
              <a:rPr lang="en-US" dirty="0" smtClean="0">
                <a:solidFill>
                  <a:schemeClr val="bg1"/>
                </a:solidFill>
                <a:latin typeface="+mn-lt"/>
              </a:rPr>
              <a:t>Linux </a:t>
            </a:r>
            <a:r>
              <a:rPr lang="ru-RU" dirty="0" smtClean="0">
                <a:solidFill>
                  <a:schemeClr val="bg1"/>
                </a:solidFill>
                <a:latin typeface="+mn-lt"/>
              </a:rPr>
              <a:t>под </a:t>
            </a:r>
            <a:r>
              <a:rPr lang="en-US" dirty="0" smtClean="0">
                <a:solidFill>
                  <a:schemeClr val="bg1"/>
                </a:solidFill>
                <a:latin typeface="+mn-lt"/>
              </a:rPr>
              <a:t>Windows – </a:t>
            </a:r>
            <a:r>
              <a:rPr lang="ru-RU" dirty="0" smtClean="0">
                <a:solidFill>
                  <a:schemeClr val="bg1"/>
                </a:solidFill>
                <a:latin typeface="+mn-lt"/>
              </a:rPr>
              <a:t>сервер графики</a:t>
            </a:r>
            <a:endParaRPr lang="en-US" dirty="0" smtClean="0">
              <a:solidFill>
                <a:schemeClr val="bg1"/>
              </a:solidFill>
              <a:latin typeface="+mn-lt"/>
            </a:endParaRPr>
          </a:p>
          <a:p>
            <a:pPr algn="just">
              <a:defRPr/>
            </a:pPr>
            <a:r>
              <a:rPr lang="en-US" dirty="0" smtClean="0">
                <a:solidFill>
                  <a:schemeClr val="bg1"/>
                </a:solidFill>
                <a:latin typeface="+mn-lt"/>
              </a:rPr>
              <a:t>https://sourceforge.net/projects/vcxsrv/</a:t>
            </a:r>
          </a:p>
          <a:p>
            <a:pPr algn="just">
              <a:defRPr/>
            </a:pPr>
            <a:endParaRPr lang="ru-RU" dirty="0" smtClean="0">
              <a:solidFill>
                <a:schemeClr val="bg1"/>
              </a:solidFill>
              <a:latin typeface="+mn-lt"/>
            </a:endParaRPr>
          </a:p>
          <a:p>
            <a:pPr algn="just">
              <a:defRPr/>
            </a:pPr>
            <a:r>
              <a:rPr lang="ru-RU" dirty="0" smtClean="0">
                <a:solidFill>
                  <a:schemeClr val="bg1"/>
                </a:solidFill>
                <a:latin typeface="+mn-lt"/>
              </a:rPr>
              <a:t>При запуске </a:t>
            </a:r>
            <a:r>
              <a:rPr lang="en-US" dirty="0" err="1" smtClean="0">
                <a:solidFill>
                  <a:schemeClr val="bg1"/>
                </a:solidFill>
                <a:latin typeface="+mn-lt"/>
              </a:rPr>
              <a:t>XLaunch</a:t>
            </a:r>
            <a:r>
              <a:rPr lang="en-US" dirty="0" smtClean="0">
                <a:solidFill>
                  <a:schemeClr val="bg1"/>
                </a:solidFill>
                <a:latin typeface="+mn-lt"/>
              </a:rPr>
              <a:t> </a:t>
            </a:r>
            <a:r>
              <a:rPr lang="ru-RU" dirty="0" smtClean="0">
                <a:solidFill>
                  <a:schemeClr val="bg1"/>
                </a:solidFill>
                <a:latin typeface="+mn-lt"/>
              </a:rPr>
              <a:t>в 3 окне по счету "</a:t>
            </a:r>
            <a:r>
              <a:rPr lang="en-US" dirty="0" smtClean="0">
                <a:solidFill>
                  <a:schemeClr val="bg1"/>
                </a:solidFill>
                <a:latin typeface="+mn-lt"/>
              </a:rPr>
              <a:t>Extra settings" </a:t>
            </a:r>
          </a:p>
          <a:p>
            <a:pPr algn="just">
              <a:buFont typeface="Arial" pitchFamily="34" charset="0"/>
              <a:buChar char="•"/>
              <a:defRPr/>
            </a:pPr>
            <a:r>
              <a:rPr lang="en-US" dirty="0" smtClean="0">
                <a:solidFill>
                  <a:schemeClr val="bg1"/>
                </a:solidFill>
                <a:latin typeface="+mn-lt"/>
              </a:rPr>
              <a:t> Disable Access Control</a:t>
            </a:r>
          </a:p>
          <a:p>
            <a:pPr algn="just">
              <a:buFont typeface="Arial" pitchFamily="34" charset="0"/>
              <a:buChar char="•"/>
              <a:defRPr/>
            </a:pPr>
            <a:r>
              <a:rPr lang="en-US" dirty="0" smtClean="0">
                <a:solidFill>
                  <a:schemeClr val="bg1"/>
                </a:solidFill>
                <a:latin typeface="+mn-lt"/>
              </a:rPr>
              <a:t> </a:t>
            </a:r>
            <a:r>
              <a:rPr lang="ru-RU" dirty="0" smtClean="0">
                <a:solidFill>
                  <a:schemeClr val="bg1"/>
                </a:solidFill>
                <a:latin typeface="+mn-lt"/>
              </a:rPr>
              <a:t>в поле "</a:t>
            </a:r>
            <a:r>
              <a:rPr lang="en-US" dirty="0" smtClean="0">
                <a:solidFill>
                  <a:schemeClr val="bg1"/>
                </a:solidFill>
                <a:latin typeface="+mn-lt"/>
              </a:rPr>
              <a:t>Additional parameters for </a:t>
            </a:r>
            <a:r>
              <a:rPr lang="en-US" dirty="0" err="1" smtClean="0">
                <a:solidFill>
                  <a:schemeClr val="bg1"/>
                </a:solidFill>
                <a:latin typeface="+mn-lt"/>
              </a:rPr>
              <a:t>VcXsrv</a:t>
            </a:r>
            <a:r>
              <a:rPr lang="en-US" dirty="0" smtClean="0">
                <a:solidFill>
                  <a:schemeClr val="bg1"/>
                </a:solidFill>
                <a:latin typeface="+mn-lt"/>
              </a:rPr>
              <a:t>" </a:t>
            </a:r>
            <a:r>
              <a:rPr lang="ru-RU" dirty="0" smtClean="0">
                <a:solidFill>
                  <a:schemeClr val="bg1"/>
                </a:solidFill>
                <a:latin typeface="+mn-lt"/>
              </a:rPr>
              <a:t>ввести строку:</a:t>
            </a:r>
          </a:p>
          <a:p>
            <a:pPr algn="just">
              <a:defRPr/>
            </a:pPr>
            <a:r>
              <a:rPr lang="ru-RU" dirty="0" smtClean="0">
                <a:solidFill>
                  <a:schemeClr val="bg1"/>
                </a:solidFill>
                <a:latin typeface="+mn-lt"/>
              </a:rPr>
              <a:t>-</a:t>
            </a:r>
            <a:r>
              <a:rPr lang="en-US" dirty="0" err="1" smtClean="0">
                <a:solidFill>
                  <a:schemeClr val="bg1"/>
                </a:solidFill>
                <a:latin typeface="+mn-lt"/>
              </a:rPr>
              <a:t>xkblayout</a:t>
            </a:r>
            <a:r>
              <a:rPr lang="en-US" dirty="0" smtClean="0">
                <a:solidFill>
                  <a:schemeClr val="bg1"/>
                </a:solidFill>
                <a:latin typeface="+mn-lt"/>
              </a:rPr>
              <a:t> </a:t>
            </a:r>
            <a:r>
              <a:rPr lang="en-US" dirty="0" err="1" smtClean="0">
                <a:solidFill>
                  <a:schemeClr val="bg1"/>
                </a:solidFill>
                <a:latin typeface="+mn-lt"/>
              </a:rPr>
              <a:t>us,ru</a:t>
            </a:r>
            <a:r>
              <a:rPr lang="en-US" dirty="0" smtClean="0">
                <a:solidFill>
                  <a:schemeClr val="bg1"/>
                </a:solidFill>
                <a:latin typeface="+mn-lt"/>
              </a:rPr>
              <a:t> -</a:t>
            </a:r>
            <a:r>
              <a:rPr lang="en-US" dirty="0" err="1" smtClean="0">
                <a:solidFill>
                  <a:schemeClr val="bg1"/>
                </a:solidFill>
                <a:latin typeface="+mn-lt"/>
              </a:rPr>
              <a:t>xkbvariant</a:t>
            </a:r>
            <a:r>
              <a:rPr lang="en-US" dirty="0" smtClean="0">
                <a:solidFill>
                  <a:schemeClr val="bg1"/>
                </a:solidFill>
                <a:latin typeface="+mn-lt"/>
              </a:rPr>
              <a:t> </a:t>
            </a:r>
            <a:r>
              <a:rPr lang="en-US" dirty="0" err="1" smtClean="0">
                <a:solidFill>
                  <a:schemeClr val="bg1"/>
                </a:solidFill>
                <a:latin typeface="+mn-lt"/>
              </a:rPr>
              <a:t>winkeys</a:t>
            </a:r>
            <a:r>
              <a:rPr lang="en-US" dirty="0" smtClean="0">
                <a:solidFill>
                  <a:schemeClr val="bg1"/>
                </a:solidFill>
                <a:latin typeface="+mn-lt"/>
              </a:rPr>
              <a:t> -</a:t>
            </a:r>
            <a:r>
              <a:rPr lang="en-US" dirty="0" err="1" smtClean="0">
                <a:solidFill>
                  <a:schemeClr val="bg1"/>
                </a:solidFill>
                <a:latin typeface="+mn-lt"/>
              </a:rPr>
              <a:t>xkboptions</a:t>
            </a:r>
            <a:r>
              <a:rPr lang="en-US" dirty="0" smtClean="0">
                <a:solidFill>
                  <a:schemeClr val="bg1"/>
                </a:solidFill>
                <a:latin typeface="+mn-lt"/>
              </a:rPr>
              <a:t> </a:t>
            </a:r>
            <a:r>
              <a:rPr lang="en-US" dirty="0" err="1" smtClean="0">
                <a:solidFill>
                  <a:schemeClr val="bg1"/>
                </a:solidFill>
                <a:latin typeface="+mn-lt"/>
              </a:rPr>
              <a:t>grp:ctrl_shift_toggle</a:t>
            </a:r>
            <a:endParaRPr lang="en-US" dirty="0" smtClean="0">
              <a:solidFill>
                <a:schemeClr val="bg1"/>
              </a:solidFill>
              <a:latin typeface="+mn-lt"/>
            </a:endParaRPr>
          </a:p>
          <a:p>
            <a:pPr algn="just">
              <a:defRPr/>
            </a:pPr>
            <a:endParaRPr lang="ru-RU" dirty="0" smtClean="0">
              <a:solidFill>
                <a:schemeClr val="bg1"/>
              </a:solidFill>
              <a:latin typeface="+mn-lt"/>
            </a:endParaRPr>
          </a:p>
          <a:p>
            <a:pPr algn="just">
              <a:defRPr/>
            </a:pPr>
            <a:r>
              <a:rPr lang="en-US" dirty="0" smtClean="0">
                <a:solidFill>
                  <a:schemeClr val="bg1"/>
                </a:solidFill>
                <a:latin typeface="+mn-lt"/>
              </a:rPr>
              <a:t>Linux</a:t>
            </a:r>
            <a:r>
              <a:rPr lang="ru-RU" dirty="0" smtClean="0">
                <a:solidFill>
                  <a:schemeClr val="bg1"/>
                </a:solidFill>
                <a:latin typeface="+mn-lt"/>
              </a:rPr>
              <a:t> (</a:t>
            </a:r>
            <a:r>
              <a:rPr lang="en-US" dirty="0" smtClean="0">
                <a:solidFill>
                  <a:schemeClr val="bg1"/>
                </a:solidFill>
                <a:latin typeface="+mn-lt"/>
              </a:rPr>
              <a:t>WSL</a:t>
            </a:r>
            <a:r>
              <a:rPr lang="ru-RU" dirty="0" smtClean="0">
                <a:solidFill>
                  <a:schemeClr val="bg1"/>
                </a:solidFill>
                <a:latin typeface="+mn-lt"/>
              </a:rPr>
              <a:t>)</a:t>
            </a:r>
            <a:r>
              <a:rPr lang="en-US" dirty="0" smtClean="0">
                <a:solidFill>
                  <a:schemeClr val="bg1"/>
                </a:solidFill>
                <a:latin typeface="+mn-lt"/>
              </a:rPr>
              <a:t>:</a:t>
            </a:r>
            <a:endParaRPr lang="ru-RU" dirty="0" smtClean="0">
              <a:solidFill>
                <a:schemeClr val="bg1"/>
              </a:solidFill>
              <a:latin typeface="+mn-lt"/>
            </a:endParaRPr>
          </a:p>
          <a:p>
            <a:pPr algn="just">
              <a:defRPr/>
            </a:pPr>
            <a:r>
              <a:rPr lang="en-US" dirty="0" smtClean="0">
                <a:solidFill>
                  <a:schemeClr val="bg1"/>
                </a:solidFill>
                <a:latin typeface="+mn-lt"/>
              </a:rPr>
              <a:t>cat /etc/</a:t>
            </a:r>
            <a:r>
              <a:rPr lang="en-US" dirty="0" err="1" smtClean="0">
                <a:solidFill>
                  <a:schemeClr val="bg1"/>
                </a:solidFill>
                <a:latin typeface="+mn-lt"/>
              </a:rPr>
              <a:t>resolv.conf</a:t>
            </a:r>
            <a:endParaRPr lang="en-US" dirty="0" smtClean="0">
              <a:solidFill>
                <a:schemeClr val="bg1"/>
              </a:solidFill>
              <a:latin typeface="+mn-lt"/>
            </a:endParaRPr>
          </a:p>
          <a:p>
            <a:pPr algn="just">
              <a:defRPr/>
            </a:pPr>
            <a:r>
              <a:rPr lang="en-US" dirty="0" smtClean="0">
                <a:solidFill>
                  <a:schemeClr val="bg1"/>
                </a:solidFill>
                <a:latin typeface="+mn-lt"/>
              </a:rPr>
              <a:t> - </a:t>
            </a:r>
            <a:r>
              <a:rPr lang="ru-RU" dirty="0" smtClean="0">
                <a:solidFill>
                  <a:schemeClr val="bg1"/>
                </a:solidFill>
                <a:latin typeface="+mn-lt"/>
              </a:rPr>
              <a:t>получить </a:t>
            </a:r>
            <a:r>
              <a:rPr lang="en-US" dirty="0" err="1" smtClean="0">
                <a:solidFill>
                  <a:schemeClr val="bg1"/>
                </a:solidFill>
                <a:latin typeface="+mn-lt"/>
              </a:rPr>
              <a:t>ip</a:t>
            </a:r>
            <a:r>
              <a:rPr lang="en-US" dirty="0" smtClean="0">
                <a:solidFill>
                  <a:schemeClr val="bg1"/>
                </a:solidFill>
                <a:latin typeface="+mn-lt"/>
              </a:rPr>
              <a:t>, </a:t>
            </a:r>
            <a:r>
              <a:rPr lang="ru-RU" dirty="0" smtClean="0">
                <a:solidFill>
                  <a:schemeClr val="bg1"/>
                </a:solidFill>
                <a:latin typeface="+mn-lt"/>
              </a:rPr>
              <a:t>через который работать</a:t>
            </a:r>
          </a:p>
          <a:p>
            <a:pPr algn="just">
              <a:defRPr/>
            </a:pPr>
            <a:r>
              <a:rPr lang="ru-RU" dirty="0" smtClean="0">
                <a:solidFill>
                  <a:schemeClr val="bg1"/>
                </a:solidFill>
                <a:latin typeface="+mn-lt"/>
              </a:rPr>
              <a:t>172.31.224.1, выполнить команду</a:t>
            </a:r>
          </a:p>
          <a:p>
            <a:pPr algn="just">
              <a:defRPr/>
            </a:pPr>
            <a:r>
              <a:rPr lang="en-US" dirty="0" smtClean="0">
                <a:solidFill>
                  <a:schemeClr val="bg1"/>
                </a:solidFill>
                <a:latin typeface="+mn-lt"/>
              </a:rPr>
              <a:t>export DISPLAY=172.31.224.1</a:t>
            </a:r>
            <a:r>
              <a:rPr lang="en-US" dirty="0" smtClean="0">
                <a:solidFill>
                  <a:srgbClr val="FFFF00"/>
                </a:solidFill>
                <a:latin typeface="+mn-lt"/>
              </a:rPr>
              <a:t>:0</a:t>
            </a:r>
          </a:p>
          <a:p>
            <a:pPr algn="just">
              <a:defRPr/>
            </a:pPr>
            <a:endParaRPr lang="ru-RU" dirty="0">
              <a:solidFill>
                <a:schemeClr val="bg1"/>
              </a:solidFill>
            </a:endParaRPr>
          </a:p>
        </p:txBody>
      </p:sp>
      <p:pic>
        <p:nvPicPr>
          <p:cNvPr id="1026" name="Picture 2"/>
          <p:cNvPicPr>
            <a:picLocks noChangeAspect="1" noChangeArrowheads="1"/>
          </p:cNvPicPr>
          <p:nvPr/>
        </p:nvPicPr>
        <p:blipFill>
          <a:blip r:embed="rId3" cstate="print"/>
          <a:srcRect/>
          <a:stretch>
            <a:fillRect/>
          </a:stretch>
        </p:blipFill>
        <p:spPr bwMode="auto">
          <a:xfrm>
            <a:off x="6876256" y="1124744"/>
            <a:ext cx="1863477" cy="1244895"/>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cstate="print"/>
          <a:srcRect/>
          <a:stretch>
            <a:fillRect/>
          </a:stretch>
        </p:blipFill>
        <p:spPr bwMode="auto">
          <a:xfrm>
            <a:off x="5292080" y="2852936"/>
            <a:ext cx="3638561" cy="2913559"/>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cstate="print"/>
          <a:srcRect/>
          <a:stretch>
            <a:fillRect/>
          </a:stretch>
        </p:blipFill>
        <p:spPr bwMode="auto">
          <a:xfrm>
            <a:off x="251521" y="5351320"/>
            <a:ext cx="5616623" cy="13108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Заголовок 5"/>
          <p:cNvSpPr txBox="1">
            <a:spLocks/>
          </p:cNvSpPr>
          <p:nvPr/>
        </p:nvSpPr>
        <p:spPr bwMode="auto">
          <a:xfrm>
            <a:off x="493713" y="174625"/>
            <a:ext cx="8229600" cy="431800"/>
          </a:xfrm>
          <a:prstGeom prst="rect">
            <a:avLst/>
          </a:prstGeom>
          <a:noFill/>
          <a:ln w="9525">
            <a:noFill/>
            <a:miter lim="800000"/>
            <a:headEnd/>
            <a:tailEnd/>
          </a:ln>
        </p:spPr>
        <p:txBody>
          <a:bodyPr anchor="ctr"/>
          <a:lstStyle/>
          <a:p>
            <a:pPr algn="ctr">
              <a:lnSpc>
                <a:spcPct val="80000"/>
              </a:lnSpc>
            </a:pPr>
            <a:r>
              <a:rPr lang="en-US" altLang="ru-RU" sz="3200" dirty="0" smtClean="0">
                <a:solidFill>
                  <a:schemeClr val="bg1"/>
                </a:solidFill>
                <a:latin typeface="Calibri" pitchFamily="34" charset="0"/>
              </a:rPr>
              <a:t>WSL  </a:t>
            </a:r>
            <a:r>
              <a:rPr lang="en-US" altLang="ru-RU" sz="3200" dirty="0" err="1" smtClean="0">
                <a:solidFill>
                  <a:schemeClr val="bg1"/>
                </a:solidFill>
                <a:latin typeface="Calibri" pitchFamily="34" charset="0"/>
              </a:rPr>
              <a:t>CodeBlocks</a:t>
            </a:r>
            <a:r>
              <a:rPr lang="en-US" altLang="ru-RU" sz="3200" dirty="0" smtClean="0">
                <a:solidFill>
                  <a:schemeClr val="bg1"/>
                </a:solidFill>
                <a:latin typeface="Calibri" pitchFamily="34" charset="0"/>
              </a:rPr>
              <a:t>/</a:t>
            </a:r>
            <a:r>
              <a:rPr lang="en-US" altLang="ru-RU" sz="3200" dirty="0" err="1" smtClean="0">
                <a:solidFill>
                  <a:schemeClr val="bg1"/>
                </a:solidFill>
                <a:latin typeface="Calibri" pitchFamily="34" charset="0"/>
              </a:rPr>
              <a:t>FreeGlut</a:t>
            </a:r>
            <a:endParaRPr lang="ru-RU" altLang="ru-RU" sz="3200" dirty="0">
              <a:solidFill>
                <a:schemeClr val="bg1"/>
              </a:solidFill>
              <a:latin typeface="Calibri" pitchFamily="34" charset="0"/>
            </a:endParaRPr>
          </a:p>
        </p:txBody>
      </p:sp>
      <p:pic>
        <p:nvPicPr>
          <p:cNvPr id="2051" name="Рисунок 4"/>
          <p:cNvPicPr>
            <a:picLocks noChangeAspect="1"/>
          </p:cNvPicPr>
          <p:nvPr/>
        </p:nvPicPr>
        <p:blipFill>
          <a:blip r:embed="rId3" cstate="print"/>
          <a:srcRect/>
          <a:stretch>
            <a:fillRect/>
          </a:stretch>
        </p:blipFill>
        <p:spPr bwMode="auto">
          <a:xfrm>
            <a:off x="263525" y="206375"/>
            <a:ext cx="400050" cy="400050"/>
          </a:xfrm>
          <a:prstGeom prst="rect">
            <a:avLst/>
          </a:prstGeom>
          <a:noFill/>
          <a:ln w="9525">
            <a:noFill/>
            <a:miter lim="800000"/>
            <a:headEnd/>
            <a:tailEnd/>
          </a:ln>
        </p:spPr>
      </p:pic>
      <p:sp>
        <p:nvSpPr>
          <p:cNvPr id="5" name="Прямоугольник 4"/>
          <p:cNvSpPr/>
          <p:nvPr/>
        </p:nvSpPr>
        <p:spPr>
          <a:xfrm>
            <a:off x="467544" y="764705"/>
            <a:ext cx="4176464" cy="2308324"/>
          </a:xfrm>
          <a:prstGeom prst="rect">
            <a:avLst/>
          </a:prstGeom>
        </p:spPr>
        <p:txBody>
          <a:bodyPr wrap="square">
            <a:spAutoFit/>
          </a:bodyPr>
          <a:lstStyle/>
          <a:p>
            <a:pPr marL="342900" indent="-342900">
              <a:buFont typeface="+mj-lt"/>
              <a:buAutoNum type="arabicPeriod"/>
            </a:pPr>
            <a:r>
              <a:rPr lang="ru-RU" dirty="0" smtClean="0">
                <a:solidFill>
                  <a:schemeClr val="bg1"/>
                </a:solidFill>
                <a:latin typeface="+mn-lt"/>
              </a:rPr>
              <a:t>Запустить и настроить </a:t>
            </a:r>
            <a:r>
              <a:rPr lang="en-US" dirty="0" err="1" smtClean="0">
                <a:solidFill>
                  <a:srgbClr val="FFFF00"/>
                </a:solidFill>
                <a:latin typeface="+mn-lt"/>
              </a:rPr>
              <a:t>VcXsrv</a:t>
            </a:r>
            <a:r>
              <a:rPr lang="en-US" dirty="0" smtClean="0">
                <a:solidFill>
                  <a:srgbClr val="FFFF00"/>
                </a:solidFill>
                <a:latin typeface="+mn-lt"/>
              </a:rPr>
              <a:t> </a:t>
            </a:r>
            <a:r>
              <a:rPr lang="ru-RU" dirty="0" smtClean="0">
                <a:solidFill>
                  <a:schemeClr val="bg1"/>
                </a:solidFill>
                <a:latin typeface="+mn-lt"/>
              </a:rPr>
              <a:t>под </a:t>
            </a:r>
            <a:r>
              <a:rPr lang="en-US" dirty="0" smtClean="0">
                <a:solidFill>
                  <a:schemeClr val="bg1"/>
                </a:solidFill>
                <a:latin typeface="+mn-lt"/>
              </a:rPr>
              <a:t>Windows</a:t>
            </a:r>
            <a:r>
              <a:rPr lang="ru-RU" dirty="0" smtClean="0">
                <a:solidFill>
                  <a:schemeClr val="bg1"/>
                </a:solidFill>
                <a:latin typeface="+mn-lt"/>
              </a:rPr>
              <a:t>, настроить в </a:t>
            </a:r>
            <a:r>
              <a:rPr lang="en-US" dirty="0" smtClean="0">
                <a:solidFill>
                  <a:schemeClr val="bg1"/>
                </a:solidFill>
                <a:latin typeface="+mn-lt"/>
              </a:rPr>
              <a:t>WSL</a:t>
            </a:r>
            <a:r>
              <a:rPr lang="ru-RU" dirty="0" smtClean="0">
                <a:solidFill>
                  <a:schemeClr val="bg1"/>
                </a:solidFill>
                <a:latin typeface="+mn-lt"/>
              </a:rPr>
              <a:t> (см.выше)</a:t>
            </a:r>
            <a:endParaRPr lang="en-US" dirty="0" smtClean="0">
              <a:solidFill>
                <a:schemeClr val="bg1"/>
              </a:solidFill>
              <a:latin typeface="+mn-lt"/>
            </a:endParaRPr>
          </a:p>
          <a:p>
            <a:pPr marL="342900" indent="-342900">
              <a:buFont typeface="+mj-lt"/>
              <a:buAutoNum type="arabicPeriod"/>
            </a:pPr>
            <a:r>
              <a:rPr lang="ru-RU" dirty="0" smtClean="0">
                <a:solidFill>
                  <a:schemeClr val="bg1"/>
                </a:solidFill>
                <a:latin typeface="+mn-lt"/>
              </a:rPr>
              <a:t>Запустить </a:t>
            </a:r>
            <a:r>
              <a:rPr lang="en-US" dirty="0" err="1" smtClean="0">
                <a:solidFill>
                  <a:schemeClr val="bg1"/>
                </a:solidFill>
                <a:latin typeface="+mn-lt"/>
              </a:rPr>
              <a:t>CodeBlocks</a:t>
            </a:r>
            <a:r>
              <a:rPr lang="en-US" dirty="0" smtClean="0">
                <a:solidFill>
                  <a:schemeClr val="bg1"/>
                </a:solidFill>
                <a:latin typeface="+mn-lt"/>
              </a:rPr>
              <a:t> </a:t>
            </a:r>
            <a:r>
              <a:rPr lang="ru-RU" dirty="0" smtClean="0">
                <a:solidFill>
                  <a:schemeClr val="bg1"/>
                </a:solidFill>
                <a:latin typeface="+mn-lt"/>
              </a:rPr>
              <a:t>под </a:t>
            </a:r>
            <a:r>
              <a:rPr lang="en-US" smtClean="0">
                <a:solidFill>
                  <a:schemeClr val="bg1"/>
                </a:solidFill>
                <a:latin typeface="+mn-lt"/>
              </a:rPr>
              <a:t>WSL</a:t>
            </a:r>
            <a:endParaRPr lang="en-US" dirty="0" smtClean="0">
              <a:solidFill>
                <a:schemeClr val="bg1"/>
              </a:solidFill>
              <a:latin typeface="+mn-lt"/>
            </a:endParaRPr>
          </a:p>
          <a:p>
            <a:pPr marL="342900" indent="-342900">
              <a:buFont typeface="+mj-lt"/>
              <a:buAutoNum type="arabicPeriod"/>
            </a:pPr>
            <a:r>
              <a:rPr lang="ru-RU" dirty="0" smtClean="0">
                <a:solidFill>
                  <a:schemeClr val="bg1"/>
                </a:solidFill>
                <a:latin typeface="+mn-lt"/>
              </a:rPr>
              <a:t>Меню </a:t>
            </a:r>
            <a:r>
              <a:rPr lang="en-US" dirty="0" smtClean="0">
                <a:solidFill>
                  <a:schemeClr val="bg1"/>
                </a:solidFill>
                <a:latin typeface="+mn-lt"/>
              </a:rPr>
              <a:t>Settings – Compiler – Linker Settings – </a:t>
            </a:r>
            <a:r>
              <a:rPr lang="ru-RU" dirty="0" smtClean="0">
                <a:solidFill>
                  <a:schemeClr val="bg1"/>
                </a:solidFill>
                <a:latin typeface="+mn-lt"/>
              </a:rPr>
              <a:t>Поле </a:t>
            </a:r>
            <a:r>
              <a:rPr lang="en-US" dirty="0" smtClean="0">
                <a:solidFill>
                  <a:schemeClr val="bg1"/>
                </a:solidFill>
                <a:latin typeface="+mn-lt"/>
              </a:rPr>
              <a:t>Other Linker Options</a:t>
            </a:r>
            <a:endParaRPr lang="ru-RU" dirty="0" smtClean="0">
              <a:solidFill>
                <a:schemeClr val="bg1"/>
              </a:solidFill>
              <a:latin typeface="+mn-lt"/>
            </a:endParaRPr>
          </a:p>
          <a:p>
            <a:pPr marL="342900" indent="-342900"/>
            <a:r>
              <a:rPr lang="ru-RU" dirty="0" smtClean="0">
                <a:solidFill>
                  <a:schemeClr val="bg1"/>
                </a:solidFill>
                <a:latin typeface="+mn-lt"/>
              </a:rPr>
              <a:t>       </a:t>
            </a:r>
            <a:r>
              <a:rPr lang="en-US" dirty="0" smtClean="0">
                <a:solidFill>
                  <a:schemeClr val="bg1"/>
                </a:solidFill>
                <a:latin typeface="+mn-lt"/>
              </a:rPr>
              <a:t>-</a:t>
            </a:r>
            <a:r>
              <a:rPr lang="en-US" dirty="0" err="1" smtClean="0">
                <a:solidFill>
                  <a:schemeClr val="bg1"/>
                </a:solidFill>
                <a:latin typeface="+mn-lt"/>
              </a:rPr>
              <a:t>lGL</a:t>
            </a:r>
            <a:r>
              <a:rPr lang="en-US" dirty="0" smtClean="0">
                <a:solidFill>
                  <a:schemeClr val="bg1"/>
                </a:solidFill>
                <a:latin typeface="+mn-lt"/>
              </a:rPr>
              <a:t> -</a:t>
            </a:r>
            <a:r>
              <a:rPr lang="en-US" dirty="0" err="1" smtClean="0">
                <a:solidFill>
                  <a:schemeClr val="bg1"/>
                </a:solidFill>
                <a:latin typeface="+mn-lt"/>
              </a:rPr>
              <a:t>lGLU</a:t>
            </a:r>
            <a:r>
              <a:rPr lang="en-US" dirty="0" smtClean="0">
                <a:solidFill>
                  <a:schemeClr val="bg1"/>
                </a:solidFill>
                <a:latin typeface="+mn-lt"/>
              </a:rPr>
              <a:t> –</a:t>
            </a:r>
            <a:r>
              <a:rPr lang="en-US" dirty="0" err="1" smtClean="0">
                <a:solidFill>
                  <a:schemeClr val="bg1"/>
                </a:solidFill>
                <a:latin typeface="+mn-lt"/>
              </a:rPr>
              <a:t>lglut</a:t>
            </a:r>
            <a:endParaRPr lang="en-US" dirty="0" smtClean="0">
              <a:solidFill>
                <a:schemeClr val="bg1"/>
              </a:solidFill>
              <a:latin typeface="+mn-lt"/>
            </a:endParaRPr>
          </a:p>
          <a:p>
            <a:pPr marL="342900" indent="-342900">
              <a:buFont typeface="+mj-lt"/>
              <a:buAutoNum type="arabicPeriod"/>
            </a:pPr>
            <a:r>
              <a:rPr lang="ru-RU" dirty="0" smtClean="0">
                <a:solidFill>
                  <a:schemeClr val="bg1"/>
                </a:solidFill>
                <a:latin typeface="+mn-lt"/>
              </a:rPr>
              <a:t>Создать проект </a:t>
            </a:r>
            <a:r>
              <a:rPr lang="en-US" dirty="0" smtClean="0">
                <a:solidFill>
                  <a:schemeClr val="bg1"/>
                </a:solidFill>
                <a:latin typeface="+mn-lt"/>
              </a:rPr>
              <a:t>Console Application</a:t>
            </a:r>
          </a:p>
          <a:p>
            <a:pPr marL="342900" indent="-342900">
              <a:buFont typeface="+mj-lt"/>
              <a:buAutoNum type="arabicPeriod"/>
            </a:pPr>
            <a:r>
              <a:rPr lang="ru-RU" dirty="0" smtClean="0">
                <a:solidFill>
                  <a:schemeClr val="bg1"/>
                </a:solidFill>
                <a:latin typeface="+mn-lt"/>
              </a:rPr>
              <a:t>Добавить файл примера</a:t>
            </a:r>
            <a:endParaRPr lang="en-US" dirty="0" smtClean="0">
              <a:solidFill>
                <a:schemeClr val="bg1"/>
              </a:solidFill>
              <a:latin typeface="+mn-lt"/>
            </a:endParaRPr>
          </a:p>
        </p:txBody>
      </p:sp>
      <p:pic>
        <p:nvPicPr>
          <p:cNvPr id="3" name="Picture 2"/>
          <p:cNvPicPr>
            <a:picLocks noChangeAspect="1" noChangeArrowheads="1"/>
          </p:cNvPicPr>
          <p:nvPr/>
        </p:nvPicPr>
        <p:blipFill>
          <a:blip r:embed="rId4" cstate="print"/>
          <a:srcRect/>
          <a:stretch>
            <a:fillRect/>
          </a:stretch>
        </p:blipFill>
        <p:spPr bwMode="auto">
          <a:xfrm>
            <a:off x="5292080" y="692696"/>
            <a:ext cx="3354338" cy="531676"/>
          </a:xfrm>
          <a:prstGeom prst="rect">
            <a:avLst/>
          </a:prstGeom>
          <a:noFill/>
          <a:ln w="9525">
            <a:noFill/>
            <a:miter lim="800000"/>
            <a:headEnd/>
            <a:tailEnd/>
          </a:ln>
          <a:effectLst/>
        </p:spPr>
      </p:pic>
      <p:pic>
        <p:nvPicPr>
          <p:cNvPr id="4" name="Picture 3"/>
          <p:cNvPicPr>
            <a:picLocks noChangeAspect="1" noChangeArrowheads="1"/>
          </p:cNvPicPr>
          <p:nvPr/>
        </p:nvPicPr>
        <p:blipFill>
          <a:blip r:embed="rId5" cstate="print"/>
          <a:srcRect/>
          <a:stretch>
            <a:fillRect/>
          </a:stretch>
        </p:blipFill>
        <p:spPr bwMode="auto">
          <a:xfrm>
            <a:off x="4427984" y="1412776"/>
            <a:ext cx="4577705" cy="2181474"/>
          </a:xfrm>
          <a:prstGeom prst="rect">
            <a:avLst/>
          </a:prstGeom>
          <a:noFill/>
          <a:ln w="9525">
            <a:noFill/>
            <a:miter lim="800000"/>
            <a:headEnd/>
            <a:tailEnd/>
          </a:ln>
          <a:effectLst/>
        </p:spPr>
      </p:pic>
      <p:pic>
        <p:nvPicPr>
          <p:cNvPr id="2052" name="Picture 4"/>
          <p:cNvPicPr>
            <a:picLocks noChangeAspect="1" noChangeArrowheads="1"/>
          </p:cNvPicPr>
          <p:nvPr/>
        </p:nvPicPr>
        <p:blipFill>
          <a:blip r:embed="rId6" cstate="print"/>
          <a:srcRect/>
          <a:stretch>
            <a:fillRect/>
          </a:stretch>
        </p:blipFill>
        <p:spPr bwMode="auto">
          <a:xfrm>
            <a:off x="251520" y="3356992"/>
            <a:ext cx="4464496" cy="1428948"/>
          </a:xfrm>
          <a:prstGeom prst="rect">
            <a:avLst/>
          </a:prstGeom>
          <a:noFill/>
          <a:ln w="9525">
            <a:noFill/>
            <a:miter lim="800000"/>
            <a:headEnd/>
            <a:tailEnd/>
          </a:ln>
          <a:effectLst/>
        </p:spPr>
      </p:pic>
      <p:pic>
        <p:nvPicPr>
          <p:cNvPr id="2053" name="Picture 5"/>
          <p:cNvPicPr>
            <a:picLocks noChangeAspect="1" noChangeArrowheads="1"/>
          </p:cNvPicPr>
          <p:nvPr/>
        </p:nvPicPr>
        <p:blipFill>
          <a:blip r:embed="rId7" cstate="print"/>
          <a:srcRect/>
          <a:stretch>
            <a:fillRect/>
          </a:stretch>
        </p:blipFill>
        <p:spPr bwMode="auto">
          <a:xfrm>
            <a:off x="3563888" y="3861048"/>
            <a:ext cx="5472608" cy="28999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971600" y="188640"/>
            <a:ext cx="7345114"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ru-RU" sz="3200" smtClean="0">
                <a:solidFill>
                  <a:schemeClr val="bg1"/>
                </a:solidFill>
                <a:latin typeface="+mn-lt"/>
              </a:rPr>
              <a:t>4. </a:t>
            </a:r>
            <a:r>
              <a:rPr lang="ru-RU" altLang="ru-RU" sz="3200" smtClean="0">
                <a:solidFill>
                  <a:schemeClr val="bg1"/>
                </a:solidFill>
                <a:latin typeface="+mn-lt"/>
              </a:rPr>
              <a:t>Виртуализация. Контейнеры. </a:t>
            </a:r>
            <a:r>
              <a:rPr lang="en-US" altLang="ru-RU" sz="3200">
                <a:solidFill>
                  <a:schemeClr val="bg1"/>
                </a:solidFill>
                <a:latin typeface="+mn-lt"/>
              </a:rPr>
              <a:t>Docker</a:t>
            </a:r>
            <a:endParaRPr lang="ru-RU" altLang="ru-RU" sz="3200" dirty="0">
              <a:solidFill>
                <a:schemeClr val="bg1"/>
              </a:solidFill>
              <a:latin typeface="+mn-lt"/>
            </a:endParaRPr>
          </a:p>
        </p:txBody>
      </p:sp>
      <p:pic>
        <p:nvPicPr>
          <p:cNvPr id="10243"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8" name="Прямоугольник 1"/>
          <p:cNvSpPr>
            <a:spLocks noChangeArrowheads="1"/>
          </p:cNvSpPr>
          <p:nvPr/>
        </p:nvSpPr>
        <p:spPr bwMode="auto">
          <a:xfrm>
            <a:off x="2124075" y="836613"/>
            <a:ext cx="6551613" cy="5078412"/>
          </a:xfrm>
          <a:prstGeom prst="rect">
            <a:avLst/>
          </a:prstGeom>
          <a:noFill/>
          <a:ln w="9525">
            <a:noFill/>
            <a:miter lim="800000"/>
            <a:headEnd/>
            <a:tailEnd/>
          </a:ln>
        </p:spPr>
        <p:txBody>
          <a:bodyPr>
            <a:spAutoFit/>
          </a:bodyPr>
          <a:lstStyle/>
          <a:p>
            <a:pPr algn="r">
              <a:defRPr/>
            </a:pPr>
            <a:r>
              <a:rPr lang="ru-RU" i="1">
                <a:solidFill>
                  <a:schemeClr val="bg1"/>
                </a:solidFill>
                <a:latin typeface="+mn-lt"/>
              </a:rPr>
              <a:t>Иа-Иа, увидев </a:t>
            </a:r>
            <a:r>
              <a:rPr lang="ru-RU" i="1">
                <a:solidFill>
                  <a:srgbClr val="FFFF00"/>
                </a:solidFill>
                <a:latin typeface="+mn-lt"/>
              </a:rPr>
              <a:t>контейнер</a:t>
            </a:r>
            <a:r>
              <a:rPr lang="ru-RU" i="1">
                <a:solidFill>
                  <a:schemeClr val="bg1"/>
                </a:solidFill>
                <a:latin typeface="+mn-lt"/>
              </a:rPr>
              <a:t>, очень оживился.</a:t>
            </a:r>
          </a:p>
          <a:p>
            <a:pPr algn="r">
              <a:defRPr/>
            </a:pPr>
            <a:r>
              <a:rPr lang="ru-RU" i="1">
                <a:solidFill>
                  <a:schemeClr val="bg1"/>
                </a:solidFill>
                <a:latin typeface="+mn-lt"/>
              </a:rPr>
              <a:t>— Вот это да! — закричал он. — Знаете что? Мой шарик как раз войдет в этот </a:t>
            </a:r>
            <a:r>
              <a:rPr lang="ru-RU" i="1">
                <a:solidFill>
                  <a:srgbClr val="FFFF00"/>
                </a:solidFill>
                <a:latin typeface="+mn-lt"/>
              </a:rPr>
              <a:t>контейнер</a:t>
            </a:r>
            <a:r>
              <a:rPr lang="ru-RU" i="1">
                <a:solidFill>
                  <a:schemeClr val="bg1"/>
                </a:solidFill>
                <a:latin typeface="+mn-lt"/>
              </a:rPr>
              <a:t>!</a:t>
            </a:r>
          </a:p>
          <a:p>
            <a:pPr algn="r">
              <a:defRPr/>
            </a:pPr>
            <a:r>
              <a:rPr lang="ru-RU" i="1">
                <a:solidFill>
                  <a:schemeClr val="bg1"/>
                </a:solidFill>
                <a:latin typeface="+mn-lt"/>
              </a:rPr>
              <a:t>— Что ты, что ты, Иа, — сказал Пух. — Воздушные шары не входят в </a:t>
            </a:r>
            <a:r>
              <a:rPr lang="ru-RU" i="1">
                <a:solidFill>
                  <a:srgbClr val="FFFF00"/>
                </a:solidFill>
                <a:latin typeface="+mn-lt"/>
              </a:rPr>
              <a:t>контейнеры</a:t>
            </a:r>
            <a:r>
              <a:rPr lang="ru-RU" i="1">
                <a:solidFill>
                  <a:schemeClr val="bg1"/>
                </a:solidFill>
                <a:latin typeface="+mn-lt"/>
              </a:rPr>
              <a:t>. Они слишком большие. Ты с ними не умеешь обращаться. Нужно вот как: возьми шарик за вере…</a:t>
            </a:r>
          </a:p>
          <a:p>
            <a:pPr algn="r">
              <a:defRPr/>
            </a:pPr>
            <a:r>
              <a:rPr lang="ru-RU" i="1">
                <a:solidFill>
                  <a:schemeClr val="bg1"/>
                </a:solidFill>
                <a:latin typeface="+mn-lt"/>
              </a:rPr>
              <a:t>...</a:t>
            </a:r>
            <a:endParaRPr lang="en-US" i="1">
              <a:solidFill>
                <a:schemeClr val="bg1"/>
              </a:solidFill>
              <a:latin typeface="+mn-lt"/>
            </a:endParaRPr>
          </a:p>
          <a:p>
            <a:pPr algn="r">
              <a:defRPr/>
            </a:pPr>
            <a:r>
              <a:rPr lang="ru-RU" i="1">
                <a:solidFill>
                  <a:schemeClr val="bg1"/>
                </a:solidFill>
                <a:latin typeface="+mn-lt"/>
              </a:rPr>
              <a:t>— Мне очень приятно, — радостно сказал Пух, — что я догадался подарить тебе </a:t>
            </a:r>
            <a:r>
              <a:rPr lang="ru-RU" i="1">
                <a:solidFill>
                  <a:srgbClr val="FFFF00"/>
                </a:solidFill>
                <a:latin typeface="+mn-lt"/>
              </a:rPr>
              <a:t>Полезный Контейнер</a:t>
            </a:r>
            <a:r>
              <a:rPr lang="ru-RU" i="1">
                <a:solidFill>
                  <a:schemeClr val="bg1"/>
                </a:solidFill>
                <a:latin typeface="+mn-lt"/>
              </a:rPr>
              <a:t>, куда можно класть какие хочешь </a:t>
            </a:r>
            <a:r>
              <a:rPr lang="ru-RU" i="1">
                <a:solidFill>
                  <a:srgbClr val="FFFF00"/>
                </a:solidFill>
                <a:latin typeface="+mn-lt"/>
              </a:rPr>
              <a:t>Приложения</a:t>
            </a:r>
            <a:r>
              <a:rPr lang="ru-RU" i="1">
                <a:solidFill>
                  <a:schemeClr val="bg1"/>
                </a:solidFill>
                <a:latin typeface="+mn-lt"/>
              </a:rPr>
              <a:t>!</a:t>
            </a:r>
          </a:p>
          <a:p>
            <a:pPr algn="r">
              <a:defRPr/>
            </a:pPr>
            <a:r>
              <a:rPr lang="ru-RU" i="1">
                <a:solidFill>
                  <a:schemeClr val="bg1"/>
                </a:solidFill>
                <a:latin typeface="+mn-lt"/>
              </a:rPr>
              <a:t>— А мне очень приятно, — радостно сказал Пятачок, — что я догадался подарить тебе такое </a:t>
            </a:r>
            <a:r>
              <a:rPr lang="ru-RU" i="1">
                <a:solidFill>
                  <a:srgbClr val="FFFF00"/>
                </a:solidFill>
                <a:latin typeface="+mn-lt"/>
              </a:rPr>
              <a:t>Приложение</a:t>
            </a:r>
            <a:r>
              <a:rPr lang="ru-RU" i="1">
                <a:solidFill>
                  <a:schemeClr val="bg1"/>
                </a:solidFill>
                <a:latin typeface="+mn-lt"/>
              </a:rPr>
              <a:t>, которое можно класть в этот </a:t>
            </a:r>
            <a:r>
              <a:rPr lang="ru-RU" i="1">
                <a:solidFill>
                  <a:srgbClr val="FFFF00"/>
                </a:solidFill>
                <a:latin typeface="+mn-lt"/>
              </a:rPr>
              <a:t>Полезный Контейнер</a:t>
            </a:r>
            <a:r>
              <a:rPr lang="ru-RU" i="1">
                <a:solidFill>
                  <a:schemeClr val="bg1"/>
                </a:solidFill>
                <a:latin typeface="+mn-lt"/>
              </a:rPr>
              <a:t>!</a:t>
            </a:r>
          </a:p>
          <a:p>
            <a:pPr algn="r">
              <a:defRPr/>
            </a:pPr>
            <a:r>
              <a:rPr lang="ru-RU" i="1">
                <a:solidFill>
                  <a:schemeClr val="bg1"/>
                </a:solidFill>
                <a:latin typeface="+mn-lt"/>
              </a:rPr>
              <a:t>Но Иа-Иа ничего не слышал. Ему было не до того: он, то клал свой шар в </a:t>
            </a:r>
            <a:r>
              <a:rPr lang="ru-RU" i="1">
                <a:solidFill>
                  <a:srgbClr val="FFFF00"/>
                </a:solidFill>
                <a:latin typeface="+mn-lt"/>
              </a:rPr>
              <a:t>контейнер</a:t>
            </a:r>
            <a:r>
              <a:rPr lang="ru-RU" i="1">
                <a:solidFill>
                  <a:schemeClr val="bg1"/>
                </a:solidFill>
                <a:latin typeface="+mn-lt"/>
              </a:rPr>
              <a:t>, то вынимал его обратно, и видно было, что он совершенно счастлив!</a:t>
            </a:r>
          </a:p>
          <a:p>
            <a:pPr algn="r">
              <a:defRPr/>
            </a:pPr>
            <a:r>
              <a:rPr lang="ru-RU">
                <a:solidFill>
                  <a:schemeClr val="bg1"/>
                </a:solidFill>
                <a:latin typeface="+mn-lt"/>
              </a:rPr>
              <a:t>Вариации из Винни Пуха на тему </a:t>
            </a:r>
            <a:r>
              <a:rPr lang="en-US">
                <a:solidFill>
                  <a:schemeClr val="bg1"/>
                </a:solidFill>
                <a:latin typeface="+mn-lt"/>
              </a:rPr>
              <a:t>Docker</a:t>
            </a:r>
            <a:endParaRPr lang="ru-RU">
              <a:solidFill>
                <a:schemeClr val="bg1"/>
              </a:solidFill>
              <a:latin typeface="+mn-lt"/>
            </a:endParaRPr>
          </a:p>
          <a:p>
            <a:pPr algn="r">
              <a:defRPr/>
            </a:pPr>
            <a:endParaRPr lang="ru-RU" i="1">
              <a:solidFill>
                <a:schemeClr val="bg1"/>
              </a:solidFill>
              <a:latin typeface="+mn-l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1403350" y="188913"/>
            <a:ext cx="6408738"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altLang="ru-RU" sz="3200">
                <a:solidFill>
                  <a:schemeClr val="bg1"/>
                </a:solidFill>
                <a:latin typeface="+mn-lt"/>
              </a:rPr>
              <a:t>Контейнеризация. </a:t>
            </a:r>
            <a:r>
              <a:rPr lang="en-US" altLang="ru-RU" sz="3200">
                <a:solidFill>
                  <a:schemeClr val="bg1"/>
                </a:solidFill>
                <a:latin typeface="+mn-lt"/>
              </a:rPr>
              <a:t>Docker</a:t>
            </a:r>
            <a:endParaRPr lang="ru-RU" altLang="ru-RU" sz="3200" dirty="0">
              <a:solidFill>
                <a:schemeClr val="bg1"/>
              </a:solidFill>
              <a:latin typeface="+mn-lt"/>
            </a:endParaRPr>
          </a:p>
        </p:txBody>
      </p:sp>
      <p:pic>
        <p:nvPicPr>
          <p:cNvPr id="11267"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pic>
        <p:nvPicPr>
          <p:cNvPr id="11268" name="Picture 2"/>
          <p:cNvPicPr>
            <a:picLocks noChangeAspect="1" noChangeArrowheads="1"/>
          </p:cNvPicPr>
          <p:nvPr/>
        </p:nvPicPr>
        <p:blipFill>
          <a:blip r:embed="rId4" cstate="print"/>
          <a:srcRect/>
          <a:stretch>
            <a:fillRect/>
          </a:stretch>
        </p:blipFill>
        <p:spPr bwMode="auto">
          <a:xfrm>
            <a:off x="3635375" y="3357563"/>
            <a:ext cx="5243513" cy="3276600"/>
          </a:xfrm>
          <a:prstGeom prst="rect">
            <a:avLst/>
          </a:prstGeom>
          <a:noFill/>
          <a:ln w="9525">
            <a:noFill/>
            <a:miter lim="800000"/>
            <a:headEnd/>
            <a:tailEnd/>
          </a:ln>
        </p:spPr>
      </p:pic>
      <p:sp>
        <p:nvSpPr>
          <p:cNvPr id="6" name="Прямоугольник 5"/>
          <p:cNvSpPr/>
          <p:nvPr/>
        </p:nvSpPr>
        <p:spPr>
          <a:xfrm>
            <a:off x="395288" y="836613"/>
            <a:ext cx="8497887" cy="2308225"/>
          </a:xfrm>
          <a:prstGeom prst="rect">
            <a:avLst/>
          </a:prstGeom>
        </p:spPr>
        <p:txBody>
          <a:bodyPr>
            <a:spAutoFit/>
          </a:bodyPr>
          <a:lstStyle/>
          <a:p>
            <a:pPr>
              <a:defRPr/>
            </a:pPr>
            <a:r>
              <a:rPr lang="ru-RU">
                <a:solidFill>
                  <a:schemeClr val="bg1"/>
                </a:solidFill>
                <a:latin typeface="+mn-lt"/>
              </a:rPr>
              <a:t>Контейнеризация</a:t>
            </a:r>
            <a:r>
              <a:rPr lang="en-US">
                <a:solidFill>
                  <a:schemeClr val="bg1"/>
                </a:solidFill>
                <a:latin typeface="+mn-lt"/>
              </a:rPr>
              <a:t>: </a:t>
            </a:r>
            <a:r>
              <a:rPr lang="ru-RU">
                <a:solidFill>
                  <a:schemeClr val="bg1"/>
                </a:solidFill>
                <a:latin typeface="+mn-lt"/>
              </a:rPr>
              <a:t>изоляция приложения и его окружения (зависимостей)</a:t>
            </a:r>
            <a:r>
              <a:rPr lang="en-US">
                <a:solidFill>
                  <a:schemeClr val="bg1"/>
                </a:solidFill>
                <a:latin typeface="+mn-lt"/>
              </a:rPr>
              <a:t>:</a:t>
            </a:r>
          </a:p>
          <a:p>
            <a:pPr>
              <a:buFont typeface="Arial" pitchFamily="34" charset="0"/>
              <a:buChar char="•"/>
              <a:defRPr/>
            </a:pPr>
            <a:r>
              <a:rPr lang="ru-RU">
                <a:solidFill>
                  <a:schemeClr val="bg1"/>
                </a:solidFill>
                <a:latin typeface="+mn-lt"/>
              </a:rPr>
              <a:t> изоляция </a:t>
            </a:r>
            <a:r>
              <a:rPr lang="en-US">
                <a:solidFill>
                  <a:schemeClr val="bg1"/>
                </a:solidFill>
                <a:latin typeface="+mn-lt"/>
              </a:rPr>
              <a:t> </a:t>
            </a:r>
            <a:r>
              <a:rPr lang="ru-RU">
                <a:solidFill>
                  <a:schemeClr val="bg1"/>
                </a:solidFill>
                <a:latin typeface="+mn-lt"/>
              </a:rPr>
              <a:t>приложений</a:t>
            </a:r>
          </a:p>
          <a:p>
            <a:pPr>
              <a:buFont typeface="Arial" pitchFamily="34" charset="0"/>
              <a:buChar char="•"/>
              <a:defRPr/>
            </a:pPr>
            <a:r>
              <a:rPr lang="ru-RU">
                <a:solidFill>
                  <a:schemeClr val="bg1"/>
                </a:solidFill>
                <a:latin typeface="+mn-lt"/>
              </a:rPr>
              <a:t> собственное окружение (зависимости)</a:t>
            </a:r>
          </a:p>
          <a:p>
            <a:pPr>
              <a:buFont typeface="Arial" pitchFamily="34" charset="0"/>
              <a:buChar char="•"/>
              <a:defRPr/>
            </a:pPr>
            <a:r>
              <a:rPr lang="ru-RU">
                <a:solidFill>
                  <a:schemeClr val="bg1"/>
                </a:solidFill>
                <a:latin typeface="+mn-lt"/>
              </a:rPr>
              <a:t> быстрое развертывание</a:t>
            </a:r>
          </a:p>
          <a:p>
            <a:pPr>
              <a:buFont typeface="Arial" pitchFamily="34" charset="0"/>
              <a:buChar char="•"/>
              <a:defRPr/>
            </a:pPr>
            <a:r>
              <a:rPr lang="ru-RU">
                <a:solidFill>
                  <a:schemeClr val="bg1"/>
                </a:solidFill>
                <a:latin typeface="+mn-lt"/>
              </a:rPr>
              <a:t> платформенная зависимость</a:t>
            </a:r>
            <a:r>
              <a:rPr lang="en-US">
                <a:solidFill>
                  <a:schemeClr val="bg1"/>
                </a:solidFill>
                <a:latin typeface="+mn-lt"/>
              </a:rPr>
              <a:t>: </a:t>
            </a:r>
            <a:r>
              <a:rPr lang="ru-RU">
                <a:solidFill>
                  <a:schemeClr val="bg1"/>
                </a:solidFill>
                <a:latin typeface="+mn-lt"/>
              </a:rPr>
              <a:t>контейнер «заточен»</a:t>
            </a:r>
            <a:r>
              <a:rPr lang="en-US">
                <a:solidFill>
                  <a:schemeClr val="bg1"/>
                </a:solidFill>
                <a:latin typeface="+mn-lt"/>
              </a:rPr>
              <a:t> </a:t>
            </a:r>
            <a:r>
              <a:rPr lang="ru-RU">
                <a:solidFill>
                  <a:schemeClr val="bg1"/>
                </a:solidFill>
                <a:latin typeface="+mn-lt"/>
              </a:rPr>
              <a:t>под определенную ОС (</a:t>
            </a:r>
            <a:r>
              <a:rPr lang="en-US">
                <a:solidFill>
                  <a:schemeClr val="bg1"/>
                </a:solidFill>
                <a:latin typeface="+mn-lt"/>
              </a:rPr>
              <a:t>Windows:  WSL</a:t>
            </a:r>
            <a:r>
              <a:rPr lang="ru-RU">
                <a:solidFill>
                  <a:schemeClr val="bg1"/>
                </a:solidFill>
                <a:latin typeface="+mn-lt"/>
              </a:rPr>
              <a:t>)</a:t>
            </a:r>
            <a:endParaRPr lang="en-US">
              <a:solidFill>
                <a:schemeClr val="bg1"/>
              </a:solidFill>
              <a:latin typeface="+mn-lt"/>
            </a:endParaRPr>
          </a:p>
          <a:p>
            <a:pPr>
              <a:buFont typeface="Arial" pitchFamily="34" charset="0"/>
              <a:buChar char="•"/>
              <a:defRPr/>
            </a:pPr>
            <a:r>
              <a:rPr lang="en-US">
                <a:solidFill>
                  <a:schemeClr val="bg1"/>
                </a:solidFill>
                <a:latin typeface="+mn-lt"/>
              </a:rPr>
              <a:t> </a:t>
            </a:r>
            <a:r>
              <a:rPr lang="ru-RU">
                <a:solidFill>
                  <a:schemeClr val="bg1"/>
                </a:solidFill>
                <a:latin typeface="+mn-lt"/>
              </a:rPr>
              <a:t>микросервисная архитектура</a:t>
            </a:r>
            <a:r>
              <a:rPr lang="en-US">
                <a:solidFill>
                  <a:schemeClr val="bg1"/>
                </a:solidFill>
                <a:latin typeface="+mn-lt"/>
              </a:rPr>
              <a:t>: </a:t>
            </a:r>
            <a:r>
              <a:rPr lang="ru-RU">
                <a:solidFill>
                  <a:schemeClr val="bg1"/>
                </a:solidFill>
                <a:latin typeface="+mn-lt"/>
              </a:rPr>
              <a:t>взаимодействующие контейнеры</a:t>
            </a:r>
          </a:p>
          <a:p>
            <a:pPr>
              <a:buFont typeface="Arial" pitchFamily="34" charset="0"/>
              <a:buChar char="•"/>
              <a:defRPr/>
            </a:pPr>
            <a:r>
              <a:rPr lang="ru-RU">
                <a:solidFill>
                  <a:schemeClr val="bg1"/>
                </a:solidFill>
                <a:latin typeface="+mn-lt"/>
              </a:rPr>
              <a:t> альтернатива виртуальным машинам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1403350" y="188913"/>
            <a:ext cx="6408738"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altLang="ru-RU" sz="3200">
                <a:solidFill>
                  <a:schemeClr val="bg1"/>
                </a:solidFill>
                <a:latin typeface="+mn-lt"/>
              </a:rPr>
              <a:t>Контейнеризация. </a:t>
            </a:r>
            <a:r>
              <a:rPr lang="en-US" altLang="ru-RU" sz="3200">
                <a:solidFill>
                  <a:schemeClr val="bg1"/>
                </a:solidFill>
                <a:latin typeface="+mn-lt"/>
              </a:rPr>
              <a:t>Docker</a:t>
            </a:r>
            <a:endParaRPr lang="ru-RU" altLang="ru-RU" sz="3200" dirty="0">
              <a:solidFill>
                <a:schemeClr val="bg1"/>
              </a:solidFill>
              <a:latin typeface="+mn-lt"/>
            </a:endParaRPr>
          </a:p>
        </p:txBody>
      </p:sp>
      <p:pic>
        <p:nvPicPr>
          <p:cNvPr id="12291"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12292" name="Прямоугольник 5"/>
          <p:cNvSpPr>
            <a:spLocks noChangeArrowheads="1"/>
          </p:cNvSpPr>
          <p:nvPr/>
        </p:nvSpPr>
        <p:spPr bwMode="auto">
          <a:xfrm>
            <a:off x="395288" y="6237288"/>
            <a:ext cx="8064500" cy="369887"/>
          </a:xfrm>
          <a:prstGeom prst="rect">
            <a:avLst/>
          </a:prstGeom>
          <a:noFill/>
          <a:ln w="9525">
            <a:noFill/>
            <a:miter lim="800000"/>
            <a:headEnd/>
            <a:tailEnd/>
          </a:ln>
        </p:spPr>
        <p:txBody>
          <a:bodyPr>
            <a:spAutoFit/>
          </a:bodyPr>
          <a:lstStyle/>
          <a:p>
            <a:r>
              <a:rPr lang="en-US">
                <a:solidFill>
                  <a:schemeClr val="bg1"/>
                </a:solidFill>
              </a:rPr>
              <a:t>https://habr.com/ru/companies/skillfactory/articles/547116/</a:t>
            </a:r>
            <a:endParaRPr lang="ru-RU"/>
          </a:p>
        </p:txBody>
      </p:sp>
      <p:sp>
        <p:nvSpPr>
          <p:cNvPr id="7" name="Прямоугольник 6"/>
          <p:cNvSpPr/>
          <p:nvPr/>
        </p:nvSpPr>
        <p:spPr>
          <a:xfrm>
            <a:off x="395288" y="1773238"/>
            <a:ext cx="8497887" cy="1754187"/>
          </a:xfrm>
          <a:prstGeom prst="rect">
            <a:avLst/>
          </a:prstGeom>
        </p:spPr>
        <p:txBody>
          <a:bodyPr>
            <a:spAutoFit/>
          </a:bodyPr>
          <a:lstStyle/>
          <a:p>
            <a:pPr>
              <a:defRPr/>
            </a:pPr>
            <a:r>
              <a:rPr lang="ru-RU">
                <a:solidFill>
                  <a:schemeClr val="bg1"/>
                </a:solidFill>
                <a:latin typeface="+mn-lt"/>
              </a:rPr>
              <a:t>Технология - каскадно объединённая файловая система</a:t>
            </a:r>
            <a:r>
              <a:rPr lang="en-US">
                <a:solidFill>
                  <a:schemeClr val="bg1"/>
                </a:solidFill>
                <a:latin typeface="+mn-lt"/>
              </a:rPr>
              <a:t>:</a:t>
            </a:r>
          </a:p>
          <a:p>
            <a:pPr>
              <a:buFont typeface="Arial" pitchFamily="34" charset="0"/>
              <a:buChar char="•"/>
              <a:defRPr/>
            </a:pPr>
            <a:r>
              <a:rPr lang="ru-RU">
                <a:solidFill>
                  <a:schemeClr val="bg1"/>
                </a:solidFill>
                <a:latin typeface="+mn-lt"/>
              </a:rPr>
              <a:t> создается монтируется виртуальный каталог (слой) как путем отображения на несколько каталогов (слоев)</a:t>
            </a:r>
            <a:r>
              <a:rPr lang="en-US">
                <a:solidFill>
                  <a:schemeClr val="bg1"/>
                </a:solidFill>
                <a:latin typeface="+mn-lt"/>
              </a:rPr>
              <a:t> - merged</a:t>
            </a:r>
            <a:endParaRPr lang="ru-RU">
              <a:solidFill>
                <a:schemeClr val="bg1"/>
              </a:solidFill>
              <a:latin typeface="+mn-lt"/>
            </a:endParaRPr>
          </a:p>
          <a:p>
            <a:pPr>
              <a:buFont typeface="Arial" pitchFamily="34" charset="0"/>
              <a:buChar char="•"/>
              <a:defRPr/>
            </a:pPr>
            <a:r>
              <a:rPr lang="ru-RU">
                <a:solidFill>
                  <a:schemeClr val="bg1"/>
                </a:solidFill>
                <a:latin typeface="+mn-lt"/>
              </a:rPr>
              <a:t> верхний слой – </a:t>
            </a:r>
            <a:r>
              <a:rPr lang="en-US">
                <a:solidFill>
                  <a:schemeClr val="bg1"/>
                </a:solidFill>
                <a:latin typeface="+mn-lt"/>
              </a:rPr>
              <a:t>read/write</a:t>
            </a:r>
          </a:p>
          <a:p>
            <a:pPr>
              <a:buFont typeface="Arial" pitchFamily="34" charset="0"/>
              <a:buChar char="•"/>
              <a:defRPr/>
            </a:pPr>
            <a:r>
              <a:rPr lang="en-US">
                <a:solidFill>
                  <a:schemeClr val="bg1"/>
                </a:solidFill>
                <a:latin typeface="+mn-lt"/>
              </a:rPr>
              <a:t> </a:t>
            </a:r>
            <a:r>
              <a:rPr lang="ru-RU">
                <a:solidFill>
                  <a:schemeClr val="bg1"/>
                </a:solidFill>
                <a:latin typeface="+mn-lt"/>
              </a:rPr>
              <a:t>следующие – </a:t>
            </a:r>
            <a:r>
              <a:rPr lang="en-US">
                <a:solidFill>
                  <a:schemeClr val="bg1"/>
                </a:solidFill>
                <a:latin typeface="+mn-lt"/>
              </a:rPr>
              <a:t>read only</a:t>
            </a:r>
          </a:p>
          <a:p>
            <a:pPr>
              <a:buFont typeface="Arial" pitchFamily="34" charset="0"/>
              <a:buChar char="•"/>
              <a:defRPr/>
            </a:pPr>
            <a:r>
              <a:rPr lang="en-US">
                <a:solidFill>
                  <a:schemeClr val="bg1"/>
                </a:solidFill>
                <a:latin typeface="+mn-lt"/>
              </a:rPr>
              <a:t> </a:t>
            </a:r>
            <a:r>
              <a:rPr lang="ru-RU">
                <a:solidFill>
                  <a:schemeClr val="bg1"/>
                </a:solidFill>
                <a:latin typeface="+mn-lt"/>
              </a:rPr>
              <a:t>удаление файла «логическое»</a:t>
            </a:r>
          </a:p>
        </p:txBody>
      </p:sp>
      <p:pic>
        <p:nvPicPr>
          <p:cNvPr id="12294" name="Picture 2"/>
          <p:cNvPicPr>
            <a:picLocks noChangeAspect="1" noChangeArrowheads="1"/>
          </p:cNvPicPr>
          <p:nvPr/>
        </p:nvPicPr>
        <p:blipFill>
          <a:blip r:embed="rId4" cstate="print"/>
          <a:srcRect/>
          <a:stretch>
            <a:fillRect/>
          </a:stretch>
        </p:blipFill>
        <p:spPr bwMode="auto">
          <a:xfrm>
            <a:off x="395288" y="3644900"/>
            <a:ext cx="5616575" cy="2065338"/>
          </a:xfrm>
          <a:prstGeom prst="rect">
            <a:avLst/>
          </a:prstGeom>
          <a:noFill/>
          <a:ln w="9525">
            <a:noFill/>
            <a:miter lim="800000"/>
            <a:headEnd/>
            <a:tailEnd/>
          </a:ln>
        </p:spPr>
      </p:pic>
      <p:sp>
        <p:nvSpPr>
          <p:cNvPr id="8" name="Прямоугольник 7"/>
          <p:cNvSpPr/>
          <p:nvPr/>
        </p:nvSpPr>
        <p:spPr>
          <a:xfrm>
            <a:off x="395288" y="5805488"/>
            <a:ext cx="5724525" cy="369887"/>
          </a:xfrm>
          <a:prstGeom prst="rect">
            <a:avLst/>
          </a:prstGeom>
        </p:spPr>
        <p:txBody>
          <a:bodyPr wrap="none">
            <a:spAutoFit/>
          </a:bodyPr>
          <a:lstStyle/>
          <a:p>
            <a:pPr>
              <a:defRPr/>
            </a:pPr>
            <a:r>
              <a:rPr lang="en-US">
                <a:solidFill>
                  <a:schemeClr val="bg1"/>
                </a:solidFill>
                <a:latin typeface="+mn-lt"/>
              </a:rPr>
              <a:t>UnionFS </a:t>
            </a:r>
            <a:r>
              <a:rPr lang="ru-RU">
                <a:solidFill>
                  <a:schemeClr val="bg1"/>
                </a:solidFill>
                <a:latin typeface="+mn-lt"/>
              </a:rPr>
              <a:t>, </a:t>
            </a:r>
            <a:r>
              <a:rPr lang="en-US">
                <a:solidFill>
                  <a:schemeClr val="bg1"/>
                </a:solidFill>
                <a:latin typeface="+mn-lt"/>
              </a:rPr>
              <a:t>OverlayFS</a:t>
            </a:r>
            <a:r>
              <a:rPr lang="ru-RU">
                <a:solidFill>
                  <a:schemeClr val="bg1"/>
                </a:solidFill>
                <a:latin typeface="+mn-lt"/>
              </a:rPr>
              <a:t> –</a:t>
            </a:r>
            <a:r>
              <a:rPr lang="en-US">
                <a:solidFill>
                  <a:schemeClr val="bg1"/>
                </a:solidFill>
                <a:latin typeface="+mn-lt"/>
              </a:rPr>
              <a:t> </a:t>
            </a:r>
            <a:r>
              <a:rPr lang="ru-RU">
                <a:solidFill>
                  <a:schemeClr val="bg1"/>
                </a:solidFill>
                <a:latin typeface="+mn-lt"/>
              </a:rPr>
              <a:t>надстройка (</a:t>
            </a:r>
            <a:r>
              <a:rPr lang="en-US">
                <a:solidFill>
                  <a:schemeClr val="bg1"/>
                </a:solidFill>
                <a:latin typeface="+mn-lt"/>
              </a:rPr>
              <a:t>proxy</a:t>
            </a:r>
            <a:r>
              <a:rPr lang="ru-RU">
                <a:solidFill>
                  <a:schemeClr val="bg1"/>
                </a:solidFill>
                <a:latin typeface="+mn-lt"/>
              </a:rPr>
              <a:t>)</a:t>
            </a:r>
            <a:r>
              <a:rPr lang="en-US">
                <a:solidFill>
                  <a:schemeClr val="bg1"/>
                </a:solidFill>
                <a:latin typeface="+mn-lt"/>
              </a:rPr>
              <a:t> </a:t>
            </a:r>
            <a:r>
              <a:rPr lang="ru-RU">
                <a:solidFill>
                  <a:schemeClr val="bg1"/>
                </a:solidFill>
                <a:latin typeface="+mn-lt"/>
              </a:rPr>
              <a:t>над базовой ФС</a:t>
            </a:r>
          </a:p>
        </p:txBody>
      </p:sp>
      <p:sp>
        <p:nvSpPr>
          <p:cNvPr id="12296" name="Прямоугольник 8"/>
          <p:cNvSpPr>
            <a:spLocks noChangeArrowheads="1"/>
          </p:cNvSpPr>
          <p:nvPr/>
        </p:nvSpPr>
        <p:spPr bwMode="auto">
          <a:xfrm>
            <a:off x="468313" y="765175"/>
            <a:ext cx="7848600" cy="922338"/>
          </a:xfrm>
          <a:prstGeom prst="rect">
            <a:avLst/>
          </a:prstGeom>
          <a:noFill/>
          <a:ln w="9525">
            <a:noFill/>
            <a:miter lim="800000"/>
            <a:headEnd/>
            <a:tailEnd/>
          </a:ln>
        </p:spPr>
        <p:txBody>
          <a:bodyPr>
            <a:spAutoFit/>
          </a:bodyPr>
          <a:lstStyle/>
          <a:p>
            <a:r>
              <a:rPr lang="ru-RU">
                <a:solidFill>
                  <a:srgbClr val="FFFF00"/>
                </a:solidFill>
              </a:rPr>
              <a:t>Технологии изоляции приложений</a:t>
            </a:r>
            <a:r>
              <a:rPr lang="en-US">
                <a:solidFill>
                  <a:srgbClr val="FFFF00"/>
                </a:solidFill>
              </a:rPr>
              <a:t>:</a:t>
            </a:r>
          </a:p>
          <a:p>
            <a:pPr>
              <a:buFont typeface="Arial" charset="0"/>
              <a:buChar char="•"/>
            </a:pPr>
            <a:r>
              <a:rPr lang="en-US">
                <a:solidFill>
                  <a:srgbClr val="FFFF00"/>
                </a:solidFill>
              </a:rPr>
              <a:t> </a:t>
            </a:r>
            <a:r>
              <a:rPr lang="ru-RU">
                <a:solidFill>
                  <a:srgbClr val="FFFF00"/>
                </a:solidFill>
              </a:rPr>
              <a:t>«собственная» файловая система</a:t>
            </a:r>
          </a:p>
          <a:p>
            <a:pPr>
              <a:buFont typeface="Arial" charset="0"/>
              <a:buChar char="•"/>
            </a:pPr>
            <a:r>
              <a:rPr lang="ru-RU">
                <a:solidFill>
                  <a:srgbClr val="FFFF00"/>
                </a:solidFill>
              </a:rPr>
              <a:t> внешнее управление, параметры окружения (пространство имен)</a:t>
            </a:r>
            <a:endParaRPr lang="en-US">
              <a:solidFill>
                <a:srgbClr val="FFFF00"/>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1403350" y="188913"/>
            <a:ext cx="6408738"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altLang="ru-RU" sz="3200">
                <a:solidFill>
                  <a:schemeClr val="bg1"/>
                </a:solidFill>
                <a:latin typeface="+mn-lt"/>
              </a:rPr>
              <a:t>Контейнеры. Изоляция</a:t>
            </a:r>
            <a:endParaRPr lang="ru-RU" altLang="ru-RU" sz="3200" dirty="0">
              <a:solidFill>
                <a:schemeClr val="bg1"/>
              </a:solidFill>
              <a:latin typeface="+mn-lt"/>
            </a:endParaRPr>
          </a:p>
        </p:txBody>
      </p:sp>
      <p:pic>
        <p:nvPicPr>
          <p:cNvPr id="13315"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7" name="Прямоугольник 6"/>
          <p:cNvSpPr/>
          <p:nvPr/>
        </p:nvSpPr>
        <p:spPr>
          <a:xfrm>
            <a:off x="250825" y="2276475"/>
            <a:ext cx="8497888" cy="3494088"/>
          </a:xfrm>
          <a:prstGeom prst="rect">
            <a:avLst/>
          </a:prstGeom>
        </p:spPr>
        <p:txBody>
          <a:bodyPr>
            <a:spAutoFit/>
          </a:bodyPr>
          <a:lstStyle/>
          <a:p>
            <a:pPr marL="342900" indent="-342900" fontAlgn="t">
              <a:buFont typeface="+mj-lt"/>
              <a:buAutoNum type="arabicPeriod"/>
              <a:defRPr/>
            </a:pPr>
            <a:r>
              <a:rPr lang="ru-RU">
                <a:solidFill>
                  <a:srgbClr val="FFFF00"/>
                </a:solidFill>
                <a:latin typeface="+mn-lt"/>
              </a:rPr>
              <a:t> Модули безопасности Linux </a:t>
            </a:r>
            <a:r>
              <a:rPr lang="ru-RU">
                <a:solidFill>
                  <a:schemeClr val="bg1"/>
                </a:solidFill>
                <a:latin typeface="+mn-lt"/>
              </a:rPr>
              <a:t>(Linux Security Modules, LSM) позволяют реализовать нестандартные для Linux-систем модели безопасности. Механизм мандатного разграничения доступа (англ. Mandatory Access Control, MAC)</a:t>
            </a:r>
            <a:r>
              <a:rPr lang="en-US">
                <a:solidFill>
                  <a:schemeClr val="bg1"/>
                </a:solidFill>
                <a:latin typeface="+mn-lt"/>
              </a:rPr>
              <a:t>:  SELinux, AppArmor – </a:t>
            </a:r>
            <a:r>
              <a:rPr lang="ru-RU">
                <a:solidFill>
                  <a:schemeClr val="bg1"/>
                </a:solidFill>
                <a:latin typeface="+mn-lt"/>
              </a:rPr>
              <a:t>метки конфиденциальности и уровни доступа.</a:t>
            </a:r>
          </a:p>
          <a:p>
            <a:pPr marL="342900" indent="-342900" fontAlgn="t">
              <a:buFont typeface="+mj-lt"/>
              <a:buAutoNum type="arabicPeriod"/>
              <a:defRPr/>
            </a:pPr>
            <a:r>
              <a:rPr lang="ru-RU">
                <a:solidFill>
                  <a:srgbClr val="FFFF00"/>
                </a:solidFill>
                <a:latin typeface="+mn-lt"/>
              </a:rPr>
              <a:t>Контрольные группы </a:t>
            </a:r>
            <a:r>
              <a:rPr lang="ru-RU">
                <a:solidFill>
                  <a:schemeClr val="bg1"/>
                </a:solidFill>
                <a:latin typeface="+mn-lt"/>
              </a:rPr>
              <a:t>(control groups, сокр. cgroups) — функция ядра Linux, позволяющий контролировать потребление системных ресурсов процессами</a:t>
            </a:r>
            <a:r>
              <a:rPr lang="en-US">
                <a:solidFill>
                  <a:schemeClr val="bg1"/>
                </a:solidFill>
                <a:latin typeface="+mn-lt"/>
              </a:rPr>
              <a:t>. </a:t>
            </a:r>
            <a:r>
              <a:rPr lang="ru-RU">
                <a:solidFill>
                  <a:schemeClr val="bg1"/>
                </a:solidFill>
                <a:latin typeface="+mn-lt"/>
              </a:rPr>
              <a:t>Ограничение потребления ресурсов для контрольных групп достигается путем встраивания их в </a:t>
            </a:r>
            <a:r>
              <a:rPr lang="ru-RU" i="1">
                <a:solidFill>
                  <a:schemeClr val="bg1"/>
                </a:solidFill>
                <a:latin typeface="+mn-lt"/>
              </a:rPr>
              <a:t>контроллеры </a:t>
            </a:r>
            <a:r>
              <a:rPr lang="ru-RU">
                <a:solidFill>
                  <a:schemeClr val="bg1"/>
                </a:solidFill>
                <a:latin typeface="+mn-lt"/>
              </a:rPr>
              <a:t>(resource controllers), которые также называются </a:t>
            </a:r>
            <a:r>
              <a:rPr lang="ru-RU" i="1">
                <a:solidFill>
                  <a:schemeClr val="bg1"/>
                </a:solidFill>
                <a:latin typeface="+mn-lt"/>
              </a:rPr>
              <a:t>подсистемами</a:t>
            </a:r>
            <a:r>
              <a:rPr lang="ru-RU">
                <a:solidFill>
                  <a:schemeClr val="bg1"/>
                </a:solidFill>
                <a:latin typeface="+mn-lt"/>
              </a:rPr>
              <a:t> (subsystem). Управление cgroups производится через виртуальную файловую систему. Контрольные группы для разных контроллеров организованы в иерархии, дочерние группы наследуют атрибуты родительских.</a:t>
            </a:r>
          </a:p>
          <a:p>
            <a:pPr>
              <a:spcBef>
                <a:spcPts val="600"/>
              </a:spcBef>
              <a:defRPr/>
            </a:pPr>
            <a:endParaRPr lang="ru-RU">
              <a:solidFill>
                <a:schemeClr val="bg1"/>
              </a:solidFill>
              <a:latin typeface="+mn-lt"/>
            </a:endParaRPr>
          </a:p>
        </p:txBody>
      </p:sp>
      <p:sp>
        <p:nvSpPr>
          <p:cNvPr id="13317" name="Прямоугольник 4"/>
          <p:cNvSpPr>
            <a:spLocks noChangeArrowheads="1"/>
          </p:cNvSpPr>
          <p:nvPr/>
        </p:nvSpPr>
        <p:spPr bwMode="auto">
          <a:xfrm>
            <a:off x="179388" y="5516563"/>
            <a:ext cx="8569325" cy="923925"/>
          </a:xfrm>
          <a:prstGeom prst="rect">
            <a:avLst/>
          </a:prstGeom>
          <a:noFill/>
          <a:ln w="9525">
            <a:noFill/>
            <a:miter lim="800000"/>
            <a:headEnd/>
            <a:tailEnd/>
          </a:ln>
        </p:spPr>
        <p:txBody>
          <a:bodyPr>
            <a:spAutoFit/>
          </a:bodyPr>
          <a:lstStyle/>
          <a:p>
            <a:r>
              <a:rPr lang="en-US">
                <a:solidFill>
                  <a:schemeClr val="bg1"/>
                </a:solidFill>
              </a:rPr>
              <a:t>https://www.okbsapr.ru/library/publications/programmnye-mekhanizmy-izolyatsii-konteynerov-docker/</a:t>
            </a:r>
          </a:p>
          <a:p>
            <a:r>
              <a:rPr lang="en-US">
                <a:solidFill>
                  <a:schemeClr val="bg1"/>
                </a:solidFill>
              </a:rPr>
              <a:t>https://habr.com/ru/companies/selectel/articles/303190/</a:t>
            </a:r>
            <a:endParaRPr lang="ru-RU">
              <a:solidFill>
                <a:schemeClr val="bg1"/>
              </a:solidFill>
            </a:endParaRPr>
          </a:p>
        </p:txBody>
      </p:sp>
      <p:sp>
        <p:nvSpPr>
          <p:cNvPr id="6" name="Прямоугольник 5"/>
          <p:cNvSpPr/>
          <p:nvPr/>
        </p:nvSpPr>
        <p:spPr>
          <a:xfrm>
            <a:off x="395288" y="765175"/>
            <a:ext cx="8497887" cy="1476375"/>
          </a:xfrm>
          <a:prstGeom prst="rect">
            <a:avLst/>
          </a:prstGeom>
        </p:spPr>
        <p:txBody>
          <a:bodyPr>
            <a:spAutoFit/>
          </a:bodyPr>
          <a:lstStyle/>
          <a:p>
            <a:pPr>
              <a:defRPr/>
            </a:pPr>
            <a:r>
              <a:rPr lang="ru-RU">
                <a:solidFill>
                  <a:schemeClr val="bg1"/>
                </a:solidFill>
                <a:latin typeface="+mn-lt"/>
              </a:rPr>
              <a:t>Предпосылки изоляции</a:t>
            </a:r>
            <a:r>
              <a:rPr lang="en-US">
                <a:solidFill>
                  <a:schemeClr val="bg1"/>
                </a:solidFill>
                <a:latin typeface="+mn-lt"/>
              </a:rPr>
              <a:t>: </a:t>
            </a:r>
            <a:endParaRPr lang="ru-RU">
              <a:solidFill>
                <a:schemeClr val="bg1"/>
              </a:solidFill>
              <a:latin typeface="+mn-lt"/>
            </a:endParaRPr>
          </a:p>
          <a:p>
            <a:pPr>
              <a:buFont typeface="Arial" pitchFamily="34" charset="0"/>
              <a:buChar char="•"/>
              <a:defRPr/>
            </a:pPr>
            <a:r>
              <a:rPr lang="ru-RU">
                <a:solidFill>
                  <a:schemeClr val="bg1"/>
                </a:solidFill>
                <a:latin typeface="+mn-lt"/>
              </a:rPr>
              <a:t>клонирование образа из репозитория (</a:t>
            </a:r>
            <a:r>
              <a:rPr lang="ru-RU" i="1">
                <a:solidFill>
                  <a:schemeClr val="bg1"/>
                </a:solidFill>
                <a:latin typeface="+mn-lt"/>
              </a:rPr>
              <a:t>родительский</a:t>
            </a:r>
            <a:r>
              <a:rPr lang="ru-RU">
                <a:solidFill>
                  <a:schemeClr val="bg1"/>
                </a:solidFill>
                <a:latin typeface="+mn-lt"/>
              </a:rPr>
              <a:t>). Слои данных нового образа накладываются поверх слоев родительского</a:t>
            </a:r>
          </a:p>
          <a:p>
            <a:pPr>
              <a:buFont typeface="Arial" pitchFamily="34" charset="0"/>
              <a:buChar char="•"/>
              <a:defRPr/>
            </a:pPr>
            <a:r>
              <a:rPr lang="ru-RU">
                <a:solidFill>
                  <a:schemeClr val="bg1"/>
                </a:solidFill>
                <a:latin typeface="+mn-lt"/>
              </a:rPr>
              <a:t> DockerHub </a:t>
            </a:r>
            <a:r>
              <a:rPr lang="en-US">
                <a:solidFill>
                  <a:schemeClr val="bg1"/>
                </a:solidFill>
                <a:latin typeface="+mn-lt"/>
              </a:rPr>
              <a:t>– </a:t>
            </a:r>
            <a:r>
              <a:rPr lang="ru-RU">
                <a:solidFill>
                  <a:schemeClr val="bg1"/>
                </a:solidFill>
                <a:latin typeface="+mn-lt"/>
              </a:rPr>
              <a:t>репозиторий образов.  51% образов  содержит критические уязвимости. Все уязвимости родительского образа наследуются дочерними.</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900113" y="188913"/>
            <a:ext cx="7775575"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altLang="ru-RU" sz="3200">
                <a:solidFill>
                  <a:schemeClr val="bg1"/>
                </a:solidFill>
                <a:latin typeface="+mn-lt"/>
              </a:rPr>
              <a:t>Контейнеры. Изоляция</a:t>
            </a:r>
            <a:r>
              <a:rPr lang="en-US" altLang="ru-RU" sz="3200">
                <a:solidFill>
                  <a:schemeClr val="bg1"/>
                </a:solidFill>
                <a:latin typeface="+mn-lt"/>
              </a:rPr>
              <a:t>. Control groups</a:t>
            </a:r>
            <a:endParaRPr lang="ru-RU" altLang="ru-RU" sz="3200" dirty="0">
              <a:solidFill>
                <a:schemeClr val="bg1"/>
              </a:solidFill>
              <a:latin typeface="+mn-lt"/>
            </a:endParaRPr>
          </a:p>
        </p:txBody>
      </p:sp>
      <p:pic>
        <p:nvPicPr>
          <p:cNvPr id="14339"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7" name="Прямоугольник 6"/>
          <p:cNvSpPr/>
          <p:nvPr/>
        </p:nvSpPr>
        <p:spPr>
          <a:xfrm>
            <a:off x="250825" y="836613"/>
            <a:ext cx="8497888" cy="5154612"/>
          </a:xfrm>
          <a:prstGeom prst="rect">
            <a:avLst/>
          </a:prstGeom>
        </p:spPr>
        <p:txBody>
          <a:bodyPr>
            <a:spAutoFit/>
          </a:bodyPr>
          <a:lstStyle/>
          <a:p>
            <a:pPr algn="just">
              <a:defRPr/>
            </a:pPr>
            <a:r>
              <a:rPr lang="ru-RU">
                <a:solidFill>
                  <a:schemeClr val="bg1"/>
                </a:solidFill>
                <a:latin typeface="+mn-lt"/>
              </a:rPr>
              <a:t>Контроллеры</a:t>
            </a:r>
            <a:r>
              <a:rPr lang="en-US">
                <a:solidFill>
                  <a:schemeClr val="bg1"/>
                </a:solidFill>
                <a:latin typeface="+mn-lt"/>
              </a:rPr>
              <a:t>:</a:t>
            </a:r>
          </a:p>
          <a:p>
            <a:pPr algn="just">
              <a:defRPr/>
            </a:pPr>
            <a:r>
              <a:rPr lang="ru-RU">
                <a:solidFill>
                  <a:srgbClr val="FFFF00"/>
                </a:solidFill>
                <a:latin typeface="+mn-lt"/>
              </a:rPr>
              <a:t>blkio</a:t>
            </a:r>
            <a:r>
              <a:rPr lang="ru-RU">
                <a:solidFill>
                  <a:schemeClr val="bg1"/>
                </a:solidFill>
                <a:latin typeface="+mn-lt"/>
              </a:rPr>
              <a:t> </a:t>
            </a:r>
            <a:r>
              <a:rPr lang="en-US">
                <a:solidFill>
                  <a:schemeClr val="bg1"/>
                </a:solidFill>
                <a:latin typeface="+mn-lt"/>
              </a:rPr>
              <a:t>	</a:t>
            </a:r>
            <a:r>
              <a:rPr lang="ru-RU">
                <a:solidFill>
                  <a:schemeClr val="bg1"/>
                </a:solidFill>
                <a:latin typeface="+mn-lt"/>
              </a:rPr>
              <a:t>— устанавливает лимиты на чтение и запись с блочных устройств</a:t>
            </a:r>
          </a:p>
          <a:p>
            <a:pPr algn="just">
              <a:defRPr/>
            </a:pPr>
            <a:r>
              <a:rPr lang="ru-RU">
                <a:solidFill>
                  <a:srgbClr val="FFFF00"/>
                </a:solidFill>
                <a:latin typeface="+mn-lt"/>
              </a:rPr>
              <a:t>cpuacct</a:t>
            </a:r>
            <a:r>
              <a:rPr lang="ru-RU">
                <a:solidFill>
                  <a:schemeClr val="bg1"/>
                </a:solidFill>
                <a:latin typeface="+mn-lt"/>
              </a:rPr>
              <a:t> </a:t>
            </a:r>
            <a:r>
              <a:rPr lang="en-US">
                <a:solidFill>
                  <a:schemeClr val="bg1"/>
                </a:solidFill>
                <a:latin typeface="+mn-lt"/>
              </a:rPr>
              <a:t>	</a:t>
            </a:r>
            <a:r>
              <a:rPr lang="ru-RU">
                <a:solidFill>
                  <a:schemeClr val="bg1"/>
                </a:solidFill>
                <a:latin typeface="+mn-lt"/>
              </a:rPr>
              <a:t>— генерирует отчёты об использовании ресурсов процессора</a:t>
            </a:r>
          </a:p>
          <a:p>
            <a:pPr algn="just">
              <a:defRPr/>
            </a:pPr>
            <a:r>
              <a:rPr lang="ru-RU">
                <a:solidFill>
                  <a:srgbClr val="FFFF00"/>
                </a:solidFill>
                <a:latin typeface="+mn-lt"/>
              </a:rPr>
              <a:t>cpu </a:t>
            </a:r>
            <a:r>
              <a:rPr lang="en-US">
                <a:solidFill>
                  <a:srgbClr val="FFFF00"/>
                </a:solidFill>
                <a:latin typeface="+mn-lt"/>
              </a:rPr>
              <a:t>	</a:t>
            </a:r>
            <a:r>
              <a:rPr lang="ru-RU">
                <a:solidFill>
                  <a:schemeClr val="bg1"/>
                </a:solidFill>
                <a:latin typeface="+mn-lt"/>
              </a:rPr>
              <a:t>— обеспечивает доступ процессов в рамках контрольной группы к CPU</a:t>
            </a:r>
          </a:p>
          <a:p>
            <a:pPr algn="just">
              <a:defRPr/>
            </a:pPr>
            <a:r>
              <a:rPr lang="ru-RU">
                <a:solidFill>
                  <a:srgbClr val="FFFF00"/>
                </a:solidFill>
                <a:latin typeface="+mn-lt"/>
              </a:rPr>
              <a:t>cpuset </a:t>
            </a:r>
            <a:r>
              <a:rPr lang="en-US">
                <a:solidFill>
                  <a:srgbClr val="FFFF00"/>
                </a:solidFill>
                <a:latin typeface="+mn-lt"/>
              </a:rPr>
              <a:t>	</a:t>
            </a:r>
            <a:r>
              <a:rPr lang="ru-RU">
                <a:solidFill>
                  <a:schemeClr val="bg1"/>
                </a:solidFill>
                <a:latin typeface="+mn-lt"/>
              </a:rPr>
              <a:t>— распределяет задачи в рамках контрольной группы между </a:t>
            </a:r>
            <a:r>
              <a:rPr lang="en-US">
                <a:solidFill>
                  <a:schemeClr val="bg1"/>
                </a:solidFill>
                <a:latin typeface="+mn-lt"/>
              </a:rPr>
              <a:t>	</a:t>
            </a:r>
            <a:r>
              <a:rPr lang="ru-RU">
                <a:solidFill>
                  <a:schemeClr val="bg1"/>
                </a:solidFill>
                <a:latin typeface="+mn-lt"/>
              </a:rPr>
              <a:t>процессорными ядрами</a:t>
            </a:r>
          </a:p>
          <a:p>
            <a:pPr algn="just">
              <a:defRPr/>
            </a:pPr>
            <a:r>
              <a:rPr lang="ru-RU">
                <a:solidFill>
                  <a:srgbClr val="FFFF00"/>
                </a:solidFill>
                <a:latin typeface="+mn-lt"/>
              </a:rPr>
              <a:t>devices </a:t>
            </a:r>
            <a:r>
              <a:rPr lang="en-US">
                <a:solidFill>
                  <a:srgbClr val="FFFF00"/>
                </a:solidFill>
                <a:latin typeface="+mn-lt"/>
              </a:rPr>
              <a:t>	</a:t>
            </a:r>
            <a:r>
              <a:rPr lang="ru-RU">
                <a:solidFill>
                  <a:schemeClr val="bg1"/>
                </a:solidFill>
                <a:latin typeface="+mn-lt"/>
              </a:rPr>
              <a:t>— разрешает или блокирует доступ к устройствам</a:t>
            </a:r>
          </a:p>
          <a:p>
            <a:pPr algn="just">
              <a:defRPr/>
            </a:pPr>
            <a:r>
              <a:rPr lang="ru-RU">
                <a:solidFill>
                  <a:srgbClr val="FFFF00"/>
                </a:solidFill>
                <a:latin typeface="+mn-lt"/>
              </a:rPr>
              <a:t>freezer </a:t>
            </a:r>
            <a:r>
              <a:rPr lang="en-US">
                <a:solidFill>
                  <a:srgbClr val="FFFF00"/>
                </a:solidFill>
                <a:latin typeface="+mn-lt"/>
              </a:rPr>
              <a:t>	</a:t>
            </a:r>
            <a:r>
              <a:rPr lang="ru-RU">
                <a:solidFill>
                  <a:schemeClr val="bg1"/>
                </a:solidFill>
                <a:latin typeface="+mn-lt"/>
              </a:rPr>
              <a:t>— приостанавливает и возобновляет выполнение задач в рамках </a:t>
            </a:r>
            <a:r>
              <a:rPr lang="en-US">
                <a:solidFill>
                  <a:schemeClr val="bg1"/>
                </a:solidFill>
                <a:latin typeface="+mn-lt"/>
              </a:rPr>
              <a:t>	</a:t>
            </a:r>
            <a:r>
              <a:rPr lang="ru-RU">
                <a:solidFill>
                  <a:schemeClr val="bg1"/>
                </a:solidFill>
                <a:latin typeface="+mn-lt"/>
              </a:rPr>
              <a:t>контрольной группы</a:t>
            </a:r>
          </a:p>
          <a:p>
            <a:pPr algn="just">
              <a:defRPr/>
            </a:pPr>
            <a:r>
              <a:rPr lang="ru-RU">
                <a:solidFill>
                  <a:srgbClr val="FFFF00"/>
                </a:solidFill>
                <a:latin typeface="+mn-lt"/>
              </a:rPr>
              <a:t>hugetlb </a:t>
            </a:r>
            <a:r>
              <a:rPr lang="en-US">
                <a:solidFill>
                  <a:srgbClr val="FFFF00"/>
                </a:solidFill>
                <a:latin typeface="+mn-lt"/>
              </a:rPr>
              <a:t>	</a:t>
            </a:r>
            <a:r>
              <a:rPr lang="ru-RU">
                <a:solidFill>
                  <a:schemeClr val="bg1"/>
                </a:solidFill>
                <a:latin typeface="+mn-lt"/>
              </a:rPr>
              <a:t>— активирует поддержку больших страниц памяти для контрольных групп;</a:t>
            </a:r>
          </a:p>
          <a:p>
            <a:pPr algn="just">
              <a:defRPr/>
            </a:pPr>
            <a:r>
              <a:rPr lang="ru-RU">
                <a:solidFill>
                  <a:srgbClr val="FFFF00"/>
                </a:solidFill>
                <a:latin typeface="+mn-lt"/>
              </a:rPr>
              <a:t>memory</a:t>
            </a:r>
            <a:r>
              <a:rPr lang="ru-RU">
                <a:solidFill>
                  <a:schemeClr val="bg1"/>
                </a:solidFill>
                <a:latin typeface="+mn-lt"/>
              </a:rPr>
              <a:t> </a:t>
            </a:r>
            <a:r>
              <a:rPr lang="en-US">
                <a:solidFill>
                  <a:schemeClr val="bg1"/>
                </a:solidFill>
                <a:latin typeface="+mn-lt"/>
              </a:rPr>
              <a:t>	</a:t>
            </a:r>
            <a:r>
              <a:rPr lang="ru-RU">
                <a:solidFill>
                  <a:schemeClr val="bg1"/>
                </a:solidFill>
                <a:latin typeface="+mn-lt"/>
              </a:rPr>
              <a:t>— управляет выделением памяти для групп процессов</a:t>
            </a:r>
          </a:p>
          <a:p>
            <a:pPr algn="just">
              <a:defRPr/>
            </a:pPr>
            <a:r>
              <a:rPr lang="ru-RU">
                <a:solidFill>
                  <a:srgbClr val="FFFF00"/>
                </a:solidFill>
                <a:latin typeface="+mn-lt"/>
              </a:rPr>
              <a:t>net_cls </a:t>
            </a:r>
            <a:r>
              <a:rPr lang="ru-RU">
                <a:solidFill>
                  <a:schemeClr val="bg1"/>
                </a:solidFill>
                <a:latin typeface="+mn-lt"/>
              </a:rPr>
              <a:t>— помечает сетевые пакеты специальным тэгом, что позволяет </a:t>
            </a:r>
            <a:r>
              <a:rPr lang="en-US">
                <a:solidFill>
                  <a:schemeClr val="bg1"/>
                </a:solidFill>
                <a:latin typeface="+mn-lt"/>
              </a:rPr>
              <a:t>	</a:t>
            </a:r>
            <a:r>
              <a:rPr lang="ru-RU">
                <a:solidFill>
                  <a:schemeClr val="bg1"/>
                </a:solidFill>
                <a:latin typeface="+mn-lt"/>
              </a:rPr>
              <a:t>идентифицировать пакеты, порождаемые определённой задачей в рамках </a:t>
            </a:r>
            <a:r>
              <a:rPr lang="en-US">
                <a:solidFill>
                  <a:schemeClr val="bg1"/>
                </a:solidFill>
                <a:latin typeface="+mn-lt"/>
              </a:rPr>
              <a:t>	</a:t>
            </a:r>
            <a:r>
              <a:rPr lang="ru-RU">
                <a:solidFill>
                  <a:schemeClr val="bg1"/>
                </a:solidFill>
                <a:latin typeface="+mn-lt"/>
              </a:rPr>
              <a:t>контрольной группы</a:t>
            </a:r>
          </a:p>
          <a:p>
            <a:pPr algn="just">
              <a:defRPr/>
            </a:pPr>
            <a:r>
              <a:rPr lang="ru-RU">
                <a:solidFill>
                  <a:srgbClr val="FFFF00"/>
                </a:solidFill>
                <a:latin typeface="+mn-lt"/>
              </a:rPr>
              <a:t>netprio </a:t>
            </a:r>
            <a:r>
              <a:rPr lang="en-US">
                <a:solidFill>
                  <a:srgbClr val="FFFF00"/>
                </a:solidFill>
                <a:latin typeface="+mn-lt"/>
              </a:rPr>
              <a:t>	</a:t>
            </a:r>
            <a:r>
              <a:rPr lang="ru-RU">
                <a:solidFill>
                  <a:schemeClr val="bg1"/>
                </a:solidFill>
                <a:latin typeface="+mn-lt"/>
              </a:rPr>
              <a:t>— используется для динамической установки приоритетов по трафику;</a:t>
            </a:r>
          </a:p>
          <a:p>
            <a:pPr algn="just">
              <a:defRPr/>
            </a:pPr>
            <a:r>
              <a:rPr lang="ru-RU">
                <a:solidFill>
                  <a:srgbClr val="FFFF00"/>
                </a:solidFill>
                <a:latin typeface="+mn-lt"/>
              </a:rPr>
              <a:t>pids </a:t>
            </a:r>
            <a:r>
              <a:rPr lang="en-US">
                <a:solidFill>
                  <a:srgbClr val="FFFF00"/>
                </a:solidFill>
                <a:latin typeface="+mn-lt"/>
              </a:rPr>
              <a:t>	</a:t>
            </a:r>
            <a:r>
              <a:rPr lang="ru-RU">
                <a:solidFill>
                  <a:schemeClr val="bg1"/>
                </a:solidFill>
                <a:latin typeface="+mn-lt"/>
              </a:rPr>
              <a:t>— используется для ограничения количества процессов в рамках контрольной группы</a:t>
            </a:r>
          </a:p>
          <a:p>
            <a:pPr>
              <a:spcBef>
                <a:spcPts val="600"/>
              </a:spcBef>
              <a:defRPr/>
            </a:pPr>
            <a:endParaRPr lang="ru-RU">
              <a:solidFill>
                <a:schemeClr val="bg1"/>
              </a:solidFill>
              <a:latin typeface="+mn-lt"/>
            </a:endParaRPr>
          </a:p>
        </p:txBody>
      </p:sp>
      <p:pic>
        <p:nvPicPr>
          <p:cNvPr id="14341" name="Picture 2"/>
          <p:cNvPicPr>
            <a:picLocks noChangeAspect="1" noChangeArrowheads="1"/>
          </p:cNvPicPr>
          <p:nvPr/>
        </p:nvPicPr>
        <p:blipFill>
          <a:blip r:embed="rId4" cstate="print"/>
          <a:srcRect/>
          <a:stretch>
            <a:fillRect/>
          </a:stretch>
        </p:blipFill>
        <p:spPr bwMode="auto">
          <a:xfrm>
            <a:off x="323850" y="5676900"/>
            <a:ext cx="7620000" cy="704850"/>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900113" y="188913"/>
            <a:ext cx="7775575"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altLang="ru-RU" sz="3200">
                <a:solidFill>
                  <a:schemeClr val="bg1"/>
                </a:solidFill>
                <a:latin typeface="+mn-lt"/>
              </a:rPr>
              <a:t>Контейнеры. Изоляция</a:t>
            </a:r>
            <a:r>
              <a:rPr lang="en-US" altLang="ru-RU" sz="3200">
                <a:solidFill>
                  <a:schemeClr val="bg1"/>
                </a:solidFill>
                <a:latin typeface="+mn-lt"/>
              </a:rPr>
              <a:t>. Control groups</a:t>
            </a:r>
            <a:endParaRPr lang="ru-RU" altLang="ru-RU" sz="3200" dirty="0">
              <a:solidFill>
                <a:schemeClr val="bg1"/>
              </a:solidFill>
              <a:latin typeface="+mn-lt"/>
            </a:endParaRPr>
          </a:p>
        </p:txBody>
      </p:sp>
      <p:pic>
        <p:nvPicPr>
          <p:cNvPr id="15363"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7" name="Прямоугольник 6"/>
          <p:cNvSpPr/>
          <p:nvPr/>
        </p:nvSpPr>
        <p:spPr>
          <a:xfrm>
            <a:off x="250825" y="692150"/>
            <a:ext cx="8497888" cy="1477963"/>
          </a:xfrm>
          <a:prstGeom prst="rect">
            <a:avLst/>
          </a:prstGeom>
        </p:spPr>
        <p:txBody>
          <a:bodyPr>
            <a:spAutoFit/>
          </a:bodyPr>
          <a:lstStyle/>
          <a:p>
            <a:pPr>
              <a:defRPr/>
            </a:pPr>
            <a:r>
              <a:rPr lang="ru-RU">
                <a:solidFill>
                  <a:schemeClr val="bg1"/>
                </a:solidFill>
                <a:latin typeface="+mn-lt"/>
              </a:rPr>
              <a:t>Каждая подсистема представляет собой директорию с управляющими файлами, в которых прописываются все настройки. В каждой из этих директорий имеются управляющие файлы</a:t>
            </a:r>
            <a:r>
              <a:rPr lang="en-US">
                <a:solidFill>
                  <a:schemeClr val="bg1"/>
                </a:solidFill>
                <a:latin typeface="+mn-lt"/>
              </a:rPr>
              <a:t>: </a:t>
            </a:r>
            <a:r>
              <a:rPr lang="ru-RU">
                <a:solidFill>
                  <a:schemeClr val="bg1"/>
                </a:solidFill>
                <a:latin typeface="+mn-lt"/>
              </a:rPr>
              <a:t>tasks — содержит список PID всех процессов, включённых в контрольные </a:t>
            </a:r>
            <a:r>
              <a:rPr lang="en-US">
                <a:solidFill>
                  <a:schemeClr val="bg1"/>
                </a:solidFill>
                <a:latin typeface="+mn-lt"/>
              </a:rPr>
              <a:t> </a:t>
            </a:r>
            <a:r>
              <a:rPr lang="ru-RU">
                <a:solidFill>
                  <a:schemeClr val="bg1"/>
                </a:solidFill>
                <a:latin typeface="+mn-lt"/>
              </a:rPr>
              <a:t>группы</a:t>
            </a:r>
            <a:r>
              <a:rPr lang="en-US">
                <a:solidFill>
                  <a:schemeClr val="bg1"/>
                </a:solidFill>
                <a:latin typeface="+mn-lt"/>
              </a:rPr>
              <a:t>, </a:t>
            </a:r>
            <a:r>
              <a:rPr lang="ru-RU">
                <a:solidFill>
                  <a:schemeClr val="bg1"/>
                </a:solidFill>
                <a:latin typeface="+mn-lt"/>
              </a:rPr>
              <a:t>cgroup.procs — содержит список TGID групп процессов, включённых </a:t>
            </a:r>
            <a:r>
              <a:rPr lang="en-US">
                <a:solidFill>
                  <a:schemeClr val="bg1"/>
                </a:solidFill>
                <a:latin typeface="+mn-lt"/>
              </a:rPr>
              <a:t> </a:t>
            </a:r>
            <a:r>
              <a:rPr lang="ru-RU">
                <a:solidFill>
                  <a:schemeClr val="bg1"/>
                </a:solidFill>
                <a:latin typeface="+mn-lt"/>
              </a:rPr>
              <a:t>в контрольные группы</a:t>
            </a:r>
          </a:p>
        </p:txBody>
      </p:sp>
      <p:pic>
        <p:nvPicPr>
          <p:cNvPr id="15365" name="Picture 5"/>
          <p:cNvPicPr>
            <a:picLocks noChangeAspect="1" noChangeArrowheads="1"/>
          </p:cNvPicPr>
          <p:nvPr/>
        </p:nvPicPr>
        <p:blipFill>
          <a:blip r:embed="rId4" cstate="print"/>
          <a:srcRect/>
          <a:stretch>
            <a:fillRect/>
          </a:stretch>
        </p:blipFill>
        <p:spPr bwMode="auto">
          <a:xfrm>
            <a:off x="611188" y="2133600"/>
            <a:ext cx="7620000" cy="3076575"/>
          </a:xfrm>
          <a:prstGeom prst="rect">
            <a:avLst/>
          </a:prstGeom>
          <a:noFill/>
          <a:ln w="9525">
            <a:noFill/>
            <a:miter lim="800000"/>
            <a:headEnd/>
            <a:tailEnd/>
          </a:ln>
        </p:spPr>
      </p:pic>
      <p:sp>
        <p:nvSpPr>
          <p:cNvPr id="10" name="Прямоугольник 9"/>
          <p:cNvSpPr/>
          <p:nvPr/>
        </p:nvSpPr>
        <p:spPr>
          <a:xfrm>
            <a:off x="395288" y="5229225"/>
            <a:ext cx="8569325" cy="1200150"/>
          </a:xfrm>
          <a:prstGeom prst="rect">
            <a:avLst/>
          </a:prstGeom>
        </p:spPr>
        <p:txBody>
          <a:bodyPr>
            <a:spAutoFit/>
          </a:bodyPr>
          <a:lstStyle/>
          <a:p>
            <a:pPr>
              <a:defRPr/>
            </a:pPr>
            <a:r>
              <a:rPr lang="ru-RU">
                <a:solidFill>
                  <a:schemeClr val="bg1"/>
                </a:solidFill>
                <a:latin typeface="+mn-lt"/>
              </a:rPr>
              <a:t>Чтобы создать контрольную группу, достаточно создать вложенную директорию в любой из подсистем. В эту вложенную директорию будут автоматически добавлены управляющие файлы. Добавить процессы в группу: записать их PID в управляющий файл tasks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900113" y="188913"/>
            <a:ext cx="7775575"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altLang="ru-RU" sz="3200">
                <a:solidFill>
                  <a:schemeClr val="bg1"/>
                </a:solidFill>
                <a:latin typeface="+mn-lt"/>
              </a:rPr>
              <a:t>Контейнеры. Изоляция</a:t>
            </a:r>
            <a:r>
              <a:rPr lang="en-US" altLang="ru-RU" sz="3200">
                <a:solidFill>
                  <a:schemeClr val="bg1"/>
                </a:solidFill>
                <a:latin typeface="+mn-lt"/>
              </a:rPr>
              <a:t>. Control groups</a:t>
            </a:r>
            <a:r>
              <a:rPr lang="ru-RU" altLang="ru-RU" sz="3200">
                <a:solidFill>
                  <a:schemeClr val="bg1"/>
                </a:solidFill>
                <a:latin typeface="+mn-lt"/>
              </a:rPr>
              <a:t> 2</a:t>
            </a:r>
            <a:endParaRPr lang="ru-RU" altLang="ru-RU" sz="3200" dirty="0">
              <a:solidFill>
                <a:schemeClr val="bg1"/>
              </a:solidFill>
              <a:latin typeface="+mn-lt"/>
            </a:endParaRPr>
          </a:p>
        </p:txBody>
      </p:sp>
      <p:pic>
        <p:nvPicPr>
          <p:cNvPr id="16387"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7" name="Прямоугольник 6"/>
          <p:cNvSpPr/>
          <p:nvPr/>
        </p:nvSpPr>
        <p:spPr>
          <a:xfrm>
            <a:off x="250825" y="836613"/>
            <a:ext cx="8497888" cy="646112"/>
          </a:xfrm>
          <a:prstGeom prst="rect">
            <a:avLst/>
          </a:prstGeom>
        </p:spPr>
        <p:txBody>
          <a:bodyPr>
            <a:spAutoFit/>
          </a:bodyPr>
          <a:lstStyle/>
          <a:p>
            <a:pPr>
              <a:defRPr/>
            </a:pPr>
            <a:r>
              <a:rPr lang="en-US">
                <a:solidFill>
                  <a:schemeClr val="bg1"/>
                </a:solidFill>
                <a:latin typeface="+mn-lt"/>
              </a:rPr>
              <a:t>Control groups V2. </a:t>
            </a:r>
            <a:r>
              <a:rPr lang="ru-RU">
                <a:solidFill>
                  <a:schemeClr val="bg1"/>
                </a:solidFill>
                <a:latin typeface="+mn-lt"/>
              </a:rPr>
              <a:t>Для создания группы создать папку и смонтировать на ней ФС </a:t>
            </a:r>
            <a:r>
              <a:rPr lang="en-US">
                <a:solidFill>
                  <a:schemeClr val="bg1"/>
                </a:solidFill>
                <a:latin typeface="+mn-lt"/>
              </a:rPr>
              <a:t>cgroups </a:t>
            </a:r>
            <a:endParaRPr lang="ru-RU">
              <a:solidFill>
                <a:schemeClr val="bg1"/>
              </a:solidFill>
              <a:latin typeface="+mn-lt"/>
            </a:endParaRPr>
          </a:p>
        </p:txBody>
      </p:sp>
      <p:pic>
        <p:nvPicPr>
          <p:cNvPr id="16389" name="Picture 2"/>
          <p:cNvPicPr>
            <a:picLocks noChangeAspect="1" noChangeArrowheads="1"/>
          </p:cNvPicPr>
          <p:nvPr/>
        </p:nvPicPr>
        <p:blipFill>
          <a:blip r:embed="rId4" cstate="print"/>
          <a:srcRect/>
          <a:stretch>
            <a:fillRect/>
          </a:stretch>
        </p:blipFill>
        <p:spPr bwMode="auto">
          <a:xfrm>
            <a:off x="395288" y="1484313"/>
            <a:ext cx="8115300" cy="1495425"/>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1403350" y="188913"/>
            <a:ext cx="6408738"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altLang="ru-RU" sz="3200">
                <a:solidFill>
                  <a:schemeClr val="bg1"/>
                </a:solidFill>
                <a:latin typeface="+mn-lt"/>
              </a:rPr>
              <a:t>Контейнеры.</a:t>
            </a:r>
            <a:r>
              <a:rPr lang="en-US" altLang="ru-RU" sz="3200">
                <a:solidFill>
                  <a:schemeClr val="bg1"/>
                </a:solidFill>
                <a:latin typeface="+mn-lt"/>
              </a:rPr>
              <a:t> </a:t>
            </a:r>
            <a:r>
              <a:rPr lang="ru-RU" altLang="ru-RU" sz="3200">
                <a:solidFill>
                  <a:schemeClr val="bg1"/>
                </a:solidFill>
                <a:latin typeface="+mn-lt"/>
              </a:rPr>
              <a:t>Пространства имен </a:t>
            </a:r>
            <a:endParaRPr lang="ru-RU" altLang="ru-RU" sz="3200" dirty="0">
              <a:solidFill>
                <a:schemeClr val="bg1"/>
              </a:solidFill>
              <a:latin typeface="+mn-lt"/>
            </a:endParaRPr>
          </a:p>
        </p:txBody>
      </p:sp>
      <p:pic>
        <p:nvPicPr>
          <p:cNvPr id="17411"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7" name="Прямоугольник 6"/>
          <p:cNvSpPr/>
          <p:nvPr/>
        </p:nvSpPr>
        <p:spPr>
          <a:xfrm>
            <a:off x="250825" y="836613"/>
            <a:ext cx="8497888" cy="5632450"/>
          </a:xfrm>
          <a:prstGeom prst="rect">
            <a:avLst/>
          </a:prstGeom>
        </p:spPr>
        <p:txBody>
          <a:bodyPr>
            <a:spAutoFit/>
          </a:bodyPr>
          <a:lstStyle/>
          <a:p>
            <a:pPr algn="just" fontAlgn="t">
              <a:defRPr/>
            </a:pPr>
            <a:r>
              <a:rPr lang="ru-RU">
                <a:solidFill>
                  <a:srgbClr val="FFFF00"/>
                </a:solidFill>
                <a:latin typeface="+mn-lt"/>
              </a:rPr>
              <a:t>Пространства имён </a:t>
            </a:r>
            <a:r>
              <a:rPr lang="ru-RU">
                <a:solidFill>
                  <a:schemeClr val="bg1"/>
                </a:solidFill>
                <a:latin typeface="+mn-lt"/>
              </a:rPr>
              <a:t>(namespaces) — механизм ядра Linux, позволяющий изолировать ресурсы ОС для экземпляров процессов. Помещая процесс в пространство имен, можно ограничить ресурсы, видимые данному процессу. </a:t>
            </a:r>
          </a:p>
          <a:p>
            <a:pPr algn="just" fontAlgn="t">
              <a:defRPr/>
            </a:pPr>
            <a:r>
              <a:rPr lang="ru-RU">
                <a:solidFill>
                  <a:schemeClr val="bg1"/>
                </a:solidFill>
                <a:latin typeface="+mn-lt"/>
              </a:rPr>
              <a:t>При старте ОС создается пространство имен каждого типа, они называются инициализирующими (initial) или корневыми (root). Далее в них можно создавать дочерние пространства имен и помещать в них процессы. Процесс всегда находится ровно в одном пространстве имен каждого типа. </a:t>
            </a:r>
          </a:p>
          <a:p>
            <a:pPr algn="just" fontAlgn="t">
              <a:defRPr/>
            </a:pPr>
            <a:r>
              <a:rPr lang="ru-RU">
                <a:solidFill>
                  <a:schemeClr val="bg1"/>
                </a:solidFill>
                <a:latin typeface="+mn-lt"/>
              </a:rPr>
              <a:t>Типы пространств и изолируемых данных</a:t>
            </a:r>
            <a:r>
              <a:rPr lang="en-US">
                <a:solidFill>
                  <a:schemeClr val="bg1"/>
                </a:solidFill>
                <a:latin typeface="+mn-lt"/>
              </a:rPr>
              <a:t>:</a:t>
            </a:r>
            <a:endParaRPr lang="ru-RU">
              <a:solidFill>
                <a:schemeClr val="bg1"/>
              </a:solidFill>
              <a:latin typeface="+mn-lt"/>
            </a:endParaRPr>
          </a:p>
          <a:p>
            <a:pPr fontAlgn="t">
              <a:defRPr/>
            </a:pPr>
            <a:r>
              <a:rPr lang="ru-RU">
                <a:solidFill>
                  <a:srgbClr val="FFFF00"/>
                </a:solidFill>
                <a:latin typeface="+mn-lt"/>
              </a:rPr>
              <a:t>Cgroup </a:t>
            </a:r>
            <a:r>
              <a:rPr lang="ru-RU">
                <a:solidFill>
                  <a:schemeClr val="bg1"/>
                </a:solidFill>
                <a:latin typeface="+mn-lt"/>
              </a:rPr>
              <a:t>-  данные контрольных групп процессов</a:t>
            </a:r>
          </a:p>
          <a:p>
            <a:pPr fontAlgn="t">
              <a:defRPr/>
            </a:pPr>
            <a:r>
              <a:rPr lang="ru-RU">
                <a:solidFill>
                  <a:srgbClr val="FFFF00"/>
                </a:solidFill>
                <a:latin typeface="+mn-lt"/>
              </a:rPr>
              <a:t>IPC</a:t>
            </a:r>
            <a:r>
              <a:rPr lang="ru-RU">
                <a:solidFill>
                  <a:schemeClr val="bg1"/>
                </a:solidFill>
                <a:latin typeface="+mn-lt"/>
              </a:rPr>
              <a:t> -  ресурсы межпроцессного взаимодействия,  объекты  IPC и очереди сообщений POSIX</a:t>
            </a:r>
          </a:p>
          <a:p>
            <a:pPr fontAlgn="t">
              <a:defRPr/>
            </a:pPr>
            <a:r>
              <a:rPr lang="ru-RU">
                <a:solidFill>
                  <a:srgbClr val="FFFF00"/>
                </a:solidFill>
                <a:latin typeface="+mn-lt"/>
              </a:rPr>
              <a:t>Network</a:t>
            </a:r>
            <a:r>
              <a:rPr lang="ru-RU">
                <a:solidFill>
                  <a:schemeClr val="bg1"/>
                </a:solidFill>
                <a:latin typeface="+mn-lt"/>
              </a:rPr>
              <a:t> -  набор сетевых ресурсов</a:t>
            </a:r>
            <a:r>
              <a:rPr lang="en-US">
                <a:solidFill>
                  <a:schemeClr val="bg1"/>
                </a:solidFill>
                <a:latin typeface="+mn-lt"/>
              </a:rPr>
              <a:t>:</a:t>
            </a:r>
            <a:r>
              <a:rPr lang="ru-RU">
                <a:solidFill>
                  <a:schemeClr val="bg1"/>
                </a:solidFill>
                <a:latin typeface="+mn-lt"/>
              </a:rPr>
              <a:t> список IP-адресов, список сокетов, таблица IP-маршрутизации, брандмауэр. Каждый физический или виртуальный сетевой интерфейс может находиться только в одном пространстве имен Network</a:t>
            </a:r>
          </a:p>
          <a:p>
            <a:pPr fontAlgn="t">
              <a:defRPr/>
            </a:pPr>
            <a:r>
              <a:rPr lang="ru-RU">
                <a:solidFill>
                  <a:srgbClr val="FFFF00"/>
                </a:solidFill>
                <a:latin typeface="+mn-lt"/>
              </a:rPr>
              <a:t>Mount  </a:t>
            </a:r>
            <a:r>
              <a:rPr lang="ru-RU">
                <a:solidFill>
                  <a:schemeClr val="bg1"/>
                </a:solidFill>
                <a:latin typeface="+mn-lt"/>
              </a:rPr>
              <a:t>- точки монтирования файловой системы</a:t>
            </a:r>
          </a:p>
          <a:p>
            <a:pPr fontAlgn="t">
              <a:defRPr/>
            </a:pPr>
            <a:r>
              <a:rPr lang="ru-RU">
                <a:solidFill>
                  <a:srgbClr val="FFFF00"/>
                </a:solidFill>
                <a:latin typeface="+mn-lt"/>
              </a:rPr>
              <a:t>PID </a:t>
            </a:r>
            <a:r>
              <a:rPr lang="ru-RU">
                <a:solidFill>
                  <a:schemeClr val="bg1"/>
                </a:solidFill>
                <a:latin typeface="+mn-lt"/>
              </a:rPr>
              <a:t>-  независимый от других пространств набор идентификаторов процессов</a:t>
            </a:r>
          </a:p>
          <a:p>
            <a:pPr fontAlgn="t">
              <a:defRPr/>
            </a:pPr>
            <a:r>
              <a:rPr lang="ru-RU">
                <a:solidFill>
                  <a:srgbClr val="FFFF00"/>
                </a:solidFill>
                <a:latin typeface="+mn-lt"/>
              </a:rPr>
              <a:t>Time</a:t>
            </a:r>
            <a:r>
              <a:rPr lang="ru-RU">
                <a:solidFill>
                  <a:schemeClr val="bg1"/>
                </a:solidFill>
                <a:latin typeface="+mn-lt"/>
              </a:rPr>
              <a:t> – собственное системное время</a:t>
            </a:r>
          </a:p>
          <a:p>
            <a:pPr fontAlgn="t">
              <a:defRPr/>
            </a:pPr>
            <a:r>
              <a:rPr lang="ru-RU">
                <a:solidFill>
                  <a:srgbClr val="FFFF00"/>
                </a:solidFill>
                <a:latin typeface="+mn-lt"/>
              </a:rPr>
              <a:t>User </a:t>
            </a:r>
            <a:r>
              <a:rPr lang="ru-RU">
                <a:solidFill>
                  <a:schemeClr val="bg1"/>
                </a:solidFill>
                <a:latin typeface="+mn-lt"/>
              </a:rPr>
              <a:t>- изоляция идентификаторов пользователей и групп, корневой каталог, ключи и привилегии</a:t>
            </a:r>
          </a:p>
          <a:p>
            <a:pPr fontAlgn="t">
              <a:defRPr/>
            </a:pPr>
            <a:r>
              <a:rPr lang="ru-RU">
                <a:solidFill>
                  <a:srgbClr val="FFFF00"/>
                </a:solidFill>
                <a:latin typeface="+mn-lt"/>
              </a:rPr>
              <a:t>UTS - </a:t>
            </a:r>
            <a:r>
              <a:rPr lang="ru-RU">
                <a:solidFill>
                  <a:schemeClr val="bg1"/>
                </a:solidFill>
                <a:latin typeface="+mn-lt"/>
              </a:rPr>
              <a:t>изоляция хостовых и доменных имен</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1403350" y="188913"/>
            <a:ext cx="6408738"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ru-RU" sz="3200">
                <a:solidFill>
                  <a:schemeClr val="bg1"/>
                </a:solidFill>
                <a:latin typeface="+mn-lt"/>
              </a:rPr>
              <a:t>Docker</a:t>
            </a:r>
            <a:r>
              <a:rPr lang="ru-RU" altLang="ru-RU" sz="3200">
                <a:solidFill>
                  <a:schemeClr val="bg1"/>
                </a:solidFill>
                <a:latin typeface="+mn-lt"/>
              </a:rPr>
              <a:t>. Архитектура</a:t>
            </a:r>
            <a:endParaRPr lang="ru-RU" altLang="ru-RU" sz="3200" dirty="0">
              <a:solidFill>
                <a:schemeClr val="bg1"/>
              </a:solidFill>
              <a:latin typeface="+mn-lt"/>
            </a:endParaRPr>
          </a:p>
        </p:txBody>
      </p:sp>
      <p:pic>
        <p:nvPicPr>
          <p:cNvPr id="18435"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pic>
        <p:nvPicPr>
          <p:cNvPr id="18436" name="Picture 2"/>
          <p:cNvPicPr>
            <a:picLocks noChangeAspect="1" noChangeArrowheads="1"/>
          </p:cNvPicPr>
          <p:nvPr/>
        </p:nvPicPr>
        <p:blipFill>
          <a:blip r:embed="rId4" cstate="print"/>
          <a:srcRect/>
          <a:stretch>
            <a:fillRect/>
          </a:stretch>
        </p:blipFill>
        <p:spPr bwMode="auto">
          <a:xfrm>
            <a:off x="1116013" y="3213100"/>
            <a:ext cx="6924675" cy="3462338"/>
          </a:xfrm>
          <a:prstGeom prst="rect">
            <a:avLst/>
          </a:prstGeom>
          <a:noFill/>
          <a:ln w="9525">
            <a:noFill/>
            <a:miter lim="800000"/>
            <a:headEnd/>
            <a:tailEnd/>
          </a:ln>
        </p:spPr>
      </p:pic>
      <p:sp>
        <p:nvSpPr>
          <p:cNvPr id="18437" name="Прямоугольник 5"/>
          <p:cNvSpPr>
            <a:spLocks noChangeArrowheads="1"/>
          </p:cNvSpPr>
          <p:nvPr/>
        </p:nvSpPr>
        <p:spPr bwMode="auto">
          <a:xfrm>
            <a:off x="468313" y="1052513"/>
            <a:ext cx="8351837" cy="2308225"/>
          </a:xfrm>
          <a:prstGeom prst="rect">
            <a:avLst/>
          </a:prstGeom>
          <a:noFill/>
          <a:ln w="9525">
            <a:noFill/>
            <a:miter lim="800000"/>
            <a:headEnd/>
            <a:tailEnd/>
          </a:ln>
        </p:spPr>
        <p:txBody>
          <a:bodyPr>
            <a:spAutoFit/>
          </a:bodyPr>
          <a:lstStyle/>
          <a:p>
            <a:pPr>
              <a:buFont typeface="Arial" charset="0"/>
              <a:buChar char="•"/>
            </a:pPr>
            <a:r>
              <a:rPr lang="en-US">
                <a:solidFill>
                  <a:srgbClr val="FFFF00"/>
                </a:solidFill>
              </a:rPr>
              <a:t> Daemon </a:t>
            </a:r>
            <a:r>
              <a:rPr lang="en-US">
                <a:solidFill>
                  <a:schemeClr val="bg1"/>
                </a:solidFill>
              </a:rPr>
              <a:t>-  </a:t>
            </a:r>
            <a:r>
              <a:rPr lang="ru-RU">
                <a:solidFill>
                  <a:schemeClr val="bg1"/>
                </a:solidFill>
              </a:rPr>
              <a:t>резидентный процесс</a:t>
            </a:r>
            <a:r>
              <a:rPr lang="en-US">
                <a:solidFill>
                  <a:schemeClr val="bg1"/>
                </a:solidFill>
              </a:rPr>
              <a:t>/</a:t>
            </a:r>
            <a:r>
              <a:rPr lang="ru-RU">
                <a:solidFill>
                  <a:schemeClr val="bg1"/>
                </a:solidFill>
              </a:rPr>
              <a:t>сервер</a:t>
            </a:r>
          </a:p>
          <a:p>
            <a:pPr>
              <a:buFont typeface="Arial" charset="0"/>
              <a:buChar char="•"/>
            </a:pPr>
            <a:r>
              <a:rPr lang="en-US">
                <a:solidFill>
                  <a:schemeClr val="bg1"/>
                </a:solidFill>
              </a:rPr>
              <a:t> </a:t>
            </a:r>
            <a:r>
              <a:rPr lang="ru-RU">
                <a:solidFill>
                  <a:schemeClr val="bg1"/>
                </a:solidFill>
              </a:rPr>
              <a:t>Клиент</a:t>
            </a:r>
          </a:p>
          <a:p>
            <a:pPr>
              <a:buFont typeface="Arial" charset="0"/>
              <a:buChar char="•"/>
            </a:pPr>
            <a:r>
              <a:rPr lang="en-US">
                <a:solidFill>
                  <a:schemeClr val="bg1"/>
                </a:solidFill>
              </a:rPr>
              <a:t> </a:t>
            </a:r>
            <a:r>
              <a:rPr lang="ru-RU">
                <a:solidFill>
                  <a:srgbClr val="FFFF00"/>
                </a:solidFill>
              </a:rPr>
              <a:t>Образ</a:t>
            </a:r>
            <a:r>
              <a:rPr lang="ru-RU">
                <a:solidFill>
                  <a:schemeClr val="bg1"/>
                </a:solidFill>
              </a:rPr>
              <a:t> (</a:t>
            </a:r>
            <a:r>
              <a:rPr lang="en-US">
                <a:solidFill>
                  <a:schemeClr val="bg1"/>
                </a:solidFill>
              </a:rPr>
              <a:t>image) -</a:t>
            </a:r>
            <a:r>
              <a:rPr lang="ru-RU">
                <a:solidFill>
                  <a:schemeClr val="bg1"/>
                </a:solidFill>
              </a:rPr>
              <a:t>неизменяемый файл (образ), из которого разворачиваются контейнеры</a:t>
            </a:r>
            <a:r>
              <a:rPr lang="en-US">
                <a:solidFill>
                  <a:schemeClr val="bg1"/>
                </a:solidFill>
              </a:rPr>
              <a:t> </a:t>
            </a:r>
          </a:p>
          <a:p>
            <a:pPr>
              <a:buFont typeface="Arial" charset="0"/>
              <a:buChar char="•"/>
            </a:pPr>
            <a:r>
              <a:rPr lang="ru-RU">
                <a:solidFill>
                  <a:schemeClr val="bg1"/>
                </a:solidFill>
              </a:rPr>
              <a:t> </a:t>
            </a:r>
            <a:r>
              <a:rPr lang="ru-RU">
                <a:solidFill>
                  <a:srgbClr val="FFFF00"/>
                </a:solidFill>
              </a:rPr>
              <a:t>Контейнер</a:t>
            </a:r>
            <a:r>
              <a:rPr lang="ru-RU">
                <a:solidFill>
                  <a:schemeClr val="bg1"/>
                </a:solidFill>
              </a:rPr>
              <a:t> - развернутое из образа и работающее приложение</a:t>
            </a:r>
          </a:p>
          <a:p>
            <a:pPr>
              <a:buFont typeface="Arial" charset="0"/>
              <a:buChar char="•"/>
            </a:pPr>
            <a:r>
              <a:rPr lang="ru-RU">
                <a:solidFill>
                  <a:schemeClr val="bg1"/>
                </a:solidFill>
              </a:rPr>
              <a:t> </a:t>
            </a:r>
            <a:r>
              <a:rPr lang="ru-RU">
                <a:solidFill>
                  <a:srgbClr val="FFFF00"/>
                </a:solidFill>
              </a:rPr>
              <a:t>Registry</a:t>
            </a:r>
            <a:r>
              <a:rPr lang="ru-RU">
                <a:solidFill>
                  <a:schemeClr val="bg1"/>
                </a:solidFill>
              </a:rPr>
              <a:t>- репозиторий с образами</a:t>
            </a:r>
          </a:p>
          <a:p>
            <a:pPr>
              <a:buFont typeface="Arial" charset="0"/>
              <a:buChar char="•"/>
            </a:pPr>
            <a:r>
              <a:rPr lang="ru-RU">
                <a:solidFill>
                  <a:schemeClr val="bg1"/>
                </a:solidFill>
              </a:rPr>
              <a:t> </a:t>
            </a:r>
            <a:r>
              <a:rPr lang="ru-RU">
                <a:solidFill>
                  <a:srgbClr val="FFFF00"/>
                </a:solidFill>
              </a:rPr>
              <a:t>Dockerfile</a:t>
            </a:r>
            <a:r>
              <a:rPr lang="ru-RU">
                <a:solidFill>
                  <a:schemeClr val="bg1"/>
                </a:solidFill>
              </a:rPr>
              <a:t> – командный файл инструкций для сборки образа</a:t>
            </a:r>
          </a:p>
          <a:p>
            <a:pPr>
              <a:buFont typeface="Arial" charset="0"/>
              <a:buChar char="•"/>
            </a:pPr>
            <a:endParaRPr lang="ru-RU">
              <a:solidFill>
                <a:schemeClr val="bg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755650" y="188913"/>
            <a:ext cx="7993063"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ru-RU" sz="3200">
                <a:solidFill>
                  <a:schemeClr val="bg1"/>
                </a:solidFill>
                <a:latin typeface="+mn-lt"/>
              </a:rPr>
              <a:t>Docker. </a:t>
            </a:r>
            <a:r>
              <a:rPr lang="ru-RU" altLang="ru-RU" sz="3200">
                <a:solidFill>
                  <a:schemeClr val="bg1"/>
                </a:solidFill>
                <a:latin typeface="+mn-lt"/>
              </a:rPr>
              <a:t>Команды работы с контейнерами</a:t>
            </a:r>
            <a:endParaRPr lang="ru-RU" altLang="ru-RU" sz="3200" dirty="0">
              <a:solidFill>
                <a:schemeClr val="bg1"/>
              </a:solidFill>
              <a:latin typeface="+mn-lt"/>
            </a:endParaRPr>
          </a:p>
        </p:txBody>
      </p:sp>
      <p:pic>
        <p:nvPicPr>
          <p:cNvPr id="19459"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7" name="Прямоугольник 6"/>
          <p:cNvSpPr/>
          <p:nvPr/>
        </p:nvSpPr>
        <p:spPr>
          <a:xfrm>
            <a:off x="468313" y="765175"/>
            <a:ext cx="8497887" cy="5908675"/>
          </a:xfrm>
          <a:prstGeom prst="rect">
            <a:avLst/>
          </a:prstGeom>
        </p:spPr>
        <p:txBody>
          <a:bodyPr>
            <a:spAutoFit/>
          </a:bodyPr>
          <a:lstStyle/>
          <a:p>
            <a:pPr>
              <a:defRPr/>
            </a:pPr>
            <a:r>
              <a:rPr lang="en-US">
                <a:solidFill>
                  <a:schemeClr val="bg1"/>
                </a:solidFill>
              </a:rPr>
              <a:t>docker system prune </a:t>
            </a:r>
          </a:p>
          <a:p>
            <a:pPr>
              <a:defRPr/>
            </a:pPr>
            <a:r>
              <a:rPr lang="en-US">
                <a:solidFill>
                  <a:schemeClr val="bg1"/>
                </a:solidFill>
                <a:latin typeface="+mn-lt"/>
              </a:rPr>
              <a:t>	</a:t>
            </a:r>
            <a:r>
              <a:rPr lang="ru-RU">
                <a:solidFill>
                  <a:schemeClr val="bg1"/>
                </a:solidFill>
                <a:latin typeface="+mn-lt"/>
              </a:rPr>
              <a:t>Удалить все неактивные контейнеры </a:t>
            </a:r>
            <a:r>
              <a:rPr lang="en-US">
                <a:solidFill>
                  <a:schemeClr val="bg1"/>
                </a:solidFill>
                <a:latin typeface="+mn-lt"/>
              </a:rPr>
              <a:t>Docker:</a:t>
            </a:r>
          </a:p>
          <a:p>
            <a:pPr>
              <a:defRPr/>
            </a:pPr>
            <a:r>
              <a:rPr lang="en-US">
                <a:solidFill>
                  <a:schemeClr val="bg1"/>
                </a:solidFill>
              </a:rPr>
              <a:t>docker logs &lt;container-id&gt;</a:t>
            </a:r>
          </a:p>
          <a:p>
            <a:pPr>
              <a:defRPr/>
            </a:pPr>
            <a:r>
              <a:rPr lang="en-US">
                <a:solidFill>
                  <a:schemeClr val="bg1"/>
                </a:solidFill>
                <a:latin typeface="+mn-lt"/>
              </a:rPr>
              <a:t>	</a:t>
            </a:r>
            <a:r>
              <a:rPr lang="ru-RU">
                <a:solidFill>
                  <a:schemeClr val="bg1"/>
                </a:solidFill>
                <a:latin typeface="+mn-lt"/>
              </a:rPr>
              <a:t>Вывести на экран </a:t>
            </a:r>
            <a:r>
              <a:rPr lang="en-US">
                <a:solidFill>
                  <a:schemeClr val="bg1"/>
                </a:solidFill>
                <a:latin typeface="+mn-lt"/>
              </a:rPr>
              <a:t>stderr </a:t>
            </a:r>
            <a:r>
              <a:rPr lang="ru-RU">
                <a:solidFill>
                  <a:schemeClr val="bg1"/>
                </a:solidFill>
                <a:latin typeface="+mn-lt"/>
              </a:rPr>
              <a:t>и </a:t>
            </a:r>
            <a:r>
              <a:rPr lang="en-US">
                <a:solidFill>
                  <a:schemeClr val="bg1"/>
                </a:solidFill>
                <a:latin typeface="+mn-lt"/>
              </a:rPr>
              <a:t>stdout </a:t>
            </a:r>
            <a:r>
              <a:rPr lang="ru-RU">
                <a:solidFill>
                  <a:schemeClr val="bg1"/>
                </a:solidFill>
                <a:latin typeface="+mn-lt"/>
              </a:rPr>
              <a:t>от запущенных в контейнере программ, </a:t>
            </a:r>
            <a:r>
              <a:rPr lang="en-US">
                <a:solidFill>
                  <a:schemeClr val="bg1"/>
                </a:solidFill>
                <a:latin typeface="+mn-lt"/>
              </a:rPr>
              <a:t>	</a:t>
            </a:r>
            <a:r>
              <a:rPr lang="ru-RU">
                <a:solidFill>
                  <a:schemeClr val="bg1"/>
                </a:solidFill>
                <a:latin typeface="+mn-lt"/>
              </a:rPr>
              <a:t>логирование контейнера </a:t>
            </a:r>
            <a:r>
              <a:rPr lang="en-US">
                <a:solidFill>
                  <a:schemeClr val="bg1"/>
                </a:solidFill>
                <a:latin typeface="+mn-lt"/>
              </a:rPr>
              <a:t>Docker</a:t>
            </a:r>
          </a:p>
          <a:p>
            <a:pPr>
              <a:defRPr/>
            </a:pPr>
            <a:r>
              <a:rPr lang="en-US">
                <a:solidFill>
                  <a:schemeClr val="bg1"/>
                </a:solidFill>
              </a:rPr>
              <a:t>docker ps </a:t>
            </a:r>
          </a:p>
          <a:p>
            <a:pPr>
              <a:defRPr/>
            </a:pPr>
            <a:r>
              <a:rPr lang="en-US">
                <a:solidFill>
                  <a:schemeClr val="bg1"/>
                </a:solidFill>
                <a:latin typeface="+mn-lt"/>
              </a:rPr>
              <a:t>	</a:t>
            </a:r>
            <a:r>
              <a:rPr lang="ru-RU">
                <a:solidFill>
                  <a:schemeClr val="bg1"/>
                </a:solidFill>
                <a:latin typeface="+mn-lt"/>
              </a:rPr>
              <a:t>Индекс активных контейнеров</a:t>
            </a:r>
          </a:p>
          <a:p>
            <a:pPr>
              <a:defRPr/>
            </a:pPr>
            <a:r>
              <a:rPr lang="en-US">
                <a:solidFill>
                  <a:schemeClr val="bg1"/>
                </a:solidFill>
              </a:rPr>
              <a:t>docker ps -a </a:t>
            </a:r>
          </a:p>
          <a:p>
            <a:pPr>
              <a:defRPr/>
            </a:pPr>
            <a:r>
              <a:rPr lang="en-US">
                <a:solidFill>
                  <a:schemeClr val="bg1"/>
                </a:solidFill>
                <a:latin typeface="+mn-lt"/>
              </a:rPr>
              <a:t>	</a:t>
            </a:r>
            <a:r>
              <a:rPr lang="ru-RU">
                <a:solidFill>
                  <a:schemeClr val="bg1"/>
                </a:solidFill>
                <a:latin typeface="+mn-lt"/>
              </a:rPr>
              <a:t>Индекс всех контейнеров, включая неактивные</a:t>
            </a:r>
          </a:p>
          <a:p>
            <a:pPr>
              <a:defRPr/>
            </a:pPr>
            <a:r>
              <a:rPr lang="en-US">
                <a:solidFill>
                  <a:schemeClr val="bg1"/>
                </a:solidFill>
              </a:rPr>
              <a:t>docker images </a:t>
            </a:r>
          </a:p>
          <a:p>
            <a:pPr>
              <a:defRPr/>
            </a:pPr>
            <a:r>
              <a:rPr lang="en-US">
                <a:solidFill>
                  <a:schemeClr val="bg1"/>
                </a:solidFill>
                <a:latin typeface="+mn-lt"/>
              </a:rPr>
              <a:t>	</a:t>
            </a:r>
            <a:r>
              <a:rPr lang="ru-RU">
                <a:solidFill>
                  <a:schemeClr val="bg1"/>
                </a:solidFill>
                <a:latin typeface="+mn-lt"/>
              </a:rPr>
              <a:t>Индекс образов, установленных в системе на данный момент</a:t>
            </a:r>
          </a:p>
          <a:p>
            <a:pPr>
              <a:defRPr/>
            </a:pPr>
            <a:r>
              <a:rPr lang="en-US">
                <a:solidFill>
                  <a:schemeClr val="bg1"/>
                </a:solidFill>
              </a:rPr>
              <a:t>docker stop &lt;container-id&gt; </a:t>
            </a:r>
          </a:p>
          <a:p>
            <a:pPr>
              <a:defRPr/>
            </a:pPr>
            <a:r>
              <a:rPr lang="en-US">
                <a:solidFill>
                  <a:schemeClr val="bg1"/>
                </a:solidFill>
                <a:latin typeface="+mn-lt"/>
              </a:rPr>
              <a:t>	</a:t>
            </a:r>
            <a:r>
              <a:rPr lang="ru-RU">
                <a:solidFill>
                  <a:schemeClr val="bg1"/>
                </a:solidFill>
                <a:latin typeface="+mn-lt"/>
              </a:rPr>
              <a:t>Деактивировать </a:t>
            </a:r>
            <a:r>
              <a:rPr lang="en-US">
                <a:solidFill>
                  <a:schemeClr val="bg1"/>
                </a:solidFill>
                <a:latin typeface="+mn-lt"/>
              </a:rPr>
              <a:t>Docker-</a:t>
            </a:r>
            <a:r>
              <a:rPr lang="ru-RU">
                <a:solidFill>
                  <a:schemeClr val="bg1"/>
                </a:solidFill>
                <a:latin typeface="+mn-lt"/>
              </a:rPr>
              <a:t>контейнер по идентификатору</a:t>
            </a:r>
          </a:p>
          <a:p>
            <a:pPr>
              <a:defRPr/>
            </a:pPr>
            <a:r>
              <a:rPr lang="en-US">
                <a:solidFill>
                  <a:schemeClr val="bg1"/>
                </a:solidFill>
              </a:rPr>
              <a:t>docker rm &lt;container-id&gt; </a:t>
            </a:r>
          </a:p>
          <a:p>
            <a:pPr>
              <a:defRPr/>
            </a:pPr>
            <a:r>
              <a:rPr lang="en-US">
                <a:solidFill>
                  <a:schemeClr val="bg1"/>
                </a:solidFill>
                <a:latin typeface="+mn-lt"/>
              </a:rPr>
              <a:t>	</a:t>
            </a:r>
            <a:r>
              <a:rPr lang="ru-RU">
                <a:solidFill>
                  <a:schemeClr val="bg1"/>
                </a:solidFill>
                <a:latin typeface="+mn-lt"/>
              </a:rPr>
              <a:t>Удалить неактивный контейнер по идентификатору:</a:t>
            </a:r>
          </a:p>
          <a:p>
            <a:pPr>
              <a:defRPr/>
            </a:pPr>
            <a:r>
              <a:rPr lang="en-US">
                <a:solidFill>
                  <a:schemeClr val="bg1"/>
                </a:solidFill>
              </a:rPr>
              <a:t>docker rmi &lt;image-name&gt;</a:t>
            </a:r>
            <a:endParaRPr lang="ru-RU">
              <a:solidFill>
                <a:schemeClr val="bg1"/>
              </a:solidFill>
            </a:endParaRPr>
          </a:p>
          <a:p>
            <a:pPr>
              <a:defRPr/>
            </a:pPr>
            <a:r>
              <a:rPr lang="en-US">
                <a:solidFill>
                  <a:schemeClr val="bg1"/>
                </a:solidFill>
                <a:latin typeface="+mn-lt"/>
              </a:rPr>
              <a:t>	</a:t>
            </a:r>
            <a:r>
              <a:rPr lang="ru-RU">
                <a:solidFill>
                  <a:schemeClr val="bg1"/>
                </a:solidFill>
                <a:latin typeface="+mn-lt"/>
              </a:rPr>
              <a:t>Удалить конкретный образ по его названию</a:t>
            </a:r>
          </a:p>
          <a:p>
            <a:pPr>
              <a:defRPr/>
            </a:pPr>
            <a:r>
              <a:rPr lang="en-US">
                <a:solidFill>
                  <a:schemeClr val="bg1"/>
                </a:solidFill>
                <a:latin typeface="+mn-lt"/>
              </a:rPr>
              <a:t>docker exec -it mongo bash</a:t>
            </a:r>
          </a:p>
          <a:p>
            <a:pPr>
              <a:defRPr/>
            </a:pPr>
            <a:r>
              <a:rPr lang="ru-RU">
                <a:solidFill>
                  <a:schemeClr val="bg1"/>
                </a:solidFill>
                <a:latin typeface="+mn-lt"/>
              </a:rPr>
              <a:t>	</a:t>
            </a:r>
            <a:r>
              <a:rPr lang="en-US">
                <a:solidFill>
                  <a:schemeClr val="bg1"/>
                </a:solidFill>
                <a:latin typeface="+mn-lt"/>
              </a:rPr>
              <a:t>&gt;mongorestore --gzip --drop --archive=ess24567.gz</a:t>
            </a:r>
          </a:p>
          <a:p>
            <a:pPr>
              <a:defRPr/>
            </a:pPr>
            <a:r>
              <a:rPr lang="en-US">
                <a:solidFill>
                  <a:schemeClr val="bg1"/>
                </a:solidFill>
                <a:latin typeface="+mn-lt"/>
              </a:rPr>
              <a:t>	&gt;exit</a:t>
            </a:r>
          </a:p>
          <a:p>
            <a:pPr>
              <a:defRPr/>
            </a:pPr>
            <a:r>
              <a:rPr lang="en-US">
                <a:solidFill>
                  <a:schemeClr val="bg1"/>
                </a:solidFill>
                <a:latin typeface="+mn-lt"/>
              </a:rPr>
              <a:t>	</a:t>
            </a:r>
            <a:r>
              <a:rPr lang="ru-RU">
                <a:solidFill>
                  <a:schemeClr val="bg1"/>
                </a:solidFill>
                <a:latin typeface="+mn-lt"/>
              </a:rPr>
              <a:t>Создать в контейнере </a:t>
            </a:r>
            <a:r>
              <a:rPr lang="en-US">
                <a:solidFill>
                  <a:schemeClr val="bg1"/>
                </a:solidFill>
                <a:latin typeface="+mn-lt"/>
              </a:rPr>
              <a:t>mongo</a:t>
            </a:r>
            <a:r>
              <a:rPr lang="ru-RU">
                <a:solidFill>
                  <a:schemeClr val="bg1"/>
                </a:solidFill>
                <a:latin typeface="+mn-lt"/>
              </a:rPr>
              <a:t> процесс с  </a:t>
            </a:r>
            <a:r>
              <a:rPr lang="en-US">
                <a:solidFill>
                  <a:schemeClr val="bg1"/>
                </a:solidFill>
                <a:latin typeface="+mn-lt"/>
              </a:rPr>
              <a:t>bash</a:t>
            </a:r>
            <a:endParaRPr lang="ru-RU">
              <a:solidFill>
                <a:schemeClr val="bg1"/>
              </a:solidFill>
              <a:latin typeface="+mn-l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684213" y="115888"/>
            <a:ext cx="7993062"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ru-RU" sz="3200">
                <a:solidFill>
                  <a:schemeClr val="bg1"/>
                </a:solidFill>
                <a:latin typeface="+mn-lt"/>
              </a:rPr>
              <a:t>Docker. </a:t>
            </a:r>
            <a:r>
              <a:rPr lang="ru-RU" altLang="ru-RU" sz="3200">
                <a:solidFill>
                  <a:schemeClr val="bg1"/>
                </a:solidFill>
                <a:latin typeface="+mn-lt"/>
              </a:rPr>
              <a:t>Контейнеры БД и сервера</a:t>
            </a:r>
            <a:endParaRPr lang="ru-RU" altLang="ru-RU" sz="3200" dirty="0">
              <a:solidFill>
                <a:schemeClr val="bg1"/>
              </a:solidFill>
              <a:latin typeface="+mn-lt"/>
            </a:endParaRPr>
          </a:p>
        </p:txBody>
      </p:sp>
      <p:pic>
        <p:nvPicPr>
          <p:cNvPr id="20483"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sp>
        <p:nvSpPr>
          <p:cNvPr id="5" name="Скругленный прямоугольник 4"/>
          <p:cNvSpPr/>
          <p:nvPr/>
        </p:nvSpPr>
        <p:spPr>
          <a:xfrm>
            <a:off x="250825" y="765175"/>
            <a:ext cx="2592388" cy="11509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600"/>
              <a:t>mongo</a:t>
            </a:r>
            <a:endParaRPr lang="ru-RU" sz="1600"/>
          </a:p>
        </p:txBody>
      </p:sp>
      <p:sp>
        <p:nvSpPr>
          <p:cNvPr id="6" name="Скругленный прямоугольник 5"/>
          <p:cNvSpPr/>
          <p:nvPr/>
        </p:nvSpPr>
        <p:spPr>
          <a:xfrm>
            <a:off x="1403350" y="836613"/>
            <a:ext cx="1152525" cy="4318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mondoDB</a:t>
            </a:r>
            <a:endParaRPr lang="ru-RU" sz="1600">
              <a:solidFill>
                <a:schemeClr val="tx1"/>
              </a:solidFill>
            </a:endParaRPr>
          </a:p>
        </p:txBody>
      </p:sp>
      <p:sp>
        <p:nvSpPr>
          <p:cNvPr id="8" name="Скругленный прямоугольник 7"/>
          <p:cNvSpPr/>
          <p:nvPr/>
        </p:nvSpPr>
        <p:spPr>
          <a:xfrm>
            <a:off x="1331913" y="1341438"/>
            <a:ext cx="1295400" cy="4318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Ess24567.gz</a:t>
            </a:r>
            <a:endParaRPr lang="ru-RU" sz="1600">
              <a:solidFill>
                <a:schemeClr val="tx1"/>
              </a:solidFill>
            </a:endParaRPr>
          </a:p>
        </p:txBody>
      </p:sp>
      <p:sp>
        <p:nvSpPr>
          <p:cNvPr id="10" name="Скругленный прямоугольник 9"/>
          <p:cNvSpPr/>
          <p:nvPr/>
        </p:nvSpPr>
        <p:spPr>
          <a:xfrm>
            <a:off x="6659563" y="836613"/>
            <a:ext cx="2233612" cy="16557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600"/>
              <a:t>ess2</a:t>
            </a:r>
            <a:endParaRPr lang="ru-RU" sz="1600"/>
          </a:p>
        </p:txBody>
      </p:sp>
      <p:sp>
        <p:nvSpPr>
          <p:cNvPr id="11" name="Скругленный прямоугольник 10"/>
          <p:cNvSpPr/>
          <p:nvPr/>
        </p:nvSpPr>
        <p:spPr>
          <a:xfrm>
            <a:off x="7667625" y="981075"/>
            <a:ext cx="1081088" cy="4318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Java8</a:t>
            </a:r>
            <a:endParaRPr lang="ru-RU" sz="1600">
              <a:solidFill>
                <a:schemeClr val="tx1"/>
              </a:solidFill>
            </a:endParaRPr>
          </a:p>
        </p:txBody>
      </p:sp>
      <p:sp>
        <p:nvSpPr>
          <p:cNvPr id="12" name="Скругленный прямоугольник 11"/>
          <p:cNvSpPr/>
          <p:nvPr/>
        </p:nvSpPr>
        <p:spPr>
          <a:xfrm>
            <a:off x="7164388" y="1484313"/>
            <a:ext cx="1655762" cy="4318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ESS2Desktop.jar</a:t>
            </a:r>
            <a:endParaRPr lang="ru-RU" sz="1600">
              <a:solidFill>
                <a:schemeClr val="tx1"/>
              </a:solidFill>
            </a:endParaRPr>
          </a:p>
        </p:txBody>
      </p:sp>
      <p:sp>
        <p:nvSpPr>
          <p:cNvPr id="13" name="Скругленный прямоугольник 12"/>
          <p:cNvSpPr/>
          <p:nvPr/>
        </p:nvSpPr>
        <p:spPr>
          <a:xfrm>
            <a:off x="7164388" y="1989138"/>
            <a:ext cx="1295400" cy="4318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4567/*.*</a:t>
            </a:r>
            <a:endParaRPr lang="ru-RU" sz="1600">
              <a:solidFill>
                <a:schemeClr val="tx1"/>
              </a:solidFill>
            </a:endParaRPr>
          </a:p>
        </p:txBody>
      </p:sp>
      <p:sp>
        <p:nvSpPr>
          <p:cNvPr id="14" name="Скругленный прямоугольник 13"/>
          <p:cNvSpPr/>
          <p:nvPr/>
        </p:nvSpPr>
        <p:spPr>
          <a:xfrm>
            <a:off x="323850" y="3357563"/>
            <a:ext cx="2447925" cy="1150937"/>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600"/>
              <a:t>mongo</a:t>
            </a:r>
            <a:endParaRPr lang="ru-RU" sz="1600"/>
          </a:p>
        </p:txBody>
      </p:sp>
      <p:sp>
        <p:nvSpPr>
          <p:cNvPr id="15" name="Скругленный прямоугольник 14"/>
          <p:cNvSpPr/>
          <p:nvPr/>
        </p:nvSpPr>
        <p:spPr>
          <a:xfrm>
            <a:off x="1476375" y="3429000"/>
            <a:ext cx="1150938" cy="4318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mondoDB</a:t>
            </a:r>
            <a:endParaRPr lang="ru-RU" sz="1600">
              <a:solidFill>
                <a:schemeClr val="tx1"/>
              </a:solidFill>
            </a:endParaRPr>
          </a:p>
        </p:txBody>
      </p:sp>
      <p:sp>
        <p:nvSpPr>
          <p:cNvPr id="16" name="Скругленный прямоугольник 15"/>
          <p:cNvSpPr/>
          <p:nvPr/>
        </p:nvSpPr>
        <p:spPr>
          <a:xfrm>
            <a:off x="468313" y="4005263"/>
            <a:ext cx="1295400" cy="4318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Ess24567.gz</a:t>
            </a:r>
            <a:endParaRPr lang="ru-RU" sz="1600">
              <a:solidFill>
                <a:schemeClr val="tx1"/>
              </a:solidFill>
            </a:endParaRPr>
          </a:p>
        </p:txBody>
      </p:sp>
      <p:sp>
        <p:nvSpPr>
          <p:cNvPr id="20494" name="Прямоугольник 16"/>
          <p:cNvSpPr>
            <a:spLocks noChangeArrowheads="1"/>
          </p:cNvSpPr>
          <p:nvPr/>
        </p:nvSpPr>
        <p:spPr bwMode="auto">
          <a:xfrm>
            <a:off x="3059113" y="981075"/>
            <a:ext cx="5905500" cy="2030413"/>
          </a:xfrm>
          <a:prstGeom prst="rect">
            <a:avLst/>
          </a:prstGeom>
          <a:noFill/>
          <a:ln w="9525">
            <a:noFill/>
            <a:miter lim="800000"/>
            <a:headEnd/>
            <a:tailEnd/>
          </a:ln>
        </p:spPr>
        <p:txBody>
          <a:bodyPr>
            <a:spAutoFit/>
          </a:bodyPr>
          <a:lstStyle/>
          <a:p>
            <a:r>
              <a:rPr lang="en-US" sz="1400">
                <a:solidFill>
                  <a:schemeClr val="bg1"/>
                </a:solidFill>
              </a:rPr>
              <a:t>FROM openjdk:8</a:t>
            </a:r>
          </a:p>
          <a:p>
            <a:r>
              <a:rPr lang="en-US" sz="1400">
                <a:solidFill>
                  <a:schemeClr val="bg1"/>
                </a:solidFill>
              </a:rPr>
              <a:t>RUN mkdir /opt/dataserver</a:t>
            </a:r>
          </a:p>
          <a:p>
            <a:r>
              <a:rPr lang="en-US" sz="1400">
                <a:solidFill>
                  <a:schemeClr val="bg1"/>
                </a:solidFill>
              </a:rPr>
              <a:t>RUN mkdir /opt/dataserver/4567</a:t>
            </a:r>
          </a:p>
          <a:p>
            <a:r>
              <a:rPr lang="en-US" sz="1400">
                <a:solidFill>
                  <a:schemeClr val="bg1"/>
                </a:solidFill>
              </a:rPr>
              <a:t>COPY ESS2Desktop.jar /opt/dataserver</a:t>
            </a:r>
          </a:p>
          <a:p>
            <a:r>
              <a:rPr lang="en-US" sz="1400">
                <a:solidFill>
                  <a:schemeClr val="bg1"/>
                </a:solidFill>
              </a:rPr>
              <a:t>COPY 4567 /opt/dataserver/4567</a:t>
            </a:r>
          </a:p>
          <a:p>
            <a:r>
              <a:rPr lang="en-US" sz="1400">
                <a:solidFill>
                  <a:schemeClr val="bg1"/>
                </a:solidFill>
              </a:rPr>
              <a:t>WORKDIR  /opt/dataserver</a:t>
            </a:r>
          </a:p>
          <a:p>
            <a:r>
              <a:rPr lang="en-US" sz="1400">
                <a:solidFill>
                  <a:schemeClr val="bg1"/>
                </a:solidFill>
              </a:rPr>
              <a:t>CMD ["java", "-cp", "ESS2Desktop.jar","romanow.abc.dataserver.ESSConsoleServer","port:4567","conf:BARS","network:mongo"]</a:t>
            </a:r>
            <a:endParaRPr lang="ru-RU" sz="1400">
              <a:solidFill>
                <a:schemeClr val="bg1"/>
              </a:solidFill>
            </a:endParaRPr>
          </a:p>
        </p:txBody>
      </p:sp>
      <p:sp>
        <p:nvSpPr>
          <p:cNvPr id="20495" name="Прямоугольник 17"/>
          <p:cNvSpPr>
            <a:spLocks noChangeArrowheads="1"/>
          </p:cNvSpPr>
          <p:nvPr/>
        </p:nvSpPr>
        <p:spPr bwMode="auto">
          <a:xfrm>
            <a:off x="179388" y="2133600"/>
            <a:ext cx="4572000" cy="1168400"/>
          </a:xfrm>
          <a:prstGeom prst="rect">
            <a:avLst/>
          </a:prstGeom>
          <a:noFill/>
          <a:ln w="9525">
            <a:noFill/>
            <a:miter lim="800000"/>
            <a:headEnd/>
            <a:tailEnd/>
          </a:ln>
        </p:spPr>
        <p:txBody>
          <a:bodyPr>
            <a:spAutoFit/>
          </a:bodyPr>
          <a:lstStyle/>
          <a:p>
            <a:r>
              <a:rPr lang="en-US" sz="1400">
                <a:solidFill>
                  <a:schemeClr val="bg1"/>
                </a:solidFill>
              </a:rPr>
              <a:t>FROM mongo:4.4</a:t>
            </a:r>
          </a:p>
          <a:p>
            <a:r>
              <a:rPr lang="en-US" sz="1400">
                <a:solidFill>
                  <a:schemeClr val="bg1"/>
                </a:solidFill>
              </a:rPr>
              <a:t>RUN mkdir /opt/mongo</a:t>
            </a:r>
          </a:p>
          <a:p>
            <a:r>
              <a:rPr lang="en-US" sz="1400">
                <a:solidFill>
                  <a:schemeClr val="bg1"/>
                </a:solidFill>
              </a:rPr>
              <a:t>COPY ess24567.gz /opt/mongo</a:t>
            </a:r>
          </a:p>
          <a:p>
            <a:r>
              <a:rPr lang="en-US" sz="1400">
                <a:solidFill>
                  <a:schemeClr val="bg1"/>
                </a:solidFill>
              </a:rPr>
              <a:t>WORKDIR  /opt/mongo</a:t>
            </a:r>
          </a:p>
          <a:p>
            <a:r>
              <a:rPr lang="en-US" sz="1400">
                <a:solidFill>
                  <a:schemeClr val="bg1"/>
                </a:solidFill>
              </a:rPr>
              <a:t>CMD ["mongod","--wiredTigerCacheSizeGB","1"]</a:t>
            </a:r>
            <a:endParaRPr lang="ru-RU" sz="1400">
              <a:solidFill>
                <a:schemeClr val="bg1"/>
              </a:solidFill>
            </a:endParaRPr>
          </a:p>
        </p:txBody>
      </p:sp>
      <p:sp>
        <p:nvSpPr>
          <p:cNvPr id="19" name="Скругленный прямоугольник 18"/>
          <p:cNvSpPr/>
          <p:nvPr/>
        </p:nvSpPr>
        <p:spPr>
          <a:xfrm>
            <a:off x="6372225" y="3068638"/>
            <a:ext cx="2520950" cy="165576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600"/>
              <a:t>ess2</a:t>
            </a:r>
            <a:endParaRPr lang="ru-RU" sz="1600"/>
          </a:p>
        </p:txBody>
      </p:sp>
      <p:sp>
        <p:nvSpPr>
          <p:cNvPr id="20" name="Скругленный прямоугольник 19"/>
          <p:cNvSpPr/>
          <p:nvPr/>
        </p:nvSpPr>
        <p:spPr>
          <a:xfrm>
            <a:off x="7667625" y="3213100"/>
            <a:ext cx="1081088" cy="4318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Java8</a:t>
            </a:r>
            <a:endParaRPr lang="ru-RU" sz="1600">
              <a:solidFill>
                <a:schemeClr val="tx1"/>
              </a:solidFill>
            </a:endParaRPr>
          </a:p>
        </p:txBody>
      </p:sp>
      <p:sp>
        <p:nvSpPr>
          <p:cNvPr id="21" name="Скругленный прямоугольник 20"/>
          <p:cNvSpPr/>
          <p:nvPr/>
        </p:nvSpPr>
        <p:spPr>
          <a:xfrm>
            <a:off x="7164388" y="3716338"/>
            <a:ext cx="1655762" cy="433387"/>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ESS2Desktop.jar</a:t>
            </a:r>
            <a:endParaRPr lang="ru-RU" sz="1600">
              <a:solidFill>
                <a:schemeClr val="tx1"/>
              </a:solidFill>
            </a:endParaRPr>
          </a:p>
        </p:txBody>
      </p:sp>
      <p:sp>
        <p:nvSpPr>
          <p:cNvPr id="22" name="Скругленный прямоугольник 21"/>
          <p:cNvSpPr/>
          <p:nvPr/>
        </p:nvSpPr>
        <p:spPr>
          <a:xfrm>
            <a:off x="6588125" y="4221163"/>
            <a:ext cx="1296988" cy="4318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4567/*.*</a:t>
            </a:r>
            <a:endParaRPr lang="ru-RU" sz="1600">
              <a:solidFill>
                <a:schemeClr val="tx1"/>
              </a:solidFill>
            </a:endParaRPr>
          </a:p>
        </p:txBody>
      </p:sp>
      <p:sp>
        <p:nvSpPr>
          <p:cNvPr id="20500" name="Прямоугольник 22"/>
          <p:cNvSpPr>
            <a:spLocks noChangeArrowheads="1"/>
          </p:cNvSpPr>
          <p:nvPr/>
        </p:nvSpPr>
        <p:spPr bwMode="auto">
          <a:xfrm>
            <a:off x="4140200" y="4797425"/>
            <a:ext cx="2693988" cy="338138"/>
          </a:xfrm>
          <a:prstGeom prst="rect">
            <a:avLst/>
          </a:prstGeom>
          <a:noFill/>
          <a:ln w="9525">
            <a:noFill/>
            <a:miter lim="800000"/>
            <a:headEnd/>
            <a:tailEnd/>
          </a:ln>
        </p:spPr>
        <p:txBody>
          <a:bodyPr wrap="none">
            <a:spAutoFit/>
          </a:bodyPr>
          <a:lstStyle/>
          <a:p>
            <a:r>
              <a:rPr lang="en-US" sz="1600">
                <a:solidFill>
                  <a:schemeClr val="bg1"/>
                </a:solidFill>
              </a:rPr>
              <a:t>docker network create ess2</a:t>
            </a:r>
            <a:endParaRPr lang="ru-RU" sz="1600">
              <a:solidFill>
                <a:schemeClr val="bg1"/>
              </a:solidFill>
            </a:endParaRPr>
          </a:p>
        </p:txBody>
      </p:sp>
      <p:cxnSp>
        <p:nvCxnSpPr>
          <p:cNvPr id="25" name="Прямая соединительная линия 24"/>
          <p:cNvCxnSpPr/>
          <p:nvPr/>
        </p:nvCxnSpPr>
        <p:spPr>
          <a:xfrm>
            <a:off x="2195513" y="5157788"/>
            <a:ext cx="6048375"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8027988" y="4149725"/>
            <a:ext cx="0" cy="1008063"/>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20503" name="Прямоугольник 30"/>
          <p:cNvSpPr>
            <a:spLocks noChangeArrowheads="1"/>
          </p:cNvSpPr>
          <p:nvPr/>
        </p:nvSpPr>
        <p:spPr bwMode="auto">
          <a:xfrm>
            <a:off x="3851275" y="3573463"/>
            <a:ext cx="2449513" cy="954087"/>
          </a:xfrm>
          <a:prstGeom prst="rect">
            <a:avLst/>
          </a:prstGeom>
          <a:noFill/>
          <a:ln w="9525">
            <a:noFill/>
            <a:miter lim="800000"/>
            <a:headEnd/>
            <a:tailEnd/>
          </a:ln>
        </p:spPr>
        <p:txBody>
          <a:bodyPr>
            <a:spAutoFit/>
          </a:bodyPr>
          <a:lstStyle/>
          <a:p>
            <a:r>
              <a:rPr lang="en-US" sz="1400">
                <a:solidFill>
                  <a:schemeClr val="bg1"/>
                </a:solidFill>
              </a:rPr>
              <a:t>docker run -d --network ess2 --name ess2 -p 4567:4567 </a:t>
            </a:r>
            <a:r>
              <a:rPr lang="ru-RU" sz="1400">
                <a:solidFill>
                  <a:schemeClr val="bg1"/>
                </a:solidFill>
              </a:rPr>
              <a:t>   </a:t>
            </a:r>
            <a:r>
              <a:rPr lang="en-US" sz="1400">
                <a:solidFill>
                  <a:schemeClr val="bg1"/>
                </a:solidFill>
              </a:rPr>
              <a:t>-p 4568:4568 </a:t>
            </a:r>
            <a:r>
              <a:rPr lang="ru-RU" sz="1400">
                <a:solidFill>
                  <a:schemeClr val="bg1"/>
                </a:solidFill>
              </a:rPr>
              <a:t>                       </a:t>
            </a:r>
            <a:r>
              <a:rPr lang="en-US" sz="1400">
                <a:solidFill>
                  <a:schemeClr val="bg1"/>
                </a:solidFill>
              </a:rPr>
              <a:t>-e TZ=Asia/Novosibirsk ess2</a:t>
            </a:r>
            <a:endParaRPr lang="ru-RU" sz="1400">
              <a:solidFill>
                <a:schemeClr val="bg1"/>
              </a:solidFill>
            </a:endParaRPr>
          </a:p>
        </p:txBody>
      </p:sp>
      <p:cxnSp>
        <p:nvCxnSpPr>
          <p:cNvPr id="32" name="Прямая соединительная линия 31"/>
          <p:cNvCxnSpPr/>
          <p:nvPr/>
        </p:nvCxnSpPr>
        <p:spPr>
          <a:xfrm>
            <a:off x="8604250" y="4149725"/>
            <a:ext cx="0" cy="1655763"/>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20505" name="Прямоугольник 34"/>
          <p:cNvSpPr>
            <a:spLocks noChangeArrowheads="1"/>
          </p:cNvSpPr>
          <p:nvPr/>
        </p:nvSpPr>
        <p:spPr bwMode="auto">
          <a:xfrm>
            <a:off x="8027988" y="4221163"/>
            <a:ext cx="525462" cy="276225"/>
          </a:xfrm>
          <a:prstGeom prst="rect">
            <a:avLst/>
          </a:prstGeom>
          <a:noFill/>
          <a:ln w="9525">
            <a:noFill/>
            <a:miter lim="800000"/>
            <a:headEnd/>
            <a:tailEnd/>
          </a:ln>
        </p:spPr>
        <p:txBody>
          <a:bodyPr wrap="none">
            <a:spAutoFit/>
          </a:bodyPr>
          <a:lstStyle/>
          <a:p>
            <a:r>
              <a:rPr lang="en-US" sz="1200">
                <a:solidFill>
                  <a:schemeClr val="bg1"/>
                </a:solidFill>
              </a:rPr>
              <a:t>4567</a:t>
            </a:r>
          </a:p>
        </p:txBody>
      </p:sp>
      <p:sp>
        <p:nvSpPr>
          <p:cNvPr id="20506" name="Прямоугольник 35"/>
          <p:cNvSpPr>
            <a:spLocks noChangeArrowheads="1"/>
          </p:cNvSpPr>
          <p:nvPr/>
        </p:nvSpPr>
        <p:spPr bwMode="auto">
          <a:xfrm>
            <a:off x="8027988" y="5445125"/>
            <a:ext cx="525462" cy="277813"/>
          </a:xfrm>
          <a:prstGeom prst="rect">
            <a:avLst/>
          </a:prstGeom>
          <a:noFill/>
          <a:ln w="9525">
            <a:noFill/>
            <a:miter lim="800000"/>
            <a:headEnd/>
            <a:tailEnd/>
          </a:ln>
        </p:spPr>
        <p:txBody>
          <a:bodyPr wrap="none">
            <a:spAutoFit/>
          </a:bodyPr>
          <a:lstStyle/>
          <a:p>
            <a:r>
              <a:rPr lang="en-US" sz="1200">
                <a:solidFill>
                  <a:schemeClr val="bg1"/>
                </a:solidFill>
              </a:rPr>
              <a:t>4567</a:t>
            </a:r>
          </a:p>
        </p:txBody>
      </p:sp>
      <p:sp>
        <p:nvSpPr>
          <p:cNvPr id="20507" name="Прямоугольник 36"/>
          <p:cNvSpPr>
            <a:spLocks noChangeArrowheads="1"/>
          </p:cNvSpPr>
          <p:nvPr/>
        </p:nvSpPr>
        <p:spPr bwMode="auto">
          <a:xfrm>
            <a:off x="6443663" y="3789363"/>
            <a:ext cx="715962" cy="276225"/>
          </a:xfrm>
          <a:prstGeom prst="rect">
            <a:avLst/>
          </a:prstGeom>
          <a:noFill/>
          <a:ln w="9525">
            <a:noFill/>
            <a:miter lim="800000"/>
            <a:headEnd/>
            <a:tailEnd/>
          </a:ln>
        </p:spPr>
        <p:txBody>
          <a:bodyPr wrap="none">
            <a:spAutoFit/>
          </a:bodyPr>
          <a:lstStyle/>
          <a:p>
            <a:r>
              <a:rPr lang="ru-RU" sz="1200">
                <a:solidFill>
                  <a:schemeClr val="bg1"/>
                </a:solidFill>
              </a:rPr>
              <a:t>Сервер</a:t>
            </a:r>
          </a:p>
        </p:txBody>
      </p:sp>
      <p:sp>
        <p:nvSpPr>
          <p:cNvPr id="38" name="Скругленный прямоугольник 37"/>
          <p:cNvSpPr/>
          <p:nvPr/>
        </p:nvSpPr>
        <p:spPr>
          <a:xfrm>
            <a:off x="7308850" y="5805488"/>
            <a:ext cx="1655763" cy="4318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a:solidFill>
                  <a:schemeClr val="tx1"/>
                </a:solidFill>
              </a:rPr>
              <a:t>ESS2Desktop.jar</a:t>
            </a:r>
            <a:endParaRPr lang="ru-RU" sz="1600">
              <a:solidFill>
                <a:schemeClr val="tx1"/>
              </a:solidFill>
            </a:endParaRPr>
          </a:p>
        </p:txBody>
      </p:sp>
      <p:sp>
        <p:nvSpPr>
          <p:cNvPr id="20509" name="Прямоугольник 39"/>
          <p:cNvSpPr>
            <a:spLocks noChangeArrowheads="1"/>
          </p:cNvSpPr>
          <p:nvPr/>
        </p:nvSpPr>
        <p:spPr bwMode="auto">
          <a:xfrm>
            <a:off x="7380288" y="6308725"/>
            <a:ext cx="1512887" cy="277813"/>
          </a:xfrm>
          <a:prstGeom prst="rect">
            <a:avLst/>
          </a:prstGeom>
          <a:noFill/>
          <a:ln w="9525">
            <a:noFill/>
            <a:miter lim="800000"/>
            <a:headEnd/>
            <a:tailEnd/>
          </a:ln>
        </p:spPr>
        <p:txBody>
          <a:bodyPr>
            <a:spAutoFit/>
          </a:bodyPr>
          <a:lstStyle/>
          <a:p>
            <a:r>
              <a:rPr lang="en-US" sz="1200">
                <a:solidFill>
                  <a:schemeClr val="bg1"/>
                </a:solidFill>
              </a:rPr>
              <a:t>Desltop-</a:t>
            </a:r>
            <a:r>
              <a:rPr lang="ru-RU" sz="1200">
                <a:solidFill>
                  <a:schemeClr val="bg1"/>
                </a:solidFill>
              </a:rPr>
              <a:t>клиент</a:t>
            </a:r>
          </a:p>
        </p:txBody>
      </p:sp>
      <p:cxnSp>
        <p:nvCxnSpPr>
          <p:cNvPr id="41" name="Прямая соединительная линия 40"/>
          <p:cNvCxnSpPr/>
          <p:nvPr/>
        </p:nvCxnSpPr>
        <p:spPr>
          <a:xfrm>
            <a:off x="2339975" y="3860800"/>
            <a:ext cx="0" cy="1296988"/>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20511" name="Прямоугольник 42"/>
          <p:cNvSpPr>
            <a:spLocks noChangeArrowheads="1"/>
          </p:cNvSpPr>
          <p:nvPr/>
        </p:nvSpPr>
        <p:spPr bwMode="auto">
          <a:xfrm>
            <a:off x="6875463" y="4797425"/>
            <a:ext cx="1122362" cy="276225"/>
          </a:xfrm>
          <a:prstGeom prst="rect">
            <a:avLst/>
          </a:prstGeom>
          <a:noFill/>
          <a:ln w="9525">
            <a:noFill/>
            <a:miter lim="800000"/>
            <a:headEnd/>
            <a:tailEnd/>
          </a:ln>
        </p:spPr>
        <p:txBody>
          <a:bodyPr wrap="none">
            <a:spAutoFit/>
          </a:bodyPr>
          <a:lstStyle/>
          <a:p>
            <a:r>
              <a:rPr lang="en-US" sz="1200">
                <a:solidFill>
                  <a:schemeClr val="bg1"/>
                </a:solidFill>
              </a:rPr>
              <a:t>mongo:27017</a:t>
            </a:r>
          </a:p>
        </p:txBody>
      </p:sp>
      <p:sp>
        <p:nvSpPr>
          <p:cNvPr id="20512" name="Прямоугольник 50"/>
          <p:cNvSpPr>
            <a:spLocks noChangeArrowheads="1"/>
          </p:cNvSpPr>
          <p:nvPr/>
        </p:nvSpPr>
        <p:spPr bwMode="auto">
          <a:xfrm>
            <a:off x="2195513" y="5300663"/>
            <a:ext cx="2881312" cy="523875"/>
          </a:xfrm>
          <a:prstGeom prst="rect">
            <a:avLst/>
          </a:prstGeom>
          <a:noFill/>
          <a:ln w="9525">
            <a:noFill/>
            <a:miter lim="800000"/>
            <a:headEnd/>
            <a:tailEnd/>
          </a:ln>
        </p:spPr>
        <p:txBody>
          <a:bodyPr>
            <a:spAutoFit/>
          </a:bodyPr>
          <a:lstStyle/>
          <a:p>
            <a:r>
              <a:rPr lang="en-US" sz="1400">
                <a:solidFill>
                  <a:schemeClr val="bg1"/>
                </a:solidFill>
              </a:rPr>
              <a:t>docker run -d --network ess2        --name mongo -v /data/db mongo </a:t>
            </a:r>
            <a:endParaRPr lang="ru-RU" sz="1400">
              <a:solidFill>
                <a:schemeClr val="bg1"/>
              </a:solidFill>
            </a:endParaRPr>
          </a:p>
        </p:txBody>
      </p:sp>
      <p:pic>
        <p:nvPicPr>
          <p:cNvPr id="20513" name="Picture 2" descr="F:\ABC\ESS2Android\app\src\main\res\drawable\connect_on.png"/>
          <p:cNvPicPr>
            <a:picLocks noChangeAspect="1" noChangeArrowheads="1"/>
          </p:cNvPicPr>
          <p:nvPr/>
        </p:nvPicPr>
        <p:blipFill>
          <a:blip r:embed="rId4" cstate="print"/>
          <a:srcRect/>
          <a:stretch>
            <a:fillRect/>
          </a:stretch>
        </p:blipFill>
        <p:spPr bwMode="auto">
          <a:xfrm>
            <a:off x="395288" y="5732463"/>
            <a:ext cx="406400" cy="406400"/>
          </a:xfrm>
          <a:prstGeom prst="rect">
            <a:avLst/>
          </a:prstGeom>
          <a:noFill/>
          <a:ln w="9525">
            <a:noFill/>
            <a:miter lim="800000"/>
            <a:headEnd/>
            <a:tailEnd/>
          </a:ln>
        </p:spPr>
      </p:pic>
      <p:sp>
        <p:nvSpPr>
          <p:cNvPr id="20514" name="Прямоугольник 51"/>
          <p:cNvSpPr>
            <a:spLocks noChangeArrowheads="1"/>
          </p:cNvSpPr>
          <p:nvPr/>
        </p:nvSpPr>
        <p:spPr bwMode="auto">
          <a:xfrm>
            <a:off x="250825" y="6092825"/>
            <a:ext cx="4572000" cy="523875"/>
          </a:xfrm>
          <a:prstGeom prst="rect">
            <a:avLst/>
          </a:prstGeom>
          <a:noFill/>
          <a:ln w="9525">
            <a:noFill/>
            <a:miter lim="800000"/>
            <a:headEnd/>
            <a:tailEnd/>
          </a:ln>
        </p:spPr>
        <p:txBody>
          <a:bodyPr>
            <a:spAutoFit/>
          </a:bodyPr>
          <a:lstStyle/>
          <a:p>
            <a:r>
              <a:rPr lang="en-US" sz="1400">
                <a:solidFill>
                  <a:schemeClr val="bg1"/>
                </a:solidFill>
              </a:rPr>
              <a:t>docker exec -it mongo bash</a:t>
            </a:r>
          </a:p>
          <a:p>
            <a:r>
              <a:rPr lang="en-US" sz="1400">
                <a:solidFill>
                  <a:schemeClr val="bg1"/>
                </a:solidFill>
              </a:rPr>
              <a:t>&gt; mongorestore --gzip --drop --archive=ess24567.gz</a:t>
            </a:r>
            <a:endParaRPr lang="ru-RU" sz="1400">
              <a:solidFill>
                <a:schemeClr val="bg1"/>
              </a:solidFill>
            </a:endParaRPr>
          </a:p>
        </p:txBody>
      </p:sp>
      <p:cxnSp>
        <p:nvCxnSpPr>
          <p:cNvPr id="53" name="Прямая соединительная линия 52"/>
          <p:cNvCxnSpPr/>
          <p:nvPr/>
        </p:nvCxnSpPr>
        <p:spPr>
          <a:xfrm flipV="1">
            <a:off x="684213" y="4437063"/>
            <a:ext cx="0" cy="1223962"/>
          </a:xfrm>
          <a:prstGeom prst="line">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p:cNvCxnSpPr>
            <a:stCxn id="16" idx="0"/>
            <a:endCxn id="15" idx="1"/>
          </p:cNvCxnSpPr>
          <p:nvPr/>
        </p:nvCxnSpPr>
        <p:spPr>
          <a:xfrm flipV="1">
            <a:off x="1116013" y="3644900"/>
            <a:ext cx="360362" cy="360363"/>
          </a:xfrm>
          <a:prstGeom prst="line">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755650" y="188913"/>
            <a:ext cx="7993063"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ru-RU" sz="3200">
                <a:solidFill>
                  <a:schemeClr val="bg1"/>
                </a:solidFill>
                <a:latin typeface="+mn-lt"/>
              </a:rPr>
              <a:t>Docker. </a:t>
            </a:r>
            <a:r>
              <a:rPr lang="ru-RU" altLang="ru-RU" sz="3200">
                <a:solidFill>
                  <a:schemeClr val="bg1"/>
                </a:solidFill>
              </a:rPr>
              <a:t>Контейнеры БД и сервера</a:t>
            </a:r>
            <a:endParaRPr lang="ru-RU" altLang="ru-RU" sz="3200" dirty="0">
              <a:solidFill>
                <a:schemeClr val="bg1"/>
              </a:solidFill>
              <a:latin typeface="+mn-lt"/>
            </a:endParaRPr>
          </a:p>
        </p:txBody>
      </p:sp>
      <p:pic>
        <p:nvPicPr>
          <p:cNvPr id="21507"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pic>
        <p:nvPicPr>
          <p:cNvPr id="21508" name="Picture 2"/>
          <p:cNvPicPr>
            <a:picLocks noChangeAspect="1" noChangeArrowheads="1"/>
          </p:cNvPicPr>
          <p:nvPr/>
        </p:nvPicPr>
        <p:blipFill>
          <a:blip r:embed="rId4" cstate="print"/>
          <a:srcRect/>
          <a:stretch>
            <a:fillRect/>
          </a:stretch>
        </p:blipFill>
        <p:spPr bwMode="auto">
          <a:xfrm>
            <a:off x="2771775" y="981075"/>
            <a:ext cx="6089650" cy="2300288"/>
          </a:xfrm>
          <a:prstGeom prst="rect">
            <a:avLst/>
          </a:prstGeom>
          <a:noFill/>
          <a:ln w="9525">
            <a:noFill/>
            <a:miter lim="800000"/>
            <a:headEnd/>
            <a:tailEnd/>
          </a:ln>
        </p:spPr>
      </p:pic>
      <p:pic>
        <p:nvPicPr>
          <p:cNvPr id="21509" name="Picture 3"/>
          <p:cNvPicPr>
            <a:picLocks noChangeAspect="1" noChangeArrowheads="1"/>
          </p:cNvPicPr>
          <p:nvPr/>
        </p:nvPicPr>
        <p:blipFill>
          <a:blip r:embed="rId5" cstate="print"/>
          <a:srcRect/>
          <a:stretch>
            <a:fillRect/>
          </a:stretch>
        </p:blipFill>
        <p:spPr bwMode="auto">
          <a:xfrm>
            <a:off x="468313" y="2852738"/>
            <a:ext cx="3184525" cy="3551237"/>
          </a:xfrm>
          <a:prstGeom prst="rect">
            <a:avLst/>
          </a:prstGeom>
          <a:noFill/>
          <a:ln w="9525">
            <a:noFill/>
            <a:miter lim="800000"/>
            <a:headEnd/>
            <a:tailEnd/>
          </a:ln>
        </p:spPr>
      </p:pic>
      <p:pic>
        <p:nvPicPr>
          <p:cNvPr id="21510" name="Picture 4"/>
          <p:cNvPicPr>
            <a:picLocks noChangeAspect="1" noChangeArrowheads="1"/>
          </p:cNvPicPr>
          <p:nvPr/>
        </p:nvPicPr>
        <p:blipFill>
          <a:blip r:embed="rId6" cstate="print"/>
          <a:srcRect/>
          <a:stretch>
            <a:fillRect/>
          </a:stretch>
        </p:blipFill>
        <p:spPr bwMode="auto">
          <a:xfrm>
            <a:off x="250825" y="765175"/>
            <a:ext cx="3024188" cy="2519363"/>
          </a:xfrm>
          <a:prstGeom prst="rect">
            <a:avLst/>
          </a:prstGeom>
          <a:noFill/>
          <a:ln w="9525">
            <a:solidFill>
              <a:schemeClr val="accent1"/>
            </a:solidFill>
            <a:miter lim="800000"/>
            <a:headEnd/>
            <a:tailEnd/>
          </a:ln>
        </p:spPr>
      </p:pic>
      <p:pic>
        <p:nvPicPr>
          <p:cNvPr id="21511" name="Picture 7"/>
          <p:cNvPicPr>
            <a:picLocks noChangeAspect="1" noChangeArrowheads="1"/>
          </p:cNvPicPr>
          <p:nvPr/>
        </p:nvPicPr>
        <p:blipFill>
          <a:blip r:embed="rId7" cstate="print"/>
          <a:srcRect/>
          <a:stretch>
            <a:fillRect/>
          </a:stretch>
        </p:blipFill>
        <p:spPr bwMode="auto">
          <a:xfrm>
            <a:off x="684213" y="5084763"/>
            <a:ext cx="8220075" cy="1543050"/>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755650" y="188913"/>
            <a:ext cx="7993063" cy="560387"/>
          </a:xfrm>
          <a:prstGeom prst="rect">
            <a:avLst/>
          </a:prstGeom>
          <a:noFill/>
          <a:ln w="9525">
            <a:noFill/>
            <a:round/>
            <a:headEnd/>
            <a:tailEnd/>
          </a:ln>
          <a:effectLst/>
        </p:spPr>
        <p:txBody>
          <a:bodyPr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ru-RU" sz="3200">
                <a:solidFill>
                  <a:schemeClr val="bg1"/>
                </a:solidFill>
                <a:latin typeface="+mn-lt"/>
              </a:rPr>
              <a:t>Docker. </a:t>
            </a:r>
            <a:r>
              <a:rPr lang="ru-RU" altLang="ru-RU" sz="3200">
                <a:solidFill>
                  <a:schemeClr val="bg1"/>
                </a:solidFill>
              </a:rPr>
              <a:t>Контейнеры БД и сервера</a:t>
            </a:r>
            <a:endParaRPr lang="ru-RU" altLang="ru-RU" sz="3200" dirty="0">
              <a:solidFill>
                <a:schemeClr val="bg1"/>
              </a:solidFill>
              <a:latin typeface="+mn-lt"/>
            </a:endParaRPr>
          </a:p>
        </p:txBody>
      </p:sp>
      <p:pic>
        <p:nvPicPr>
          <p:cNvPr id="22531" name="Picture 2"/>
          <p:cNvPicPr>
            <a:picLocks noChangeAspect="1" noChangeArrowheads="1"/>
          </p:cNvPicPr>
          <p:nvPr/>
        </p:nvPicPr>
        <p:blipFill>
          <a:blip r:embed="rId3" cstate="print"/>
          <a:srcRect/>
          <a:stretch>
            <a:fillRect/>
          </a:stretch>
        </p:blipFill>
        <p:spPr bwMode="auto">
          <a:xfrm>
            <a:off x="179388" y="188913"/>
            <a:ext cx="400050" cy="400050"/>
          </a:xfrm>
          <a:prstGeom prst="rect">
            <a:avLst/>
          </a:prstGeom>
          <a:noFill/>
          <a:ln w="9525">
            <a:noFill/>
            <a:round/>
            <a:headEnd/>
            <a:tailEnd/>
          </a:ln>
        </p:spPr>
      </p:pic>
      <p:pic>
        <p:nvPicPr>
          <p:cNvPr id="22532" name="Picture 3"/>
          <p:cNvPicPr>
            <a:picLocks noChangeAspect="1" noChangeArrowheads="1"/>
          </p:cNvPicPr>
          <p:nvPr/>
        </p:nvPicPr>
        <p:blipFill>
          <a:blip r:embed="rId4" cstate="print"/>
          <a:srcRect/>
          <a:stretch>
            <a:fillRect/>
          </a:stretch>
        </p:blipFill>
        <p:spPr bwMode="auto">
          <a:xfrm>
            <a:off x="395288" y="1125538"/>
            <a:ext cx="7924800" cy="1685925"/>
          </a:xfrm>
          <a:prstGeom prst="rect">
            <a:avLst/>
          </a:prstGeom>
          <a:noFill/>
          <a:ln w="9525">
            <a:noFill/>
            <a:miter lim="800000"/>
            <a:headEnd/>
            <a:tailEnd/>
          </a:ln>
        </p:spPr>
      </p:pic>
      <p:sp>
        <p:nvSpPr>
          <p:cNvPr id="10" name="Прямоугольник 9"/>
          <p:cNvSpPr/>
          <p:nvPr/>
        </p:nvSpPr>
        <p:spPr>
          <a:xfrm>
            <a:off x="395288" y="692150"/>
            <a:ext cx="1570037" cy="369888"/>
          </a:xfrm>
          <a:prstGeom prst="rect">
            <a:avLst/>
          </a:prstGeom>
        </p:spPr>
        <p:txBody>
          <a:bodyPr wrap="none">
            <a:spAutoFit/>
          </a:bodyPr>
          <a:lstStyle/>
          <a:p>
            <a:pPr>
              <a:defRPr/>
            </a:pPr>
            <a:r>
              <a:rPr lang="en-US">
                <a:solidFill>
                  <a:schemeClr val="bg1"/>
                </a:solidFill>
                <a:latin typeface="+mn-lt"/>
              </a:rPr>
              <a:t>DockerfileESS2</a:t>
            </a:r>
            <a:endParaRPr lang="ru-RU">
              <a:latin typeface="+mn-lt"/>
            </a:endParaRPr>
          </a:p>
        </p:txBody>
      </p:sp>
      <p:sp>
        <p:nvSpPr>
          <p:cNvPr id="11" name="Прямоугольник 10"/>
          <p:cNvSpPr/>
          <p:nvPr/>
        </p:nvSpPr>
        <p:spPr>
          <a:xfrm>
            <a:off x="2411413" y="2924175"/>
            <a:ext cx="1801812" cy="369888"/>
          </a:xfrm>
          <a:prstGeom prst="rect">
            <a:avLst/>
          </a:prstGeom>
        </p:spPr>
        <p:txBody>
          <a:bodyPr wrap="none">
            <a:spAutoFit/>
          </a:bodyPr>
          <a:lstStyle/>
          <a:p>
            <a:pPr>
              <a:defRPr/>
            </a:pPr>
            <a:r>
              <a:rPr lang="en-US">
                <a:solidFill>
                  <a:schemeClr val="bg1"/>
                </a:solidFill>
                <a:latin typeface="+mn-lt"/>
              </a:rPr>
              <a:t>DockerfileMongo</a:t>
            </a:r>
            <a:endParaRPr lang="ru-RU">
              <a:latin typeface="+mn-lt"/>
            </a:endParaRPr>
          </a:p>
        </p:txBody>
      </p:sp>
      <p:pic>
        <p:nvPicPr>
          <p:cNvPr id="22535" name="Picture 4"/>
          <p:cNvPicPr>
            <a:picLocks noChangeAspect="1" noChangeArrowheads="1"/>
          </p:cNvPicPr>
          <p:nvPr/>
        </p:nvPicPr>
        <p:blipFill>
          <a:blip r:embed="rId5" cstate="print"/>
          <a:srcRect/>
          <a:stretch>
            <a:fillRect/>
          </a:stretch>
        </p:blipFill>
        <p:spPr bwMode="auto">
          <a:xfrm>
            <a:off x="4356100" y="2924175"/>
            <a:ext cx="3981450" cy="1019175"/>
          </a:xfrm>
          <a:prstGeom prst="rect">
            <a:avLst/>
          </a:prstGeom>
          <a:noFill/>
          <a:ln w="9525">
            <a:noFill/>
            <a:miter lim="800000"/>
            <a:headEnd/>
            <a:tailEnd/>
          </a:ln>
        </p:spPr>
      </p:pic>
      <p:sp>
        <p:nvSpPr>
          <p:cNvPr id="13" name="Прямоугольник 12"/>
          <p:cNvSpPr/>
          <p:nvPr/>
        </p:nvSpPr>
        <p:spPr>
          <a:xfrm>
            <a:off x="468313" y="3789363"/>
            <a:ext cx="8135937" cy="2584450"/>
          </a:xfrm>
          <a:prstGeom prst="rect">
            <a:avLst/>
          </a:prstGeom>
        </p:spPr>
        <p:txBody>
          <a:bodyPr>
            <a:spAutoFit/>
          </a:bodyPr>
          <a:lstStyle/>
          <a:p>
            <a:pPr>
              <a:defRPr/>
            </a:pPr>
            <a:r>
              <a:rPr lang="ru-RU">
                <a:solidFill>
                  <a:schemeClr val="bg1"/>
                </a:solidFill>
                <a:latin typeface="Arial" pitchFamily="34" charset="0"/>
                <a:cs typeface="Arial" pitchFamily="34" charset="0"/>
              </a:rPr>
              <a:t>Инструкции </a:t>
            </a:r>
            <a:r>
              <a:rPr lang="en-US">
                <a:solidFill>
                  <a:schemeClr val="bg1"/>
                </a:solidFill>
                <a:latin typeface="Arial" pitchFamily="34" charset="0"/>
                <a:cs typeface="Arial" pitchFamily="34" charset="0"/>
              </a:rPr>
              <a:t>Dockerfile:</a:t>
            </a:r>
          </a:p>
          <a:p>
            <a:pPr>
              <a:defRPr/>
            </a:pPr>
            <a:r>
              <a:rPr lang="en-US">
                <a:solidFill>
                  <a:schemeClr val="bg1"/>
                </a:solidFill>
                <a:latin typeface="Arial" pitchFamily="34" charset="0"/>
                <a:cs typeface="Arial" pitchFamily="34" charset="0"/>
              </a:rPr>
              <a:t>FROM – </a:t>
            </a:r>
            <a:r>
              <a:rPr lang="ru-RU">
                <a:solidFill>
                  <a:schemeClr val="bg1"/>
                </a:solidFill>
                <a:latin typeface="Arial" pitchFamily="34" charset="0"/>
                <a:cs typeface="Arial" pitchFamily="34" charset="0"/>
              </a:rPr>
              <a:t>установка образа контейнера из репозитория</a:t>
            </a:r>
          </a:p>
          <a:p>
            <a:pPr>
              <a:defRPr/>
            </a:pPr>
            <a:r>
              <a:rPr lang="en-US">
                <a:solidFill>
                  <a:schemeClr val="bg1"/>
                </a:solidFill>
                <a:latin typeface="Arial" pitchFamily="34" charset="0"/>
                <a:cs typeface="Arial" pitchFamily="34" charset="0"/>
              </a:rPr>
              <a:t>RUN – </a:t>
            </a:r>
            <a:r>
              <a:rPr lang="ru-RU">
                <a:solidFill>
                  <a:schemeClr val="bg1"/>
                </a:solidFill>
                <a:latin typeface="Arial" pitchFamily="34" charset="0"/>
                <a:cs typeface="Arial" pitchFamily="34" charset="0"/>
              </a:rPr>
              <a:t>исполнение команды </a:t>
            </a:r>
            <a:r>
              <a:rPr lang="en-US">
                <a:solidFill>
                  <a:schemeClr val="bg1"/>
                </a:solidFill>
                <a:latin typeface="Arial" pitchFamily="34" charset="0"/>
                <a:cs typeface="Arial" pitchFamily="34" charset="0"/>
              </a:rPr>
              <a:t>Linux </a:t>
            </a:r>
            <a:r>
              <a:rPr lang="ru-RU">
                <a:solidFill>
                  <a:schemeClr val="bg1"/>
                </a:solidFill>
                <a:latin typeface="Arial" pitchFamily="34" charset="0"/>
                <a:cs typeface="Arial" pitchFamily="34" charset="0"/>
              </a:rPr>
              <a:t>в процессе создания контейнера</a:t>
            </a:r>
          </a:p>
          <a:p>
            <a:pPr>
              <a:defRPr/>
            </a:pPr>
            <a:r>
              <a:rPr lang="en-US">
                <a:solidFill>
                  <a:schemeClr val="bg1"/>
                </a:solidFill>
                <a:latin typeface="Arial" pitchFamily="34" charset="0"/>
                <a:cs typeface="Arial" pitchFamily="34" charset="0"/>
              </a:rPr>
              <a:t>COPY – </a:t>
            </a:r>
            <a:r>
              <a:rPr lang="ru-RU">
                <a:solidFill>
                  <a:schemeClr val="bg1"/>
                </a:solidFill>
                <a:latin typeface="Arial" pitchFamily="34" charset="0"/>
                <a:cs typeface="Arial" pitchFamily="34" charset="0"/>
              </a:rPr>
              <a:t>копирование файлов (каталогов) в ФС контейнера</a:t>
            </a:r>
          </a:p>
          <a:p>
            <a:pPr>
              <a:defRPr/>
            </a:pPr>
            <a:r>
              <a:rPr lang="en-US">
                <a:solidFill>
                  <a:schemeClr val="bg1"/>
                </a:solidFill>
                <a:latin typeface="Arial" pitchFamily="34" charset="0"/>
                <a:cs typeface="Arial" pitchFamily="34" charset="0"/>
              </a:rPr>
              <a:t>WORKDIR – </a:t>
            </a:r>
            <a:r>
              <a:rPr lang="ru-RU">
                <a:solidFill>
                  <a:schemeClr val="bg1"/>
                </a:solidFill>
                <a:latin typeface="Arial" pitchFamily="34" charset="0"/>
                <a:cs typeface="Arial" pitchFamily="34" charset="0"/>
              </a:rPr>
              <a:t>рабочий каталог контейнера</a:t>
            </a:r>
          </a:p>
          <a:p>
            <a:pPr>
              <a:defRPr/>
            </a:pPr>
            <a:r>
              <a:rPr lang="en-US">
                <a:solidFill>
                  <a:schemeClr val="bg1"/>
                </a:solidFill>
                <a:latin typeface="Arial" pitchFamily="34" charset="0"/>
                <a:cs typeface="Arial" pitchFamily="34" charset="0"/>
              </a:rPr>
              <a:t>CMD – </a:t>
            </a:r>
            <a:r>
              <a:rPr lang="ru-RU">
                <a:solidFill>
                  <a:schemeClr val="bg1"/>
                </a:solidFill>
                <a:latin typeface="Arial" pitchFamily="34" charset="0"/>
                <a:cs typeface="Arial" pitchFamily="34" charset="0"/>
              </a:rPr>
              <a:t>исполнение команды в запущенном контейнере (одна !!!!)</a:t>
            </a:r>
          </a:p>
          <a:p>
            <a:pPr>
              <a:defRPr/>
            </a:pPr>
            <a:r>
              <a:rPr lang="en-US">
                <a:solidFill>
                  <a:schemeClr val="bg1"/>
                </a:solidFill>
                <a:latin typeface="Arial" pitchFamily="34" charset="0"/>
                <a:cs typeface="Arial" pitchFamily="34" charset="0"/>
              </a:rPr>
              <a:t>ENV – </a:t>
            </a:r>
            <a:r>
              <a:rPr lang="ru-RU">
                <a:solidFill>
                  <a:schemeClr val="bg1"/>
                </a:solidFill>
                <a:latin typeface="Arial" pitchFamily="34" charset="0"/>
                <a:cs typeface="Arial" pitchFamily="34" charset="0"/>
              </a:rPr>
              <a:t>определение переменной окружения</a:t>
            </a:r>
          </a:p>
          <a:p>
            <a:pPr>
              <a:defRPr/>
            </a:pPr>
            <a:endParaRPr lang="en-US">
              <a:solidFill>
                <a:schemeClr val="bg1"/>
              </a:solidFill>
              <a:latin typeface="Arial" pitchFamily="34" charset="0"/>
              <a:cs typeface="Arial" pitchFamily="34" charset="0"/>
            </a:endParaRPr>
          </a:p>
          <a:p>
            <a:pPr>
              <a:defRPr/>
            </a:pPr>
            <a:endParaRPr lang="ru-RU">
              <a:latin typeface="+mn-l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2537</TotalTime>
  <Words>1886</Words>
  <Application>Microsoft Office PowerPoint</Application>
  <PresentationFormat>Экран (4:3)</PresentationFormat>
  <Paragraphs>397</Paragraphs>
  <Slides>39</Slides>
  <Notes>15</Notes>
  <HiddenSlides>0</HiddenSlides>
  <MMClips>0</MMClips>
  <ScaleCrop>false</ScaleCrop>
  <HeadingPairs>
    <vt:vector size="4" baseType="variant">
      <vt:variant>
        <vt:lpstr>Тема</vt:lpstr>
      </vt:variant>
      <vt:variant>
        <vt:i4>1</vt:i4>
      </vt:variant>
      <vt:variant>
        <vt:lpstr>Заголовки слайдов</vt:lpstr>
      </vt:variant>
      <vt:variant>
        <vt:i4>39</vt:i4>
      </vt:variant>
    </vt:vector>
  </HeadingPairs>
  <TitlesOfParts>
    <vt:vector size="40" baseType="lpstr">
      <vt:lpstr>Тема Office</vt:lpstr>
      <vt:lpstr>Слайд 1</vt:lpstr>
      <vt:lpstr>Слайд 2</vt:lpstr>
      <vt:lpstr>Слайд 3</vt:lpstr>
      <vt:lpstr>Слайд 4</vt:lpstr>
      <vt:lpstr>Слайд 5</vt:lpstr>
      <vt:lpstr>Слайд 6</vt:lpstr>
      <vt:lpstr>Слайд 7</vt:lpstr>
      <vt:lpstr>Слайд 8</vt:lpstr>
      <vt:lpstr>Слайд 9</vt:lpstr>
      <vt:lpstr>Слайд 10</vt:lpstr>
      <vt:lpstr>Слайд 11</vt:lpstr>
      <vt:lpstr>Слайд 12</vt:lpstr>
      <vt:lpstr>Слайд 13</vt:lpstr>
      <vt:lpstr>Слайд 14</vt:lpstr>
      <vt:lpstr>Слайд 15</vt:lpstr>
      <vt:lpstr>Слайд 16</vt:lpstr>
      <vt:lpstr>Слайд 17</vt:lpstr>
      <vt:lpstr>Слайд 18</vt:lpstr>
      <vt:lpstr>Слайд 19</vt:lpstr>
      <vt:lpstr>Слайд 20</vt:lpstr>
      <vt:lpstr>Слайд 21</vt:lpstr>
      <vt:lpstr>Слайд 22</vt:lpstr>
      <vt:lpstr>Слайд 23</vt:lpstr>
      <vt:lpstr>Слайд 24</vt:lpstr>
      <vt:lpstr>Слайд 25</vt:lpstr>
      <vt:lpstr>Слайд 26</vt:lpstr>
      <vt:lpstr>Слайд 27</vt:lpstr>
      <vt:lpstr>Слайд 28</vt:lpstr>
      <vt:lpstr>Слайд 29</vt:lpstr>
      <vt:lpstr>Слайд 30</vt:lpstr>
      <vt:lpstr>Слайд 31</vt:lpstr>
      <vt:lpstr>Слайд 32</vt:lpstr>
      <vt:lpstr>Слайд 33</vt:lpstr>
      <vt:lpstr>Слайд 34</vt:lpstr>
      <vt:lpstr>Слайд 35</vt:lpstr>
      <vt:lpstr>Слайд 36</vt:lpstr>
      <vt:lpstr>Слайд 37</vt:lpstr>
      <vt:lpstr>Слайд 38</vt:lpstr>
      <vt:lpstr>Слайд 39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Admin</cp:lastModifiedBy>
  <cp:revision>225</cp:revision>
  <dcterms:created xsi:type="dcterms:W3CDTF">2013-11-27T15:30:29Z</dcterms:created>
  <dcterms:modified xsi:type="dcterms:W3CDTF">2023-05-21T16:59:19Z</dcterms:modified>
</cp:coreProperties>
</file>