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2AC824-0C05-E76A-F9F5-051330CFE430}"/>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6C30A8CB-D206-82ED-2237-A7F4B0DECB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09853F13-6323-B637-08B6-95042A71F65A}"/>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5" name="Нижний колонтитул 4">
            <a:extLst>
              <a:ext uri="{FF2B5EF4-FFF2-40B4-BE49-F238E27FC236}">
                <a16:creationId xmlns:a16="http://schemas.microsoft.com/office/drawing/2014/main" id="{73A85C16-8904-236E-3844-7C39F30B3F9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F2F33B8-7DC4-688F-A8D6-28FF647B6A70}"/>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1708357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48E133-79BC-2A5B-979B-F761B25A6C0B}"/>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24DC1704-4CBD-E196-8B86-DE9C8F5F173A}"/>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0018323-4170-0694-7D6D-396C1E4D7ACF}"/>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5" name="Нижний колонтитул 4">
            <a:extLst>
              <a:ext uri="{FF2B5EF4-FFF2-40B4-BE49-F238E27FC236}">
                <a16:creationId xmlns:a16="http://schemas.microsoft.com/office/drawing/2014/main" id="{ECDEF595-FB23-0677-B302-5329839C02A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97FAE09-6E22-974F-CF68-5938578CC961}"/>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3227744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2A660A-676A-623D-66A5-EE4DFC4BE3EA}"/>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213FB73-0235-89CE-1549-CB0769D9E5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A07CCBEA-3A5F-E33F-55AB-6B19F9D796EB}"/>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5" name="Нижний колонтитул 4">
            <a:extLst>
              <a:ext uri="{FF2B5EF4-FFF2-40B4-BE49-F238E27FC236}">
                <a16:creationId xmlns:a16="http://schemas.microsoft.com/office/drawing/2014/main" id="{0A2EA55E-14E1-8F7B-5DAB-8ECCDBFC63E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5E86D18-6BCD-43B4-808E-4A4F8FEA061F}"/>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2365939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6C74AD-B69A-B346-4370-10FC0632574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BD8A9C3-5B12-7525-6246-E890CC8939BB}"/>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EF7CFC0A-5ECE-199B-C3E2-F1FD0759A964}"/>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F97EEAF8-482E-70BB-BEE2-252286C87CAA}"/>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6" name="Нижний колонтитул 5">
            <a:extLst>
              <a:ext uri="{FF2B5EF4-FFF2-40B4-BE49-F238E27FC236}">
                <a16:creationId xmlns:a16="http://schemas.microsoft.com/office/drawing/2014/main" id="{546901DA-2776-EDF2-90A4-DC2D458DF28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7895E54-3EE1-F16F-112A-6DFCADD3E3C3}"/>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3407893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B57F93-1F1E-951F-AB27-F63E095F5C20}"/>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EBF1B809-B9F6-486E-098C-46FFA973D9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E895D22E-68F5-E503-6AA8-F0B41332D29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8AE0C5E2-E2F3-FF05-D290-90B821B225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D38477C-CB6D-8D51-C8CF-ED955372D4DA}"/>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6BB954A6-D1A3-FFCA-A33F-55FDB4F96101}"/>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8" name="Нижний колонтитул 7">
            <a:extLst>
              <a:ext uri="{FF2B5EF4-FFF2-40B4-BE49-F238E27FC236}">
                <a16:creationId xmlns:a16="http://schemas.microsoft.com/office/drawing/2014/main" id="{EE9FC1C0-ADFE-7CAE-AA05-1E558D666BB7}"/>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512304CA-D61E-7581-3ACA-FC36702C3327}"/>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2509891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3E246A-A97D-44B0-19BB-B8CD22102405}"/>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8EA9A92D-7F3E-1F38-2B1E-371C5A223578}"/>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4" name="Нижний колонтитул 3">
            <a:extLst>
              <a:ext uri="{FF2B5EF4-FFF2-40B4-BE49-F238E27FC236}">
                <a16:creationId xmlns:a16="http://schemas.microsoft.com/office/drawing/2014/main" id="{422A1EA2-6EFE-1BE5-27CB-1EAA1B1457E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EDB7462-B05B-B93F-CF36-EA28FBFE66B2}"/>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2220867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4CE06AC6-C107-30B1-636A-6BDDE1AA27A9}"/>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3" name="Нижний колонтитул 2">
            <a:extLst>
              <a:ext uri="{FF2B5EF4-FFF2-40B4-BE49-F238E27FC236}">
                <a16:creationId xmlns:a16="http://schemas.microsoft.com/office/drawing/2014/main" id="{CBCB216E-EBC2-B87E-FA95-ED1C9447C898}"/>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28A537AD-4B32-DD84-EAEC-625392AF218A}"/>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2612373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D91EC5-2DE9-2AE4-2306-F54490DFCA7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787007C8-97F1-3008-D72D-578C9A2758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B74D96BD-1019-7F1D-2247-DBC49DA1EE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7C6889F-0333-CD7F-CCEE-564342DB18EA}"/>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6" name="Нижний колонтитул 5">
            <a:extLst>
              <a:ext uri="{FF2B5EF4-FFF2-40B4-BE49-F238E27FC236}">
                <a16:creationId xmlns:a16="http://schemas.microsoft.com/office/drawing/2014/main" id="{5CC1C56E-11D1-ED49-6EB0-06CB739320D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DF91AED-DFCD-1D49-53F1-329CE62DF164}"/>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2197940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CD8F95-E237-BEEF-642E-9B6F829D1D4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14539A55-6BEB-53B9-FD59-7B617BBCAA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09E10B19-2B8E-B41E-1DEC-E91842D87B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350CABD-8337-B3AF-6945-40764074A4F9}"/>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6" name="Нижний колонтитул 5">
            <a:extLst>
              <a:ext uri="{FF2B5EF4-FFF2-40B4-BE49-F238E27FC236}">
                <a16:creationId xmlns:a16="http://schemas.microsoft.com/office/drawing/2014/main" id="{2BA54C80-DE8F-7094-914E-DFB8F307584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B317B54-9328-2716-4550-CF9F72224A1E}"/>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2670276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9CDA8C-7B93-DB33-CB00-4602AB71E12A}"/>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1D5BDF88-05C9-ABAD-126D-5656BB739F5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D5B04EB-C1C1-AB04-948C-1813DF830E08}"/>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5" name="Нижний колонтитул 4">
            <a:extLst>
              <a:ext uri="{FF2B5EF4-FFF2-40B4-BE49-F238E27FC236}">
                <a16:creationId xmlns:a16="http://schemas.microsoft.com/office/drawing/2014/main" id="{BB2805B3-7290-733E-9A41-7F68DC397CF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2436CBA-6F8A-D0FB-1896-9762FC50D1A5}"/>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3432071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2154B13-568A-C31F-B4EE-A8B94A8415B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867AE422-407D-4825-AA0C-B9A36774439E}"/>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0790E2A-F956-CDE7-B201-B9B3F174A9A9}"/>
              </a:ext>
            </a:extLst>
          </p:cNvPr>
          <p:cNvSpPr>
            <a:spLocks noGrp="1"/>
          </p:cNvSpPr>
          <p:nvPr>
            <p:ph type="dt" sz="half" idx="10"/>
          </p:nvPr>
        </p:nvSpPr>
        <p:spPr/>
        <p:txBody>
          <a:bodyPr/>
          <a:lstStyle/>
          <a:p>
            <a:fld id="{B20AFF06-BEB0-43B4-8B2C-23BC9BF80AF9}" type="datetimeFigureOut">
              <a:rPr lang="ru-RU" smtClean="0"/>
              <a:t>19.03.2026</a:t>
            </a:fld>
            <a:endParaRPr lang="ru-RU"/>
          </a:p>
        </p:txBody>
      </p:sp>
      <p:sp>
        <p:nvSpPr>
          <p:cNvPr id="5" name="Нижний колонтитул 4">
            <a:extLst>
              <a:ext uri="{FF2B5EF4-FFF2-40B4-BE49-F238E27FC236}">
                <a16:creationId xmlns:a16="http://schemas.microsoft.com/office/drawing/2014/main" id="{B9C8D5EC-7B74-EB13-928A-67AACA4124C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FA5CF3E-1D08-A4ED-DE75-5B9AE0F52F6A}"/>
              </a:ext>
            </a:extLst>
          </p:cNvPr>
          <p:cNvSpPr>
            <a:spLocks noGrp="1"/>
          </p:cNvSpPr>
          <p:nvPr>
            <p:ph type="sldNum" sz="quarter" idx="12"/>
          </p:nvPr>
        </p:nvSpPr>
        <p:spPr/>
        <p:txBody>
          <a:bodyPr/>
          <a:lstStyle/>
          <a:p>
            <a:fld id="{7487D66A-4182-47A0-A1E3-A45B8CDFB6D0}" type="slidenum">
              <a:rPr lang="ru-RU" smtClean="0"/>
              <a:t>‹#›</a:t>
            </a:fld>
            <a:endParaRPr lang="ru-RU"/>
          </a:p>
        </p:txBody>
      </p:sp>
    </p:spTree>
    <p:extLst>
      <p:ext uri="{BB962C8B-B14F-4D97-AF65-F5344CB8AC3E}">
        <p14:creationId xmlns:p14="http://schemas.microsoft.com/office/powerpoint/2010/main" val="3828033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CFFEAB-9F67-1B1F-D8BE-81A800F3FB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6B08158-86D5-2909-82DA-2032B4214C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C1D15F9-795F-655E-A115-1A9392C66A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0AFF06-BEB0-43B4-8B2C-23BC9BF80AF9}" type="datetimeFigureOut">
              <a:rPr lang="ru-RU" smtClean="0"/>
              <a:t>19.03.2026</a:t>
            </a:fld>
            <a:endParaRPr lang="ru-RU"/>
          </a:p>
        </p:txBody>
      </p:sp>
      <p:sp>
        <p:nvSpPr>
          <p:cNvPr id="5" name="Нижний колонтитул 4">
            <a:extLst>
              <a:ext uri="{FF2B5EF4-FFF2-40B4-BE49-F238E27FC236}">
                <a16:creationId xmlns:a16="http://schemas.microsoft.com/office/drawing/2014/main" id="{BD0669D5-7204-95DC-C7D4-A04FE2F800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6C695152-7B96-9D40-D883-CC7FDE8DE6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87D66A-4182-47A0-A1E3-A45B8CDFB6D0}" type="slidenum">
              <a:rPr lang="ru-RU" smtClean="0"/>
              <a:t>‹#›</a:t>
            </a:fld>
            <a:endParaRPr lang="ru-RU"/>
          </a:p>
        </p:txBody>
      </p:sp>
    </p:spTree>
    <p:extLst>
      <p:ext uri="{BB962C8B-B14F-4D97-AF65-F5344CB8AC3E}">
        <p14:creationId xmlns:p14="http://schemas.microsoft.com/office/powerpoint/2010/main" val="482149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consultant.ru/"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4F0FB1-6AF6-2D43-F4E7-974FECE8AA69}"/>
              </a:ext>
            </a:extLst>
          </p:cNvPr>
          <p:cNvSpPr>
            <a:spLocks noGrp="1"/>
          </p:cNvSpPr>
          <p:nvPr>
            <p:ph type="ctrTitle"/>
          </p:nvPr>
        </p:nvSpPr>
        <p:spPr>
          <a:xfrm>
            <a:off x="865094" y="101320"/>
            <a:ext cx="10461812" cy="1557806"/>
          </a:xfrm>
        </p:spPr>
        <p:txBody>
          <a:bodyPr>
            <a:normAutofit fontScale="90000"/>
          </a:bodyPr>
          <a:lstStyle/>
          <a:p>
            <a:r>
              <a:rPr lang="ru-RU" dirty="0"/>
              <a:t>Тема </a:t>
            </a:r>
            <a:r>
              <a:rPr lang="en-US" dirty="0"/>
              <a:t>“</a:t>
            </a:r>
            <a:r>
              <a:rPr lang="ru-RU" dirty="0"/>
              <a:t>Основы конституционного права России</a:t>
            </a:r>
            <a:r>
              <a:rPr lang="en-US" dirty="0"/>
              <a:t>”</a:t>
            </a:r>
            <a:endParaRPr lang="ru-RU" dirty="0"/>
          </a:p>
        </p:txBody>
      </p:sp>
      <p:sp>
        <p:nvSpPr>
          <p:cNvPr id="3" name="Подзаголовок 2">
            <a:extLst>
              <a:ext uri="{FF2B5EF4-FFF2-40B4-BE49-F238E27FC236}">
                <a16:creationId xmlns:a16="http://schemas.microsoft.com/office/drawing/2014/main" id="{50BC4674-1B5C-A6E0-3B05-E7A70B0FC42D}"/>
              </a:ext>
            </a:extLst>
          </p:cNvPr>
          <p:cNvSpPr>
            <a:spLocks noGrp="1"/>
          </p:cNvSpPr>
          <p:nvPr>
            <p:ph type="subTitle" idx="1"/>
          </p:nvPr>
        </p:nvSpPr>
        <p:spPr>
          <a:xfrm>
            <a:off x="865094" y="1659126"/>
            <a:ext cx="9144000" cy="3587656"/>
          </a:xfrm>
        </p:spPr>
        <p:txBody>
          <a:bodyPr>
            <a:normAutofit/>
          </a:bodyPr>
          <a:lstStyle/>
          <a:p>
            <a:pPr algn="l"/>
            <a:r>
              <a:rPr lang="ru-RU" dirty="0"/>
              <a:t>План лекции</a:t>
            </a:r>
          </a:p>
          <a:p>
            <a:pPr marL="457200" indent="-457200" algn="l">
              <a:buAutoNum type="arabicPeriod"/>
            </a:pPr>
            <a:r>
              <a:rPr lang="ru-RU" dirty="0"/>
              <a:t>Конституционное право России</a:t>
            </a:r>
            <a:r>
              <a:rPr lang="en-US" dirty="0"/>
              <a:t>: </a:t>
            </a:r>
            <a:r>
              <a:rPr lang="ru-RU" dirty="0"/>
              <a:t>Понятие и краткая характеристика</a:t>
            </a:r>
          </a:p>
          <a:p>
            <a:pPr marL="457200" indent="-457200" algn="l">
              <a:buAutoNum type="arabicPeriod"/>
            </a:pPr>
            <a:r>
              <a:rPr lang="ru-RU" dirty="0"/>
              <a:t>Основы конституционного строя и федеративного устройства России</a:t>
            </a:r>
          </a:p>
          <a:p>
            <a:pPr marL="457200" indent="-457200" algn="l">
              <a:buAutoNum type="arabicPeriod"/>
            </a:pPr>
            <a:r>
              <a:rPr lang="ru-RU" dirty="0"/>
              <a:t>Правовой статус Президента РФ как гаранта Конституции РФ, прав и свобод человека и гражданина</a:t>
            </a:r>
          </a:p>
        </p:txBody>
      </p:sp>
      <p:sp>
        <p:nvSpPr>
          <p:cNvPr id="4" name="TextBox 3">
            <a:extLst>
              <a:ext uri="{FF2B5EF4-FFF2-40B4-BE49-F238E27FC236}">
                <a16:creationId xmlns:a16="http://schemas.microsoft.com/office/drawing/2014/main" id="{82168FF2-155B-00B2-DEE8-960A1BBC03FB}"/>
              </a:ext>
            </a:extLst>
          </p:cNvPr>
          <p:cNvSpPr txBox="1"/>
          <p:nvPr/>
        </p:nvSpPr>
        <p:spPr>
          <a:xfrm>
            <a:off x="10443882" y="6272962"/>
            <a:ext cx="1748118" cy="523220"/>
          </a:xfrm>
          <a:prstGeom prst="rect">
            <a:avLst/>
          </a:prstGeom>
          <a:noFill/>
        </p:spPr>
        <p:txBody>
          <a:bodyPr wrap="square" rtlCol="0">
            <a:spAutoFit/>
          </a:bodyPr>
          <a:lstStyle/>
          <a:p>
            <a:r>
              <a:rPr lang="ru-RU" sz="2800" dirty="0"/>
              <a:t>Лекция 2</a:t>
            </a:r>
          </a:p>
        </p:txBody>
      </p:sp>
    </p:spTree>
    <p:extLst>
      <p:ext uri="{BB962C8B-B14F-4D97-AF65-F5344CB8AC3E}">
        <p14:creationId xmlns:p14="http://schemas.microsoft.com/office/powerpoint/2010/main" val="687059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EB4B18-EC86-A5A7-00C0-9ACBE9483DAD}"/>
              </a:ext>
            </a:extLst>
          </p:cNvPr>
          <p:cNvSpPr>
            <a:spLocks noGrp="1"/>
          </p:cNvSpPr>
          <p:nvPr>
            <p:ph type="title"/>
          </p:nvPr>
        </p:nvSpPr>
        <p:spPr>
          <a:xfrm>
            <a:off x="300318" y="358589"/>
            <a:ext cx="4217894" cy="1325563"/>
          </a:xfrm>
        </p:spPr>
        <p:txBody>
          <a:bodyPr/>
          <a:lstStyle/>
          <a:p>
            <a:r>
              <a:rPr lang="ru-RU" dirty="0"/>
              <a:t>Цель занятия</a:t>
            </a:r>
            <a:r>
              <a:rPr lang="en-US" dirty="0"/>
              <a:t>:</a:t>
            </a:r>
            <a:endParaRPr lang="ru-RU" dirty="0"/>
          </a:p>
        </p:txBody>
      </p:sp>
      <p:sp>
        <p:nvSpPr>
          <p:cNvPr id="3" name="Объект 2">
            <a:extLst>
              <a:ext uri="{FF2B5EF4-FFF2-40B4-BE49-F238E27FC236}">
                <a16:creationId xmlns:a16="http://schemas.microsoft.com/office/drawing/2014/main" id="{A1CB3D68-5643-453B-23C6-9C3332FFC060}"/>
              </a:ext>
            </a:extLst>
          </p:cNvPr>
          <p:cNvSpPr>
            <a:spLocks noGrp="1"/>
          </p:cNvSpPr>
          <p:nvPr>
            <p:ph idx="1"/>
          </p:nvPr>
        </p:nvSpPr>
        <p:spPr>
          <a:xfrm>
            <a:off x="300318" y="1684152"/>
            <a:ext cx="5795682" cy="4351338"/>
          </a:xfrm>
        </p:spPr>
        <p:txBody>
          <a:bodyPr/>
          <a:lstStyle/>
          <a:p>
            <a:r>
              <a:rPr lang="ru-RU" dirty="0"/>
              <a:t>Изучить теоретические и методологические основы Конституционного права Российской Федерации и систему органов государственной исполнительной власти в Российской Федерации</a:t>
            </a:r>
          </a:p>
          <a:p>
            <a:endParaRPr lang="ru-RU" dirty="0"/>
          </a:p>
        </p:txBody>
      </p:sp>
      <p:sp>
        <p:nvSpPr>
          <p:cNvPr id="4" name="Заголовок 1">
            <a:extLst>
              <a:ext uri="{FF2B5EF4-FFF2-40B4-BE49-F238E27FC236}">
                <a16:creationId xmlns:a16="http://schemas.microsoft.com/office/drawing/2014/main" id="{C286684E-3656-DDE6-EAA6-15112BAC6A88}"/>
              </a:ext>
            </a:extLst>
          </p:cNvPr>
          <p:cNvSpPr txBox="1">
            <a:spLocks/>
          </p:cNvSpPr>
          <p:nvPr/>
        </p:nvSpPr>
        <p:spPr>
          <a:xfrm>
            <a:off x="6096000" y="365124"/>
            <a:ext cx="421789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dirty="0"/>
              <a:t>Задачи</a:t>
            </a:r>
            <a:r>
              <a:rPr lang="en-US" dirty="0"/>
              <a:t>:</a:t>
            </a:r>
            <a:endParaRPr lang="ru-RU" dirty="0"/>
          </a:p>
        </p:txBody>
      </p:sp>
      <p:sp>
        <p:nvSpPr>
          <p:cNvPr id="5" name="Объект 2">
            <a:extLst>
              <a:ext uri="{FF2B5EF4-FFF2-40B4-BE49-F238E27FC236}">
                <a16:creationId xmlns:a16="http://schemas.microsoft.com/office/drawing/2014/main" id="{D58B5954-376B-7B55-0D7C-2B37B2BDE134}"/>
              </a:ext>
            </a:extLst>
          </p:cNvPr>
          <p:cNvSpPr txBox="1">
            <a:spLocks/>
          </p:cNvSpPr>
          <p:nvPr/>
        </p:nvSpPr>
        <p:spPr>
          <a:xfrm>
            <a:off x="6096000" y="1690687"/>
            <a:ext cx="579568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Совершенствовать теоретические знания о России как о федеративном государстве и о понятиях коррупционной, террористической и экстремисткой деятельности</a:t>
            </a:r>
          </a:p>
        </p:txBody>
      </p:sp>
    </p:spTree>
    <p:extLst>
      <p:ext uri="{BB962C8B-B14F-4D97-AF65-F5344CB8AC3E}">
        <p14:creationId xmlns:p14="http://schemas.microsoft.com/office/powerpoint/2010/main" val="42559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0851A8A7-3E18-BB35-EA19-880249EB11D2}"/>
              </a:ext>
            </a:extLst>
          </p:cNvPr>
          <p:cNvSpPr>
            <a:spLocks noGrp="1"/>
          </p:cNvSpPr>
          <p:nvPr>
            <p:ph idx="1"/>
          </p:nvPr>
        </p:nvSpPr>
        <p:spPr>
          <a:xfrm>
            <a:off x="838200" y="215153"/>
            <a:ext cx="10515600" cy="5961810"/>
          </a:xfrm>
        </p:spPr>
        <p:txBody>
          <a:bodyPr>
            <a:normAutofit fontScale="70000" lnSpcReduction="20000"/>
          </a:bodyPr>
          <a:lstStyle/>
          <a:p>
            <a:pPr marL="0" indent="0" algn="ctr">
              <a:buNone/>
            </a:pPr>
            <a:r>
              <a:rPr lang="ru-RU" dirty="0">
                <a:solidFill>
                  <a:srgbClr val="FF0000"/>
                </a:solidFill>
              </a:rPr>
              <a:t>Учебники и учебные пособия</a:t>
            </a:r>
          </a:p>
          <a:p>
            <a:pPr marL="0" indent="0">
              <a:buNone/>
            </a:pPr>
            <a:r>
              <a:rPr lang="ru-RU" dirty="0"/>
              <a:t>1. </a:t>
            </a:r>
            <a:r>
              <a:rPr lang="ru-RU" dirty="0" err="1"/>
              <a:t>Авакьян</a:t>
            </a:r>
            <a:r>
              <a:rPr lang="ru-RU" dirty="0"/>
              <a:t>, С. А. Конституционное право России. В 2-х т. : учебное пособие / С. А. </a:t>
            </a:r>
            <a:r>
              <a:rPr lang="ru-RU" dirty="0" err="1"/>
              <a:t>Авакьян</a:t>
            </a:r>
            <a:r>
              <a:rPr lang="ru-RU" dirty="0"/>
              <a:t>. – М. : Норма – ИНФРА-М, 2016. – 864 с.</a:t>
            </a:r>
          </a:p>
          <a:p>
            <a:pPr marL="0" indent="0">
              <a:buNone/>
            </a:pPr>
            <a:r>
              <a:rPr lang="ru-RU" dirty="0"/>
              <a:t>2. Конституционное право. В 2-х т. Т. 2. : учебник [Электронный ресурс]. – М. : Проспект, 2015. – URL : http://e.lanbook.com/book/61444# </a:t>
            </a:r>
          </a:p>
          <a:p>
            <a:pPr marL="0" indent="0" algn="ctr">
              <a:buNone/>
            </a:pPr>
            <a:r>
              <a:rPr lang="ru-RU" dirty="0">
                <a:solidFill>
                  <a:srgbClr val="FF0000"/>
                </a:solidFill>
              </a:rPr>
              <a:t>Нормативные правовые акты</a:t>
            </a:r>
          </a:p>
          <a:p>
            <a:pPr marL="0" indent="0">
              <a:buNone/>
            </a:pPr>
            <a:r>
              <a:rPr lang="ru-RU" dirty="0"/>
              <a:t>1. Конституция РФ 1993 г.</a:t>
            </a:r>
          </a:p>
          <a:p>
            <a:pPr marL="0" indent="0">
              <a:buNone/>
            </a:pPr>
            <a:r>
              <a:rPr lang="ru-RU" dirty="0"/>
              <a:t>2. О государственном суверенитете Российской Советской Федеративной Социалистической Республики: Декларация СНД РСФСР от 12.06.1990 г. № 22-1 // Правовой сайт КонсультантПлюс. – URL : </a:t>
            </a:r>
            <a:r>
              <a:rPr lang="ru-RU" dirty="0">
                <a:hlinkClick r:id="rId2"/>
              </a:rPr>
              <a:t>http://www.consultant.ru</a:t>
            </a:r>
            <a:endParaRPr lang="ru-RU" dirty="0"/>
          </a:p>
          <a:p>
            <a:pPr marL="0" indent="0">
              <a:buNone/>
            </a:pPr>
            <a:r>
              <a:rPr lang="ru-RU" dirty="0"/>
              <a:t>3. Об изменении наименования государства Российская Советская Федеративная Социалистическая Республика: Закон РСФСР от 25.12.1991 г. № 2094-1 // Правовой сайт КонсультантПлюс. – URL : </a:t>
            </a:r>
            <a:r>
              <a:rPr lang="ru-RU" dirty="0">
                <a:hlinkClick r:id="rId2"/>
              </a:rPr>
              <a:t>http://www.consultant.ru</a:t>
            </a:r>
            <a:endParaRPr lang="ru-RU" dirty="0"/>
          </a:p>
          <a:p>
            <a:pPr marL="0" indent="0">
              <a:buNone/>
            </a:pPr>
            <a:r>
              <a:rPr lang="ru-RU" dirty="0"/>
              <a:t>4. Об обороне: </a:t>
            </a:r>
            <a:r>
              <a:rPr lang="ru-RU" dirty="0" err="1"/>
              <a:t>федер</a:t>
            </a:r>
            <a:r>
              <a:rPr lang="ru-RU" dirty="0"/>
              <a:t>. закон от 31.05.1996 г. № 61-ФЗ (с изм. и доп.) // Правовой сайт КонсультантПлюс. – URL : </a:t>
            </a:r>
            <a:r>
              <a:rPr lang="ru-RU" dirty="0">
                <a:hlinkClick r:id="rId2"/>
              </a:rPr>
              <a:t>http://www.consultant.ru</a:t>
            </a:r>
            <a:endParaRPr lang="ru-RU" dirty="0"/>
          </a:p>
          <a:p>
            <a:pPr marL="0" indent="0">
              <a:buNone/>
            </a:pPr>
            <a:r>
              <a:rPr lang="ru-RU" dirty="0"/>
              <a:t>5. Об общественных объединениях: </a:t>
            </a:r>
            <a:r>
              <a:rPr lang="ru-RU" dirty="0" err="1"/>
              <a:t>федер</a:t>
            </a:r>
            <a:r>
              <a:rPr lang="ru-RU" dirty="0"/>
              <a:t>. закон от 19.05.1995 г. № 82-ФЗ // Правовой сайт КонсультантПлюс. – URL : </a:t>
            </a:r>
            <a:r>
              <a:rPr lang="ru-RU" dirty="0">
                <a:hlinkClick r:id="rId2"/>
              </a:rPr>
              <a:t>http://www.consultant.ru</a:t>
            </a:r>
            <a:endParaRPr lang="ru-RU" dirty="0"/>
          </a:p>
          <a:p>
            <a:pPr marL="0" indent="0">
              <a:buNone/>
            </a:pPr>
            <a:r>
              <a:rPr lang="ru-RU" dirty="0"/>
              <a:t>6. О политических партиях: </a:t>
            </a:r>
            <a:r>
              <a:rPr lang="ru-RU" dirty="0" err="1"/>
              <a:t>федер</a:t>
            </a:r>
            <a:r>
              <a:rPr lang="ru-RU" dirty="0"/>
              <a:t>. закон от 11.07.2001 г. № 95-ФЗ // Правовой сайт КонсультантПлюс. – URL : </a:t>
            </a:r>
            <a:r>
              <a:rPr lang="ru-RU" dirty="0">
                <a:hlinkClick r:id="rId2"/>
              </a:rPr>
              <a:t>http://www.consultant.ru</a:t>
            </a:r>
            <a:endParaRPr lang="ru-RU" dirty="0"/>
          </a:p>
          <a:p>
            <a:pPr marL="0" indent="0">
              <a:buNone/>
            </a:pPr>
            <a:r>
              <a:rPr lang="ru-RU" dirty="0"/>
              <a:t>7. Об общих принципах организации местного самоуправления в Российской Федерации: </a:t>
            </a:r>
            <a:r>
              <a:rPr lang="ru-RU" dirty="0" err="1"/>
              <a:t>федер</a:t>
            </a:r>
            <a:r>
              <a:rPr lang="ru-RU" dirty="0"/>
              <a:t>. закон от 06.10.2003 г. №</a:t>
            </a:r>
          </a:p>
        </p:txBody>
      </p:sp>
    </p:spTree>
    <p:extLst>
      <p:ext uri="{BB962C8B-B14F-4D97-AF65-F5344CB8AC3E}">
        <p14:creationId xmlns:p14="http://schemas.microsoft.com/office/powerpoint/2010/main" val="3805411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CBB76C73-1EB1-E7BE-127B-191DA2536492}"/>
              </a:ext>
            </a:extLst>
          </p:cNvPr>
          <p:cNvSpPr>
            <a:spLocks noGrp="1"/>
          </p:cNvSpPr>
          <p:nvPr>
            <p:ph idx="1"/>
          </p:nvPr>
        </p:nvSpPr>
        <p:spPr>
          <a:xfrm>
            <a:off x="838200" y="201706"/>
            <a:ext cx="10515600" cy="6454588"/>
          </a:xfrm>
        </p:spPr>
        <p:txBody>
          <a:bodyPr>
            <a:normAutofit fontScale="55000" lnSpcReduction="20000"/>
          </a:bodyPr>
          <a:lstStyle/>
          <a:p>
            <a:pPr marL="0" indent="0" algn="ctr">
              <a:buNone/>
            </a:pPr>
            <a:r>
              <a:rPr lang="ru-RU" sz="2900" b="1" dirty="0">
                <a:solidFill>
                  <a:srgbClr val="FF0000"/>
                </a:solidFill>
              </a:rPr>
              <a:t>Вопросы к семинарскому занятию</a:t>
            </a:r>
          </a:p>
          <a:p>
            <a:pPr>
              <a:buFont typeface="+mj-lt"/>
              <a:buAutoNum type="arabicPeriod"/>
            </a:pPr>
            <a:r>
              <a:rPr lang="ru-RU" sz="2900" dirty="0"/>
              <a:t>Содержание понятий: конституционное право, публичное право, российское конституционное право, конституционализм.</a:t>
            </a:r>
          </a:p>
          <a:p>
            <a:pPr>
              <a:buFont typeface="+mj-lt"/>
              <a:buAutoNum type="arabicPeriod"/>
            </a:pPr>
            <a:r>
              <a:rPr lang="ru-RU" sz="2900" dirty="0"/>
              <a:t>Нормы права, институты права и конституционно-правовые отношения.</a:t>
            </a:r>
          </a:p>
          <a:p>
            <a:pPr>
              <a:buFont typeface="+mj-lt"/>
              <a:buAutoNum type="arabicPeriod"/>
            </a:pPr>
            <a:r>
              <a:rPr lang="ru-RU" sz="2900" dirty="0"/>
              <a:t>Источники российского конституционного права и система конституционного права РФ.</a:t>
            </a:r>
          </a:p>
          <a:p>
            <a:pPr>
              <a:buFont typeface="+mj-lt"/>
              <a:buAutoNum type="arabicPeriod"/>
            </a:pPr>
            <a:r>
              <a:rPr lang="ru-RU" sz="2900" dirty="0"/>
              <a:t>Ответственность в конституционном праве.</a:t>
            </a:r>
          </a:p>
          <a:p>
            <a:pPr>
              <a:buFont typeface="+mj-lt"/>
              <a:buAutoNum type="arabicPeriod"/>
            </a:pPr>
            <a:r>
              <a:rPr lang="ru-RU" sz="2900" dirty="0"/>
              <a:t>Основы конституционного строя и федеративного устройства России.</a:t>
            </a:r>
          </a:p>
          <a:p>
            <a:pPr>
              <a:buFont typeface="+mj-lt"/>
              <a:buAutoNum type="arabicPeriod"/>
            </a:pPr>
            <a:r>
              <a:rPr lang="ru-RU" sz="2900" dirty="0"/>
              <a:t>Правовой статус Президента РФ как гаранта Конституции РФ, прав и свобод человека и гражданина.</a:t>
            </a:r>
          </a:p>
          <a:p>
            <a:pPr marL="0" indent="0" algn="ctr">
              <a:buNone/>
            </a:pPr>
            <a:r>
              <a:rPr lang="ru-RU" sz="2900" b="1" dirty="0">
                <a:solidFill>
                  <a:srgbClr val="FF0000"/>
                </a:solidFill>
              </a:rPr>
              <a:t>Темы для обсуждения и докладов</a:t>
            </a:r>
          </a:p>
          <a:p>
            <a:pPr>
              <a:buFont typeface="+mj-lt"/>
              <a:buAutoNum type="arabicPeriod"/>
            </a:pPr>
            <a:r>
              <a:rPr lang="ru-RU" sz="2900" dirty="0"/>
              <a:t>Понятие экстремистской, террористической и коррупционной деятельности.</a:t>
            </a:r>
          </a:p>
          <a:p>
            <a:pPr>
              <a:buFont typeface="+mj-lt"/>
              <a:buAutoNum type="arabicPeriod"/>
            </a:pPr>
            <a:r>
              <a:rPr lang="ru-RU" sz="2900" dirty="0"/>
              <a:t>Полномочия Правительства Российской Федерации в сфере обеспечения законности, правопорядка и борьбы с преступностью.</a:t>
            </a:r>
          </a:p>
          <a:p>
            <a:pPr>
              <a:buFont typeface="+mj-lt"/>
              <a:buAutoNum type="arabicPeriod"/>
            </a:pPr>
            <a:r>
              <a:rPr lang="ru-RU" sz="2900" dirty="0"/>
              <a:t>Конституционно-правовая ответственность должностных лиц за коррупционные правонарушения.</a:t>
            </a:r>
          </a:p>
          <a:p>
            <a:pPr>
              <a:buFont typeface="+mj-lt"/>
              <a:buAutoNum type="arabicPeriod"/>
            </a:pPr>
            <a:r>
              <a:rPr lang="ru-RU" sz="2900" dirty="0"/>
              <a:t>Порядок приостановления и запрета деятельности общественного объединения в связи с осуществлением экстремистской деятельности.</a:t>
            </a:r>
          </a:p>
          <a:p>
            <a:pPr>
              <a:buFont typeface="+mj-lt"/>
              <a:buAutoNum type="arabicPeriod"/>
            </a:pPr>
            <a:r>
              <a:rPr lang="ru-RU" sz="2900" dirty="0"/>
              <a:t>Полномочия органов местного самоуправления в области противодействия терроризму.</a:t>
            </a:r>
          </a:p>
          <a:p>
            <a:pPr marL="0" indent="0" algn="ctr">
              <a:buNone/>
            </a:pPr>
            <a:r>
              <a:rPr lang="ru-RU" sz="2900" b="1" dirty="0">
                <a:solidFill>
                  <a:srgbClr val="FF0000"/>
                </a:solidFill>
              </a:rPr>
              <a:t>Задание 1</a:t>
            </a:r>
          </a:p>
          <a:p>
            <a:pPr marL="0" indent="0">
              <a:buNone/>
            </a:pPr>
            <a:r>
              <a:rPr lang="ru-RU" sz="2900" dirty="0"/>
              <a:t>Президент РФ отрешил от должности губернатора субъекта РФ в связи с утратой доверия Президента РФ. Основанием для утраты доверия явилась информация о финансировании коммерческими организациями субъекта РФ строительства частной загородной резиденции губернатора и возбуждение в связи с этим уголовного дела в отношении губернатора. Губернатор обратился в суд об оспаривании решения Президента.</a:t>
            </a:r>
          </a:p>
          <a:p>
            <a:pPr marL="0" indent="0">
              <a:buNone/>
            </a:pPr>
            <a:r>
              <a:rPr lang="ru-RU" sz="2900" dirty="0"/>
              <a:t>По мнению губернатора факты коррупции еще не установлены судом, в связи с чем до окончания расследования Президент РФ не вправе принимать решение об отрешении губернатора от должности. Решите дело.</a:t>
            </a:r>
          </a:p>
          <a:p>
            <a:pPr>
              <a:buFont typeface="+mj-lt"/>
              <a:buAutoNum type="arabicPeriod"/>
            </a:pPr>
            <a:endParaRPr lang="ru-RU" dirty="0"/>
          </a:p>
          <a:p>
            <a:pPr marL="0" indent="0">
              <a:buNone/>
            </a:pPr>
            <a:endParaRPr lang="ru-RU" dirty="0"/>
          </a:p>
        </p:txBody>
      </p:sp>
    </p:spTree>
    <p:extLst>
      <p:ext uri="{BB962C8B-B14F-4D97-AF65-F5344CB8AC3E}">
        <p14:creationId xmlns:p14="http://schemas.microsoft.com/office/powerpoint/2010/main" val="3592952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67CEEE12-64A2-E0EE-A66D-3D689AD53C1A}"/>
              </a:ext>
            </a:extLst>
          </p:cNvPr>
          <p:cNvSpPr>
            <a:spLocks noGrp="1"/>
          </p:cNvSpPr>
          <p:nvPr>
            <p:ph idx="1"/>
          </p:nvPr>
        </p:nvSpPr>
        <p:spPr>
          <a:xfrm>
            <a:off x="838200" y="286871"/>
            <a:ext cx="10515600" cy="5890092"/>
          </a:xfrm>
        </p:spPr>
        <p:txBody>
          <a:bodyPr>
            <a:normAutofit fontScale="92500" lnSpcReduction="10000"/>
          </a:bodyPr>
          <a:lstStyle/>
          <a:p>
            <a:r>
              <a:rPr lang="ru-RU" b="1" dirty="0">
                <a:solidFill>
                  <a:srgbClr val="FF0000"/>
                </a:solidFill>
              </a:rPr>
              <a:t>Конституционное право России: понятие и краткая характеристика</a:t>
            </a:r>
          </a:p>
          <a:p>
            <a:pPr marL="0" indent="0">
              <a:buNone/>
            </a:pPr>
            <a:r>
              <a:rPr lang="ru-RU" b="1" dirty="0"/>
              <a:t>Конституционное право РФ</a:t>
            </a:r>
            <a:r>
              <a:rPr lang="ru-RU" dirty="0"/>
              <a:t> – система федеральных и региональных нормативных правовых актов (Конституция РФ, Федеральный конституционный законов, Конституций и уставов всех иных субъектов Федерации), содержащих основополагающие правовые нормы-принципы, нормы-цели и нормы (стандарты) права, закрепляющие основы государственного строя Российской Федерации, основы правового статуса человека и гражданина, федеративное устройство и систему государственной власти и местного самоуправления.</a:t>
            </a:r>
          </a:p>
          <a:p>
            <a:pPr marL="0" indent="0">
              <a:buNone/>
            </a:pPr>
            <a:r>
              <a:rPr lang="ru-RU" b="1" dirty="0"/>
              <a:t>Конституционное право относится к публичному праву</a:t>
            </a:r>
            <a:r>
              <a:rPr lang="ru-RU" dirty="0"/>
              <a:t>, представляющему собой совокупность отраслей права, регулирующих отношения, связанные с обеспечением общего (публичного) или общегосударственного интереса, в отличие от отраслей права, направленных на защиту частного интереса (частное право).</a:t>
            </a:r>
          </a:p>
          <a:p>
            <a:endParaRPr lang="ru-RU" dirty="0"/>
          </a:p>
        </p:txBody>
      </p:sp>
    </p:spTree>
    <p:extLst>
      <p:ext uri="{BB962C8B-B14F-4D97-AF65-F5344CB8AC3E}">
        <p14:creationId xmlns:p14="http://schemas.microsoft.com/office/powerpoint/2010/main" val="221406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6A5863A-5FD9-5D65-5544-9D94416895CC}"/>
              </a:ext>
            </a:extLst>
          </p:cNvPr>
          <p:cNvSpPr>
            <a:spLocks noGrp="1"/>
          </p:cNvSpPr>
          <p:nvPr>
            <p:ph idx="1"/>
          </p:nvPr>
        </p:nvSpPr>
        <p:spPr>
          <a:xfrm>
            <a:off x="838200" y="448235"/>
            <a:ext cx="10515600" cy="5728728"/>
          </a:xfrm>
        </p:spPr>
        <p:txBody>
          <a:bodyPr>
            <a:normAutofit lnSpcReduction="10000"/>
          </a:bodyPr>
          <a:lstStyle/>
          <a:p>
            <a:pPr marL="0" indent="0">
              <a:buNone/>
            </a:pPr>
            <a:r>
              <a:rPr lang="ru-RU" dirty="0">
                <a:effectLst/>
              </a:rPr>
              <a:t>Под конституционализмом, с точки зрения политического устройства, понимается правление, ограниченное конституцией, политическая система, опирающаяся на конституцию и конституционные методы правления. Одновременно это и политико-правовая теория, обосновывающая необходимость установления конституционного строя.</a:t>
            </a:r>
          </a:p>
          <a:p>
            <a:pPr marL="0" indent="0">
              <a:buNone/>
            </a:pPr>
            <a:r>
              <a:rPr lang="ru-RU" dirty="0">
                <a:effectLst/>
              </a:rPr>
              <a:t>Обратите внимание на элементы конституционализма:</a:t>
            </a:r>
            <a:br>
              <a:rPr lang="ru-RU" dirty="0">
                <a:effectLst/>
              </a:rPr>
            </a:br>
            <a:r>
              <a:rPr lang="ru-RU" dirty="0">
                <a:effectLst/>
              </a:rPr>
              <a:t>– конституционные идеи и теории, отражающие первичные, базовые ценности общества;</a:t>
            </a:r>
            <a:br>
              <a:rPr lang="ru-RU" dirty="0">
                <a:effectLst/>
              </a:rPr>
            </a:br>
            <a:r>
              <a:rPr lang="ru-RU" dirty="0">
                <a:effectLst/>
              </a:rPr>
              <a:t>– массовое конституционное сознание граждан;</a:t>
            </a:r>
            <a:br>
              <a:rPr lang="ru-RU" dirty="0">
                <a:effectLst/>
              </a:rPr>
            </a:br>
            <a:r>
              <a:rPr lang="ru-RU" dirty="0">
                <a:effectLst/>
              </a:rPr>
              <a:t>– конституционные нормы, акты и институты как нормативно структурированное выражение двух предыдущих;</a:t>
            </a:r>
            <a:br>
              <a:rPr lang="ru-RU" dirty="0">
                <a:effectLst/>
              </a:rPr>
            </a:br>
            <a:r>
              <a:rPr lang="ru-RU" dirty="0">
                <a:effectLst/>
              </a:rPr>
              <a:t>– конституционный порядок как процесс и состояние реализации конституционных норм.</a:t>
            </a:r>
          </a:p>
          <a:p>
            <a:pPr marL="0" indent="0">
              <a:buNone/>
            </a:pPr>
            <a:endParaRPr lang="ru-RU" dirty="0"/>
          </a:p>
        </p:txBody>
      </p:sp>
    </p:spTree>
    <p:extLst>
      <p:ext uri="{BB962C8B-B14F-4D97-AF65-F5344CB8AC3E}">
        <p14:creationId xmlns:p14="http://schemas.microsoft.com/office/powerpoint/2010/main" val="2698466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6C4E79C-AD33-21DD-33F7-937F82C00511}"/>
              </a:ext>
            </a:extLst>
          </p:cNvPr>
          <p:cNvSpPr>
            <a:spLocks noGrp="1"/>
          </p:cNvSpPr>
          <p:nvPr>
            <p:ph idx="1"/>
          </p:nvPr>
        </p:nvSpPr>
        <p:spPr>
          <a:xfrm>
            <a:off x="838200" y="421341"/>
            <a:ext cx="10515600" cy="5755622"/>
          </a:xfrm>
        </p:spPr>
        <p:txBody>
          <a:bodyPr>
            <a:normAutofit fontScale="70000" lnSpcReduction="20000"/>
          </a:bodyPr>
          <a:lstStyle/>
          <a:p>
            <a:r>
              <a:rPr lang="ru-RU" dirty="0"/>
              <a:t>Общественные отношения, регулируемые нормами отрасли права,</a:t>
            </a:r>
            <a:br>
              <a:rPr lang="ru-RU" dirty="0"/>
            </a:br>
            <a:r>
              <a:rPr lang="ru-RU" dirty="0"/>
              <a:t>именуются её предметом. Предметом конституционного права являются две</a:t>
            </a:r>
            <a:br>
              <a:rPr lang="ru-RU" dirty="0"/>
            </a:br>
            <a:r>
              <a:rPr lang="ru-RU" dirty="0"/>
              <a:t>основные сферы общественных отношений:</a:t>
            </a:r>
          </a:p>
          <a:p>
            <a:pPr>
              <a:buFont typeface="+mj-lt"/>
              <a:buAutoNum type="arabicPeriod"/>
            </a:pPr>
            <a:r>
              <a:rPr lang="ru-RU" dirty="0"/>
              <a:t>охрана прав и свобод человека (отношения между человеком и государством);</a:t>
            </a:r>
          </a:p>
          <a:p>
            <a:pPr>
              <a:buFont typeface="+mj-lt"/>
              <a:buAutoNum type="arabicPeriod"/>
            </a:pPr>
            <a:r>
              <a:rPr lang="ru-RU" dirty="0"/>
              <a:t>устройство государства и государственной власти (</a:t>
            </a:r>
            <a:r>
              <a:rPr lang="ru-RU" dirty="0" err="1"/>
              <a:t>властеотношения</a:t>
            </a:r>
            <a:r>
              <a:rPr lang="ru-RU" dirty="0"/>
              <a:t>).</a:t>
            </a:r>
          </a:p>
          <a:p>
            <a:r>
              <a:rPr lang="ru-RU" dirty="0"/>
              <a:t>Таким образом, предметом конституционного права являются те отношения,</a:t>
            </a:r>
            <a:br>
              <a:rPr lang="ru-RU" dirty="0"/>
            </a:br>
            <a:r>
              <a:rPr lang="ru-RU" dirty="0"/>
              <a:t>которые являются базовыми, основными в каждой из областей жизни.</a:t>
            </a:r>
          </a:p>
          <a:p>
            <a:r>
              <a:rPr lang="ru-RU" dirty="0"/>
              <a:t>Следовательно, конституционное право РФ – огромная совокупность правовых</a:t>
            </a:r>
            <a:br>
              <a:rPr lang="ru-RU" dirty="0"/>
            </a:br>
            <a:r>
              <a:rPr lang="ru-RU" dirty="0"/>
              <a:t>норм, а не только правовых норм-принципов, норм-целей и иных норм (стандартов)</a:t>
            </a:r>
            <a:br>
              <a:rPr lang="ru-RU" dirty="0"/>
            </a:br>
            <a:r>
              <a:rPr lang="ru-RU" dirty="0"/>
              <a:t>права непосредственно закреплённых в Конституции РФ.</a:t>
            </a:r>
          </a:p>
          <a:p>
            <a:r>
              <a:rPr lang="ru-RU" dirty="0"/>
              <a:t>Конституционное право России невозможно представить:</a:t>
            </a:r>
            <a:br>
              <a:rPr lang="ru-RU" dirty="0"/>
            </a:br>
            <a:r>
              <a:rPr lang="ru-RU" dirty="0"/>
              <a:t>без положений федеральных конституционных законов (ФКЗ) «О референдуме...»,</a:t>
            </a:r>
            <a:br>
              <a:rPr lang="ru-RU" dirty="0"/>
            </a:br>
            <a:r>
              <a:rPr lang="ru-RU" dirty="0"/>
              <a:t>«О Конституционном Суде РФ», «О Правительстве...», «О судебной системе...», «О</a:t>
            </a:r>
            <a:br>
              <a:rPr lang="ru-RU" dirty="0"/>
            </a:br>
            <a:r>
              <a:rPr lang="ru-RU" dirty="0"/>
              <a:t>Уполномоченном по правам человека...» и т.д.,</a:t>
            </a:r>
            <a:br>
              <a:rPr lang="ru-RU" dirty="0"/>
            </a:br>
            <a:r>
              <a:rPr lang="ru-RU" dirty="0"/>
              <a:t>без федеральных законов (ФЗ) «О гражданстве...», «О выборах Президента РФ»,</a:t>
            </a:r>
            <a:br>
              <a:rPr lang="ru-RU" dirty="0"/>
            </a:br>
            <a:r>
              <a:rPr lang="ru-RU" dirty="0"/>
              <a:t>«О выборах депутатов Государственной Думы...», «Об общих принципах организации</a:t>
            </a:r>
            <a:br>
              <a:rPr lang="ru-RU" dirty="0"/>
            </a:br>
            <a:r>
              <a:rPr lang="ru-RU" dirty="0"/>
              <a:t>законодательных (представительных) и исполнительных органов государственной</a:t>
            </a:r>
            <a:br>
              <a:rPr lang="ru-RU" dirty="0"/>
            </a:br>
            <a:r>
              <a:rPr lang="ru-RU" dirty="0"/>
              <a:t>власти субъектов РФ» и т.д.,</a:t>
            </a:r>
            <a:br>
              <a:rPr lang="ru-RU" dirty="0"/>
            </a:br>
            <a:r>
              <a:rPr lang="ru-RU" dirty="0"/>
              <a:t>без регламентов Государственной Думы и Совета Федерации, без многих указов</a:t>
            </a:r>
            <a:br>
              <a:rPr lang="ru-RU" dirty="0"/>
            </a:br>
            <a:r>
              <a:rPr lang="ru-RU" dirty="0"/>
              <a:t>Президента РФ и постановлений Правительства РФ, без актов Конституционного Суда</a:t>
            </a:r>
            <a:br>
              <a:rPr lang="ru-RU" dirty="0"/>
            </a:br>
            <a:r>
              <a:rPr lang="ru-RU" dirty="0"/>
              <a:t>РФ,</a:t>
            </a:r>
            <a:br>
              <a:rPr lang="ru-RU" dirty="0"/>
            </a:br>
            <a:r>
              <a:rPr lang="ru-RU" dirty="0"/>
              <a:t>без конституций, уставов и иных нормативных правовых актов субъектов РФ,</a:t>
            </a:r>
            <a:br>
              <a:rPr lang="ru-RU" dirty="0"/>
            </a:br>
            <a:r>
              <a:rPr lang="ru-RU" dirty="0"/>
              <a:t>без ряда международных стандартов.</a:t>
            </a:r>
          </a:p>
          <a:p>
            <a:endParaRPr lang="ru-RU" dirty="0"/>
          </a:p>
        </p:txBody>
      </p:sp>
    </p:spTree>
    <p:extLst>
      <p:ext uri="{BB962C8B-B14F-4D97-AF65-F5344CB8AC3E}">
        <p14:creationId xmlns:p14="http://schemas.microsoft.com/office/powerpoint/2010/main" val="178676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7BBBBA0-5E52-C449-1FAE-91BF06AFA404}"/>
              </a:ext>
            </a:extLst>
          </p:cNvPr>
          <p:cNvSpPr>
            <a:spLocks noGrp="1"/>
          </p:cNvSpPr>
          <p:nvPr>
            <p:ph idx="1"/>
          </p:nvPr>
        </p:nvSpPr>
        <p:spPr>
          <a:xfrm>
            <a:off x="838200" y="358588"/>
            <a:ext cx="10515600" cy="5818375"/>
          </a:xfrm>
        </p:spPr>
        <p:txBody>
          <a:bodyPr>
            <a:normAutofit fontScale="85000" lnSpcReduction="20000"/>
          </a:bodyPr>
          <a:lstStyle/>
          <a:p>
            <a:r>
              <a:rPr lang="ru-RU" dirty="0">
                <a:effectLst/>
              </a:rPr>
              <a:t>Сердцевиной конституционного права является Конституция РФ (от латинского слова </a:t>
            </a:r>
            <a:r>
              <a:rPr lang="ru-RU" dirty="0" err="1">
                <a:effectLst/>
              </a:rPr>
              <a:t>constitutio</a:t>
            </a:r>
            <a:r>
              <a:rPr lang="ru-RU" dirty="0">
                <a:effectLst/>
              </a:rPr>
              <a:t>, что означает установление, учреждение), принятая всенародным голосованием 12 декабря 1993 г. Она, являясь ядром правовой системы России и базой для всего текущего законодательства России, имеет учредительный и первичный характер конституционных установлений и имеет политическое и юридическое верховенство над всеми иными нормативными актами на всей территории России.</a:t>
            </a:r>
          </a:p>
          <a:p>
            <a:r>
              <a:rPr lang="ru-RU" dirty="0">
                <a:effectLst/>
              </a:rPr>
              <a:t>Конституция РФ определила конституционный строй и систему высших органов государственной власти, основные права и свободы человека и гражданина России. Все органы государственной и муниципальной власти России не могут действовать в разрез с её положениями.</a:t>
            </a:r>
          </a:p>
          <a:p>
            <a:r>
              <a:rPr lang="ru-RU" dirty="0">
                <a:effectLst/>
              </a:rPr>
              <a:t>Конституция РФ предусматривает особый порядок её принятия с соблюдением принципа гласности и при наличии повышенного общественного интереса и особый порядок её пересмотра и внесения в неё поправок (специально усложненные процедуры представления проектов, обсуждения и принятия законов о внесении в нее изменений и специальные требования к процедуре её изменения и дополнения), а также имеет особую охрану и контроль за соответствием ей всех принимаемых правовых решений специальным органом судебной власти – Конституционным судом РФ.</a:t>
            </a:r>
          </a:p>
          <a:p>
            <a:endParaRPr lang="ru-RU" dirty="0"/>
          </a:p>
        </p:txBody>
      </p:sp>
    </p:spTree>
    <p:extLst>
      <p:ext uri="{BB962C8B-B14F-4D97-AF65-F5344CB8AC3E}">
        <p14:creationId xmlns:p14="http://schemas.microsoft.com/office/powerpoint/2010/main" val="124719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1B21D1-909D-499F-537C-8D605426F4E5}"/>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DFC7D325-31BD-4183-1F5E-EAB75934FFED}"/>
              </a:ext>
            </a:extLst>
          </p:cNvPr>
          <p:cNvSpPr>
            <a:spLocks noGrp="1"/>
          </p:cNvSpPr>
          <p:nvPr>
            <p:ph idx="1"/>
          </p:nvPr>
        </p:nvSpPr>
        <p:spPr/>
        <p:txBody>
          <a:bodyPr>
            <a:normAutofit fontScale="62500" lnSpcReduction="20000"/>
          </a:bodyPr>
          <a:lstStyle/>
          <a:p>
            <a:r>
              <a:rPr lang="ru-RU" dirty="0">
                <a:effectLst/>
              </a:rPr>
              <a:t>Кроме того, особый порядок выражается и во внесении вопроса о принятии Конституции на референдум.</a:t>
            </a:r>
          </a:p>
          <a:p>
            <a:r>
              <a:rPr lang="ru-RU" dirty="0">
                <a:effectLst/>
              </a:rPr>
              <a:t>Таким образом, Конституция РФ представляет собой Основной закон России, содержащий основополагающие и общеобязательные правовые нормы-принципы, нормы-цели и нормы (стандарты) права, сформулированные на основе высказываний мыслителей прошлых столетий о справедливом и сильном государстве, и характеризует юридическую модель Российской Федерации – России.</a:t>
            </a:r>
          </a:p>
          <a:p>
            <a:r>
              <a:rPr lang="ru-RU" dirty="0">
                <a:effectLst/>
              </a:rPr>
              <a:t>Эти основополагающие и общеобязательные правовые нормы-принципы, нормы-цели и нормы (стандарты) права Конституции РФ без детализации и характеристики провозглашают</a:t>
            </a:r>
          </a:p>
          <a:p>
            <a:pPr>
              <a:buFont typeface="+mj-lt"/>
              <a:buAutoNum type="arabicPeriod"/>
            </a:pPr>
            <a:r>
              <a:rPr lang="ru-RU" dirty="0">
                <a:effectLst/>
              </a:rPr>
              <a:t>модель конституционного строя и федеративного устройства Российской Федерации,</a:t>
            </a:r>
          </a:p>
          <a:p>
            <a:pPr>
              <a:buFont typeface="+mj-lt"/>
              <a:buAutoNum type="arabicPeriod"/>
            </a:pPr>
            <a:r>
              <a:rPr lang="ru-RU" dirty="0">
                <a:effectLst/>
              </a:rPr>
              <a:t>систему, виды и правовой статус органов государственной и системы органов местного самоуправления, порядок их образования, компетенцию, формы деятельности и издаваемые ими акты,</a:t>
            </a:r>
          </a:p>
          <a:p>
            <a:pPr>
              <a:buFont typeface="+mj-lt"/>
              <a:buAutoNum type="arabicPeriod"/>
            </a:pPr>
            <a:r>
              <a:rPr lang="ru-RU" dirty="0">
                <a:effectLst/>
              </a:rPr>
              <a:t>основы правового статуса человека и гражданина и правовой статус главы государства и</a:t>
            </a:r>
          </a:p>
          <a:p>
            <a:pPr>
              <a:buFont typeface="+mj-lt"/>
              <a:buAutoNum type="arabicPeriod"/>
            </a:pPr>
            <a:r>
              <a:rPr lang="ru-RU" dirty="0">
                <a:effectLst/>
              </a:rPr>
              <a:t>регулируют общественные отношения между правовым статусом человека и гражданина, общественных объединений и иных институтов гражданского общества и российским государством в лице его должностных лиц органов государственной публичной власти во всех сферах политической, экономической, социальной и духовной жизни России.</a:t>
            </a:r>
          </a:p>
          <a:p>
            <a:endParaRPr lang="ru-RU" dirty="0"/>
          </a:p>
        </p:txBody>
      </p:sp>
    </p:spTree>
    <p:extLst>
      <p:ext uri="{BB962C8B-B14F-4D97-AF65-F5344CB8AC3E}">
        <p14:creationId xmlns:p14="http://schemas.microsoft.com/office/powerpoint/2010/main" val="4086389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A802266-595C-816E-764A-E87D63E49BDA}"/>
              </a:ext>
            </a:extLst>
          </p:cNvPr>
          <p:cNvSpPr>
            <a:spLocks noGrp="1"/>
          </p:cNvSpPr>
          <p:nvPr>
            <p:ph idx="1"/>
          </p:nvPr>
        </p:nvSpPr>
        <p:spPr>
          <a:xfrm>
            <a:off x="838200" y="403412"/>
            <a:ext cx="10515600" cy="5773551"/>
          </a:xfrm>
        </p:spPr>
        <p:txBody>
          <a:bodyPr>
            <a:normAutofit fontScale="70000" lnSpcReduction="20000"/>
          </a:bodyPr>
          <a:lstStyle/>
          <a:p>
            <a:r>
              <a:rPr lang="ru-RU" dirty="0"/>
              <a:t>От норм других отраслей права конституционно-правовые нормы отличаются содержанием, зависящим от той сферы общественных отношений, которые эти нормы регулируют, источниками, в которых </a:t>
            </a:r>
            <a:r>
              <a:rPr lang="ru-RU" dirty="0" err="1"/>
              <a:t>онивыражены</a:t>
            </a:r>
            <a:r>
              <a:rPr lang="ru-RU" dirty="0"/>
              <a:t>.</a:t>
            </a:r>
          </a:p>
          <a:p>
            <a:r>
              <a:rPr lang="ru-RU" dirty="0"/>
              <a:t>Преобладают </a:t>
            </a:r>
            <a:r>
              <a:rPr lang="ru-RU" dirty="0" err="1"/>
              <a:t>общерегулятивные</a:t>
            </a:r>
            <a:r>
              <a:rPr lang="ru-RU" dirty="0"/>
              <a:t> нормы (нормы-принципы, нормы-дефиниции, нормы-задачи).</a:t>
            </a:r>
          </a:p>
          <a:p>
            <a:r>
              <a:rPr lang="ru-RU" dirty="0"/>
              <a:t>По характеру основного назначения содержащихся в них </a:t>
            </a:r>
            <a:r>
              <a:rPr lang="ru-RU" dirty="0" err="1"/>
              <a:t>предписанийконституционно</a:t>
            </a:r>
            <a:r>
              <a:rPr lang="ru-RU" dirty="0"/>
              <a:t>-правовые нормы подразделяются на:**</a:t>
            </a:r>
            <a:r>
              <a:rPr lang="ru-RU" dirty="0" err="1"/>
              <a:t>управомочивающие</a:t>
            </a:r>
            <a:r>
              <a:rPr lang="ru-RU" dirty="0"/>
              <a:t> нормы**, закрепляющие право субъектов </a:t>
            </a:r>
            <a:r>
              <a:rPr lang="ru-RU" dirty="0" err="1"/>
              <a:t>осуществлятьпредусмотренные</a:t>
            </a:r>
            <a:r>
              <a:rPr lang="ru-RU" dirty="0"/>
              <a:t> в них действия и определяющие рамки их полномочий(ст. 71-73, 83-90, 102,103);</a:t>
            </a:r>
          </a:p>
          <a:p>
            <a:r>
              <a:rPr lang="ru-RU" dirty="0"/>
              <a:t>**обязывающие нормы** (закрепляют обязанности субъектов </a:t>
            </a:r>
            <a:r>
              <a:rPr lang="ru-RU" dirty="0" err="1"/>
              <a:t>совершатьопределённые</a:t>
            </a:r>
            <a:r>
              <a:rPr lang="ru-RU" dirty="0"/>
              <a:t> действия, соответствующие данным нормам (ч.3 ст.10, ст. 57-59));</a:t>
            </a:r>
          </a:p>
          <a:p>
            <a:r>
              <a:rPr lang="ru-RU" dirty="0"/>
              <a:t>**запрещающие нормы** (запрет на совершение определённых </a:t>
            </a:r>
            <a:r>
              <a:rPr lang="ru-RU" dirty="0" err="1"/>
              <a:t>действий,предусмотренных</a:t>
            </a:r>
            <a:r>
              <a:rPr lang="ru-RU" dirty="0"/>
              <a:t> данной нормой (ч. 5 ст. 13)).По степени определённости содержащихся в них </a:t>
            </a:r>
            <a:r>
              <a:rPr lang="ru-RU" dirty="0" err="1"/>
              <a:t>предписанийразличают</a:t>
            </a:r>
            <a:r>
              <a:rPr lang="ru-RU" dirty="0"/>
              <a:t>:</a:t>
            </a:r>
          </a:p>
          <a:p>
            <a:r>
              <a:rPr lang="ru-RU" dirty="0"/>
              <a:t>**императивные нормы** (не допускают свободы выбора, а </a:t>
            </a:r>
            <a:r>
              <a:rPr lang="ru-RU" dirty="0" err="1"/>
              <a:t>чёткопредписывают</a:t>
            </a:r>
            <a:r>
              <a:rPr lang="ru-RU" dirty="0"/>
              <a:t> поступать в соответствии с указанием (ст. 116));</a:t>
            </a:r>
          </a:p>
          <a:p>
            <a:r>
              <a:rPr lang="ru-RU" dirty="0"/>
              <a:t>**диспозитивные нормы** (субъекту предоставляется </a:t>
            </a:r>
            <a:r>
              <a:rPr lang="ru-RU" dirty="0" err="1"/>
              <a:t>возможностьвоспользоваться</a:t>
            </a:r>
            <a:r>
              <a:rPr lang="ru-RU" dirty="0"/>
              <a:t> своим правом выбрать одно из действий, </a:t>
            </a:r>
            <a:r>
              <a:rPr lang="ru-RU" dirty="0" err="1"/>
              <a:t>предусмотренныхданной</a:t>
            </a:r>
            <a:r>
              <a:rPr lang="ru-RU" dirty="0"/>
              <a:t> нормой (ч. 1 ст. 85, ч. 1, ст. 117)).</a:t>
            </a:r>
          </a:p>
        </p:txBody>
      </p:sp>
    </p:spTree>
    <p:extLst>
      <p:ext uri="{BB962C8B-B14F-4D97-AF65-F5344CB8AC3E}">
        <p14:creationId xmlns:p14="http://schemas.microsoft.com/office/powerpoint/2010/main" val="4033339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D527C8-B112-A179-6761-4E66F8796F5F}"/>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BF6CA025-4E46-3DB3-E811-D86292180FF6}"/>
              </a:ext>
            </a:extLst>
          </p:cNvPr>
          <p:cNvSpPr>
            <a:spLocks noGrp="1"/>
          </p:cNvSpPr>
          <p:nvPr>
            <p:ph idx="1"/>
          </p:nvPr>
        </p:nvSpPr>
        <p:spPr/>
        <p:txBody>
          <a:bodyPr>
            <a:normAutofit fontScale="85000" lnSpcReduction="20000"/>
          </a:bodyPr>
          <a:lstStyle/>
          <a:p>
            <a:r>
              <a:rPr lang="ru-RU" dirty="0">
                <a:effectLst/>
              </a:rPr>
              <a:t>По назначению в механизме правового регулирования различают</a:t>
            </a:r>
            <a:br>
              <a:rPr lang="ru-RU" dirty="0">
                <a:effectLst/>
              </a:rPr>
            </a:br>
            <a:r>
              <a:rPr lang="ru-RU" dirty="0">
                <a:effectLst/>
              </a:rPr>
              <a:t>материальные и процессуальные нормы.</a:t>
            </a:r>
          </a:p>
          <a:p>
            <a:r>
              <a:rPr lang="ru-RU" dirty="0">
                <a:effectLst/>
              </a:rPr>
              <a:t>Нормы конституционного права различаются по юридической</a:t>
            </a:r>
            <a:br>
              <a:rPr lang="ru-RU" dirty="0">
                <a:effectLst/>
              </a:rPr>
            </a:br>
            <a:r>
              <a:rPr lang="ru-RU" dirty="0">
                <a:effectLst/>
              </a:rPr>
              <a:t>силе. Они разделяются на нормы, изложенные в главах 1, 2 и 9</a:t>
            </a:r>
            <a:br>
              <a:rPr lang="ru-RU" dirty="0">
                <a:effectLst/>
              </a:rPr>
            </a:br>
            <a:r>
              <a:rPr lang="ru-RU" dirty="0">
                <a:effectLst/>
              </a:rPr>
              <a:t>Конституции, которые имеют высшую юридическую силу в</a:t>
            </a:r>
            <a:br>
              <a:rPr lang="ru-RU" dirty="0">
                <a:effectLst/>
              </a:rPr>
            </a:br>
            <a:r>
              <a:rPr lang="ru-RU" dirty="0">
                <a:effectLst/>
              </a:rPr>
              <a:t>отношении норм, установленных в остальных главах Конституции.</a:t>
            </a:r>
          </a:p>
          <a:p>
            <a:r>
              <a:rPr lang="ru-RU" b="1" dirty="0">
                <a:effectLst/>
              </a:rPr>
              <a:t>Конституционно-правовые отношения</a:t>
            </a:r>
            <a:r>
              <a:rPr lang="ru-RU" dirty="0">
                <a:effectLst/>
              </a:rPr>
              <a:t> — общественные</a:t>
            </a:r>
            <a:br>
              <a:rPr lang="ru-RU" dirty="0">
                <a:effectLst/>
              </a:rPr>
            </a:br>
            <a:r>
              <a:rPr lang="ru-RU" dirty="0">
                <a:effectLst/>
              </a:rPr>
              <a:t>отношения, регулируемые нормами конституционного права. Они</a:t>
            </a:r>
            <a:br>
              <a:rPr lang="ru-RU" dirty="0">
                <a:effectLst/>
              </a:rPr>
            </a:br>
            <a:r>
              <a:rPr lang="ru-RU" dirty="0">
                <a:effectLst/>
              </a:rPr>
              <a:t>состоят из двух групп:</a:t>
            </a:r>
          </a:p>
          <a:p>
            <a:pPr>
              <a:buFont typeface="+mj-lt"/>
              <a:buAutoNum type="arabicPeriod"/>
            </a:pPr>
            <a:r>
              <a:rPr lang="ru-RU" dirty="0">
                <a:effectLst/>
              </a:rPr>
              <a:t>отношения, связанные с установлением конституционного строя</a:t>
            </a:r>
            <a:br>
              <a:rPr lang="ru-RU" dirty="0">
                <a:effectLst/>
              </a:rPr>
            </a:br>
            <a:r>
              <a:rPr lang="ru-RU" dirty="0">
                <a:effectLst/>
              </a:rPr>
              <a:t>и правового статуса человека и гражданина;</a:t>
            </a:r>
          </a:p>
          <a:p>
            <a:pPr>
              <a:buFont typeface="+mj-lt"/>
              <a:buAutoNum type="arabicPeriod"/>
            </a:pPr>
            <a:r>
              <a:rPr lang="ru-RU" dirty="0">
                <a:effectLst/>
              </a:rPr>
              <a:t>общественные отношения, в которых находят конкретное</a:t>
            </a:r>
            <a:br>
              <a:rPr lang="ru-RU" dirty="0">
                <a:effectLst/>
              </a:rPr>
            </a:br>
            <a:r>
              <a:rPr lang="ru-RU" dirty="0">
                <a:effectLst/>
              </a:rPr>
              <a:t>воплощение права и свободы человека и гражданина, организация и</a:t>
            </a:r>
            <a:br>
              <a:rPr lang="ru-RU" dirty="0">
                <a:effectLst/>
              </a:rPr>
            </a:br>
            <a:r>
              <a:rPr lang="ru-RU" dirty="0">
                <a:effectLst/>
              </a:rPr>
              <a:t>функционирование органов государственной власти.</a:t>
            </a:r>
          </a:p>
          <a:p>
            <a:endParaRPr lang="ru-RU" dirty="0"/>
          </a:p>
        </p:txBody>
      </p:sp>
    </p:spTree>
    <p:extLst>
      <p:ext uri="{BB962C8B-B14F-4D97-AF65-F5344CB8AC3E}">
        <p14:creationId xmlns:p14="http://schemas.microsoft.com/office/powerpoint/2010/main" val="575238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DF1893-18B2-062B-5AF1-F9912DC5BAE5}"/>
              </a:ext>
            </a:extLst>
          </p:cNvPr>
          <p:cNvSpPr>
            <a:spLocks noGrp="1"/>
          </p:cNvSpPr>
          <p:nvPr>
            <p:ph type="title"/>
          </p:nvPr>
        </p:nvSpPr>
        <p:spPr/>
        <p:txBody>
          <a:bodyPr/>
          <a:lstStyle/>
          <a:p>
            <a:endParaRPr lang="ru-RU" dirty="0"/>
          </a:p>
        </p:txBody>
      </p:sp>
      <p:sp>
        <p:nvSpPr>
          <p:cNvPr id="3" name="Объект 2">
            <a:extLst>
              <a:ext uri="{FF2B5EF4-FFF2-40B4-BE49-F238E27FC236}">
                <a16:creationId xmlns:a16="http://schemas.microsoft.com/office/drawing/2014/main" id="{9BFF6D24-4FA9-19D9-1583-196515D22733}"/>
              </a:ext>
            </a:extLst>
          </p:cNvPr>
          <p:cNvSpPr>
            <a:spLocks noGrp="1"/>
          </p:cNvSpPr>
          <p:nvPr>
            <p:ph idx="1"/>
          </p:nvPr>
        </p:nvSpPr>
        <p:spPr/>
        <p:txBody>
          <a:bodyPr>
            <a:normAutofit fontScale="77500" lnSpcReduction="20000"/>
          </a:bodyPr>
          <a:lstStyle/>
          <a:p>
            <a:r>
              <a:rPr lang="ru-RU" b="1" dirty="0"/>
              <a:t>Особенностью правовых норм конституционного права является:</a:t>
            </a:r>
          </a:p>
          <a:p>
            <a:r>
              <a:rPr lang="ru-RU" dirty="0"/>
              <a:t>Во-первых, наличие в них большого количества дефинитивных и декларативных норм и императивного и диспозитивного методов регулирования общественных отношений. Преобладающим из них является метод императивного регулирования (метод властных предписаний и субординации, основанные на запретах, обязанностях и ответственности), суть которых заключается в том, что между субъектами правоотношений устанавливаются субординационные отношения, например, определение предметов ведения РФ и её субъектов, полномочий государственных органов или им предписывается определённый порядок реализации прав и полномочий, например, определение ряда требований, предъявляемых к общественным объединениям.</a:t>
            </a:r>
          </a:p>
          <a:p>
            <a:r>
              <a:rPr lang="ru-RU" dirty="0"/>
              <a:t>Во-вторых, конституционно-правовые нормы часто имеют усеченную структуру, то есть для большинства норм конституционного права не характерно наличие санкций (часто норма состоит только из диспозиции): «Президент РФ обладает неприкосновенностью» (ст. 91) и т. п</a:t>
            </a:r>
          </a:p>
          <a:p>
            <a:endParaRPr lang="ru-RU" dirty="0"/>
          </a:p>
        </p:txBody>
      </p:sp>
    </p:spTree>
    <p:extLst>
      <p:ext uri="{BB962C8B-B14F-4D97-AF65-F5344CB8AC3E}">
        <p14:creationId xmlns:p14="http://schemas.microsoft.com/office/powerpoint/2010/main" val="3107836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EFFD4A-D7F0-4DF6-209E-27A6AF5F0A3F}"/>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B7BD7775-B8FA-1A48-C4F5-9A48F435A5CF}"/>
              </a:ext>
            </a:extLst>
          </p:cNvPr>
          <p:cNvSpPr>
            <a:spLocks noGrp="1"/>
          </p:cNvSpPr>
          <p:nvPr>
            <p:ph idx="1"/>
          </p:nvPr>
        </p:nvSpPr>
        <p:spPr/>
        <p:txBody>
          <a:bodyPr>
            <a:normAutofit fontScale="62500" lnSpcReduction="20000"/>
          </a:bodyPr>
          <a:lstStyle/>
          <a:p>
            <a:r>
              <a:rPr lang="ru-RU" dirty="0">
                <a:effectLst/>
              </a:rPr>
              <a:t>В-третьих, правовые нормы Конституции РФ имеют учредительный характер, в том числе для других отраслей российского права. Именно на основе конституционно-правовых норм сформировано развитое отраслевое законодательство РФ, конституционные предписания являются источником практически всех отраслей национальной системы права.</a:t>
            </a:r>
          </a:p>
          <a:p>
            <a:r>
              <a:rPr lang="ru-RU" dirty="0">
                <a:effectLst/>
              </a:rPr>
              <a:t>Так, гражданское законодательство России базируется на конституционных нормах о многообразии и равной защите всех форм собственности, свободе экономической деятельности, единстве экономического пространства и др. (ст. 8, 34, 35 Конституции РФ).</a:t>
            </a:r>
          </a:p>
          <a:p>
            <a:r>
              <a:rPr lang="ru-RU" dirty="0">
                <a:effectLst/>
              </a:rPr>
              <a:t>Трудовое законодательство развивает нормы Конституции РФ о социальной государственности (ст. 7), о свободе труда и праве на отдых (ст. 37) и др.</a:t>
            </a:r>
          </a:p>
          <a:p>
            <a:r>
              <a:rPr lang="ru-RU" dirty="0">
                <a:effectLst/>
              </a:rPr>
              <a:t>Земельное законодательство не может не учитывать предписаний Конституции РФ о возможности нахождения земли и других природных ресурсов в частной собственности, об особом правовом режиме данных объектов правоотношений (ст. 9, 36, 42, 58).</a:t>
            </a:r>
          </a:p>
          <a:p>
            <a:r>
              <a:rPr lang="ru-RU" dirty="0">
                <a:effectLst/>
              </a:rPr>
              <a:t>Процессуальное законодательство также базируется на конституционных принципах правосудия и функционирования судебной власти (ст. 46-54, гл. 7 Конституции РФ) и т. д.</a:t>
            </a:r>
          </a:p>
          <a:p>
            <a:endParaRPr lang="ru-RU" dirty="0"/>
          </a:p>
        </p:txBody>
      </p:sp>
    </p:spTree>
    <p:extLst>
      <p:ext uri="{BB962C8B-B14F-4D97-AF65-F5344CB8AC3E}">
        <p14:creationId xmlns:p14="http://schemas.microsoft.com/office/powerpoint/2010/main" val="3598453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F1ABAD-B1AF-D377-7A1D-6ECC66C39A02}"/>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D8F056F-EC40-848C-FE6B-BB663FCAB851}"/>
              </a:ext>
            </a:extLst>
          </p:cNvPr>
          <p:cNvSpPr>
            <a:spLocks noGrp="1"/>
          </p:cNvSpPr>
          <p:nvPr>
            <p:ph idx="1"/>
          </p:nvPr>
        </p:nvSpPr>
        <p:spPr/>
        <p:txBody>
          <a:bodyPr>
            <a:normAutofit fontScale="92500" lnSpcReduction="10000"/>
          </a:bodyPr>
          <a:lstStyle/>
          <a:p>
            <a:r>
              <a:rPr lang="ru-RU" dirty="0"/>
              <a:t>Вот текст, извлечённый с </a:t>
            </a:r>
            <a:r>
              <a:rPr lang="ru-RU" dirty="0" err="1"/>
              <a:t>изображения:В-четвёртых</a:t>
            </a:r>
            <a:r>
              <a:rPr lang="ru-RU" dirty="0"/>
              <a:t>, правовые нормы-принципы, нормы-цели и нормы-стандарты права, содержащиеся в Конституции РФ, обладают наивысшей юридической силой среди принципов и норм права, закреплённых во всех иных отраслях национальной системы права (законодательства) России, имеют прямое действие и применение на всей территории Российской Федерации, и все органы государственной власти и местного самоуправления, все должностные лица и граждане и их объединения обязаны соблюдать и исполнять эти основополагающие и общеобязательные нормы-принципы, нормы-цели и нормы права Конституции РФ (ч. ч. 1 и 2 ст. 15 Конституции).</a:t>
            </a:r>
          </a:p>
        </p:txBody>
      </p:sp>
    </p:spTree>
    <p:extLst>
      <p:ext uri="{BB962C8B-B14F-4D97-AF65-F5344CB8AC3E}">
        <p14:creationId xmlns:p14="http://schemas.microsoft.com/office/powerpoint/2010/main" val="3562440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4423BB-77FE-E6E3-312B-E3263415B5D0}"/>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8C1949D9-5C3C-FAB8-3649-1BA88A2C48F3}"/>
              </a:ext>
            </a:extLst>
          </p:cNvPr>
          <p:cNvSpPr>
            <a:spLocks noGrp="1"/>
          </p:cNvSpPr>
          <p:nvPr>
            <p:ph idx="1"/>
          </p:nvPr>
        </p:nvSpPr>
        <p:spPr/>
        <p:txBody>
          <a:bodyPr>
            <a:normAutofit fontScale="92500" lnSpcReduction="10000"/>
          </a:bodyPr>
          <a:lstStyle/>
          <a:p>
            <a:r>
              <a:rPr lang="ru-RU" dirty="0"/>
              <a:t>Вот текст, извлечённый с </a:t>
            </a:r>
            <a:r>
              <a:rPr lang="ru-RU" dirty="0" err="1"/>
              <a:t>изображения:Источник</a:t>
            </a:r>
            <a:r>
              <a:rPr lang="ru-RU" dirty="0"/>
              <a:t> конституционного права – юридические формы и способы выражения конституционных норм и образуют две основные сферы: естественное право и позитивное </a:t>
            </a:r>
            <a:r>
              <a:rPr lang="ru-RU" dirty="0" err="1"/>
              <a:t>право.Естественное</a:t>
            </a:r>
            <a:r>
              <a:rPr lang="ru-RU" dirty="0"/>
              <a:t> право – те права и свободы, которые принадлежат человеку от рождения и не нуждаются в каком-либо </a:t>
            </a:r>
            <a:r>
              <a:rPr lang="ru-RU" dirty="0" err="1"/>
              <a:t>закреплении.Позитивное</a:t>
            </a:r>
            <a:r>
              <a:rPr lang="ru-RU" dirty="0"/>
              <a:t> право – право, закреплённое в нормативных правовых актах, посредством которых устанавливаются и получают юридическую силу конституционно-правовые нормы, которые образуют иерархическую систему в соответствии с их юридической силой. Иерархия источников права важна, поскольку она формирует порядок «подчинения» источников.</a:t>
            </a:r>
          </a:p>
        </p:txBody>
      </p:sp>
    </p:spTree>
    <p:extLst>
      <p:ext uri="{BB962C8B-B14F-4D97-AF65-F5344CB8AC3E}">
        <p14:creationId xmlns:p14="http://schemas.microsoft.com/office/powerpoint/2010/main" val="1248033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0A66A6-1EFF-6EB9-EF6F-2D35339A7EEE}"/>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40F6C86-A94E-8246-8835-25BC8393D5E3}"/>
              </a:ext>
            </a:extLst>
          </p:cNvPr>
          <p:cNvSpPr>
            <a:spLocks noGrp="1"/>
          </p:cNvSpPr>
          <p:nvPr>
            <p:ph idx="1"/>
          </p:nvPr>
        </p:nvSpPr>
        <p:spPr/>
        <p:txBody>
          <a:bodyPr>
            <a:normAutofit fontScale="77500" lnSpcReduction="20000"/>
          </a:bodyPr>
          <a:lstStyle/>
          <a:p>
            <a:r>
              <a:rPr lang="ru-RU" dirty="0"/>
              <a:t>Вот текст, извлечённый с </a:t>
            </a:r>
            <a:r>
              <a:rPr lang="ru-RU" dirty="0" err="1"/>
              <a:t>изображения:Источники</a:t>
            </a:r>
            <a:r>
              <a:rPr lang="ru-RU" dirty="0"/>
              <a:t> Конституционного права России делятся на определённые виды:1. Федеральные источники:   1.1 Конституция Российской Федерации;   1.2 Общепризнанные принципы и нормы международного права, и международные договоры Российской Федерации;   1.3 Декларации «О государственном суверенитете РСФСР от 12.06.1990 г., «О правах и свободах человека и гражданина» от 22.11.1991 г., в которых сформулированы принципы, обязательные для всего конституционно-правового развития российского государства.   1.4 Федеральные конституционные законы.   1.5 Федеральные законы.   1.6 Акты Президента Российской Федерации.   1.7 Акты палат Федерального Собрания Российской Федерации.   1.8 Акты Правительства Российской Федерации.   1.9 Акты федеральных органов исполнительной власти.   1.10 Акты Конституционного Суда РФ. Хотя Конституционный Суд РФ не является органом, принимающим правовые акты, однако содержащиеся в его решениях правовые позиции имеют юридическое </a:t>
            </a:r>
            <a:r>
              <a:rPr lang="ru-RU" dirty="0" err="1"/>
              <a:t>значение.На</a:t>
            </a:r>
            <a:r>
              <a:rPr lang="ru-RU" dirty="0"/>
              <a:t> их основе утрачивают силу правовые акты, признанные не соответствующими Конституции РФ.</a:t>
            </a:r>
          </a:p>
        </p:txBody>
      </p:sp>
    </p:spTree>
    <p:extLst>
      <p:ext uri="{BB962C8B-B14F-4D97-AF65-F5344CB8AC3E}">
        <p14:creationId xmlns:p14="http://schemas.microsoft.com/office/powerpoint/2010/main" val="3196799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1416A8-4BC3-6678-ADA5-3F8EF8E9C983}"/>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91196F48-6BEA-757D-C6DB-C31C1E5036CE}"/>
              </a:ext>
            </a:extLst>
          </p:cNvPr>
          <p:cNvSpPr>
            <a:spLocks noGrp="1"/>
          </p:cNvSpPr>
          <p:nvPr>
            <p:ph idx="1"/>
          </p:nvPr>
        </p:nvSpPr>
        <p:spPr/>
        <p:txBody>
          <a:bodyPr>
            <a:normAutofit fontScale="77500" lnSpcReduction="20000"/>
          </a:bodyPr>
          <a:lstStyle/>
          <a:p>
            <a:r>
              <a:rPr lang="ru-RU" dirty="0"/>
              <a:t>Вот текст, извлечённый с изображения:2. Федерально-региональные источники:   2.1 Конституционно-правовые договоры:    2.1.1) между органами государственной власти РФ и органами государственной власти субъектов РФ;    2.1.2) между органами государственной власти субъектов РФ;    2.1.3) Конституционно-правовые соглашения между органами исполнительной власти РФ и её субъектов.3. Региональные источники:   3.1 Конституции и уставы субъектов Российской Федерации.   3.2 Акты органов законодательной власти субъектов РФ и их палат.   3.3 Акты органов исполнительной власти субъектов РФ.   3.4 Конституционно-правовые договоры и соглашения между субъектами Российской Федерации.4. Регионально-местные источники:   4.1 Конституционно-правовые договоры и соглашения между субъектами Российской Федерации и действующими на их территории органами местного самоуправления.5. Местные источники:   5.1 Уставы муниципальных образований.   5.2 Акты выборных органов местного самоуправления.   5.3 Акты должностных лиц местного самоуправления.   5.4 Конституционно-правовые договоры и соглашения, заключаемые на местном уровне.</a:t>
            </a:r>
          </a:p>
        </p:txBody>
      </p:sp>
    </p:spTree>
    <p:extLst>
      <p:ext uri="{BB962C8B-B14F-4D97-AF65-F5344CB8AC3E}">
        <p14:creationId xmlns:p14="http://schemas.microsoft.com/office/powerpoint/2010/main" val="1930594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330681-70EF-B3E4-042A-E17541AD94C7}"/>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9129FD46-CBFD-A726-E83C-3BA0CBE0E038}"/>
              </a:ext>
            </a:extLst>
          </p:cNvPr>
          <p:cNvSpPr>
            <a:spLocks noGrp="1"/>
          </p:cNvSpPr>
          <p:nvPr>
            <p:ph idx="1"/>
          </p:nvPr>
        </p:nvSpPr>
        <p:spPr/>
        <p:txBody>
          <a:bodyPr>
            <a:normAutofit fontScale="70000" lnSpcReduction="20000"/>
          </a:bodyPr>
          <a:lstStyle/>
          <a:p>
            <a:r>
              <a:rPr lang="ru-RU" dirty="0"/>
              <a:t>Вот текст, извлечённый с </a:t>
            </a:r>
            <a:r>
              <a:rPr lang="ru-RU" dirty="0" err="1"/>
              <a:t>изображения:Кроме</a:t>
            </a:r>
            <a:r>
              <a:rPr lang="ru-RU" dirty="0"/>
              <a:t> того, в Конституции РФ отражена идея вхождения международных норм международных договоров России в систему права России (ч. 3 ст. 15).  Но это не означает, что все внутригосударственные нормы находятся в «подчинении» у норм международного права. Любой международный договор должен быть ратифицирован, и только после этого он приобретает юридическую силу и становится частью правовой системы России.  Ратифицировать международный договор означает одобрение международного договора высшими органами власти государства, после которого документ становится обязательным для исполнения внутри страны. Или, говоря простыми словами, ратификация означает завершающий этап одобрения международного соглашения и оно становится частью законов отдельного государства.  Особого рода **источниками конституционного права считаются акты Конституционного Суда РФ**.  Все новые правовые нормы всех иных отраслей национальной системы права (законодательства) России, принимаемые федеральными, региональными и муниципальными законодательными органами, не могут противоречить принципам и нормам права Конституции РФ (ст. 16 Конституции РФ) и не могут быть пересмотрены или отменены ни Федеральным Собранием РФ, ни какими иными законами и ни кем-либо из высших должностных лиц России.</a:t>
            </a:r>
          </a:p>
        </p:txBody>
      </p:sp>
    </p:spTree>
    <p:extLst>
      <p:ext uri="{BB962C8B-B14F-4D97-AF65-F5344CB8AC3E}">
        <p14:creationId xmlns:p14="http://schemas.microsoft.com/office/powerpoint/2010/main" val="974045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C6BE96-DC90-2992-8B9B-695BF662B3A7}"/>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91234686-E77E-5686-B478-387DC657FC70}"/>
              </a:ext>
            </a:extLst>
          </p:cNvPr>
          <p:cNvSpPr>
            <a:spLocks noGrp="1"/>
          </p:cNvSpPr>
          <p:nvPr>
            <p:ph idx="1"/>
          </p:nvPr>
        </p:nvSpPr>
        <p:spPr/>
        <p:txBody>
          <a:bodyPr>
            <a:normAutofit fontScale="77500" lnSpcReduction="20000"/>
          </a:bodyPr>
          <a:lstStyle/>
          <a:p>
            <a:r>
              <a:rPr lang="ru-RU" dirty="0"/>
              <a:t>Вот текст, извлечённый с </a:t>
            </a:r>
            <a:r>
              <a:rPr lang="ru-RU" dirty="0" err="1"/>
              <a:t>изображения:Таким</a:t>
            </a:r>
            <a:r>
              <a:rPr lang="ru-RU" dirty="0"/>
              <a:t> образом, Конституция РФ является основным источником и  ядром всей отрасли конституционного права. Эта роль Конституции  России обусловлена тем, что она имеет высшую юридическую силу,  прямое действие и применяется на всей территории Российской  Федерации. Законы и иные правовые акты, принимаемые в Российской  Федерации, не должны противоречить Конституции Российской  Федерации, а органы государственной власти, органы местного  самоуправления, должностные лица, граждане и их объединения обязаны  ее соблюдать (ч. 1, 2 ст. 15 Конституции).  Однако отождествлять систему конституционного права РФ и  структуру Конституции РФ ни в коем случае нельзя. Конституция РФ  является основным, но далеко не единственным источником  конституционного права и аналогия между этими понятиями возможна  лишь по названию и последовательности составных частей, а не по их  объёму и содержанию.  Таким образом, эти и иные особенности конституционно-правовых  норм позволяют назвать конституционное право ведущей и важнейшей  отраслью публичного права (законодательства) России.</a:t>
            </a:r>
          </a:p>
        </p:txBody>
      </p:sp>
    </p:spTree>
    <p:extLst>
      <p:ext uri="{BB962C8B-B14F-4D97-AF65-F5344CB8AC3E}">
        <p14:creationId xmlns:p14="http://schemas.microsoft.com/office/powerpoint/2010/main" val="3691392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27A4FD-4D10-6E7A-351E-1D2A5B39AAB9}"/>
              </a:ext>
            </a:extLst>
          </p:cNvPr>
          <p:cNvSpPr>
            <a:spLocks noGrp="1"/>
          </p:cNvSpPr>
          <p:nvPr>
            <p:ph type="title"/>
          </p:nvPr>
        </p:nvSpPr>
        <p:spPr/>
        <p:txBody>
          <a:bodyPr/>
          <a:lstStyle/>
          <a:p>
            <a:endParaRPr lang="ru-RU" dirty="0"/>
          </a:p>
        </p:txBody>
      </p:sp>
      <p:sp>
        <p:nvSpPr>
          <p:cNvPr id="3" name="Объект 2">
            <a:extLst>
              <a:ext uri="{FF2B5EF4-FFF2-40B4-BE49-F238E27FC236}">
                <a16:creationId xmlns:a16="http://schemas.microsoft.com/office/drawing/2014/main" id="{63C31705-17DF-486A-57EB-ABE63CDD29B5}"/>
              </a:ext>
            </a:extLst>
          </p:cNvPr>
          <p:cNvSpPr>
            <a:spLocks noGrp="1"/>
          </p:cNvSpPr>
          <p:nvPr>
            <p:ph idx="1"/>
          </p:nvPr>
        </p:nvSpPr>
        <p:spPr/>
        <p:txBody>
          <a:bodyPr>
            <a:normAutofit fontScale="62500" lnSpcReduction="20000"/>
          </a:bodyPr>
          <a:lstStyle/>
          <a:p>
            <a:r>
              <a:rPr lang="ru-RU" dirty="0"/>
              <a:t>Вот текст, извлечённый с </a:t>
            </a:r>
            <a:r>
              <a:rPr lang="ru-RU" dirty="0" err="1"/>
              <a:t>изображения:Система</a:t>
            </a:r>
            <a:r>
              <a:rPr lang="ru-RU" dirty="0"/>
              <a:t> конституционного права — совокупность её составных частей и элементов, характеризующих его внутреннее строение и обособляющих его от других отраслей права. Критерием для образования системы конституционного права являются не источники, а конституционно-правовые </a:t>
            </a:r>
            <a:r>
              <a:rPr lang="ru-RU" dirty="0" err="1"/>
              <a:t>институты.Система</a:t>
            </a:r>
            <a:r>
              <a:rPr lang="ru-RU" dirty="0"/>
              <a:t> конституционного права РФ включает:1. Общие положения, куда входят следующие правовые институты:   - Конституция РФ и её свойства;   - Основы конституционного строя России;   - Основы конституционно-правового статуса личности, в том числе правовой институт гражданства в Российской Федерации и гарантии прав и свобод человека и гражданина.2. Конституционно-правовая система власти (институциональный и территориальный аспекты), включающая следующие подотрасли права и правовые институты:   - Парламентское право РФ;   - Избирательное право и избирательный процесс в Российской Федерации;   - Правовой институт главы государства;   - Правовой институт Правительства РФ;   - Конституционные основы судебной системы, судебной власти и прокуратуры в Российской Федерации;   - Территориальная организация публичной власти (федеративное устройство России и конституционные основы местного самоуправления).Таким образом, каждая составная часть системы конституционного права — соответствующая совокупность конституционно-правовых норм со своими более узким предметом правового регулирования, определённым кругом субъектов и специфическими источниками.</a:t>
            </a:r>
          </a:p>
        </p:txBody>
      </p:sp>
    </p:spTree>
    <p:extLst>
      <p:ext uri="{BB962C8B-B14F-4D97-AF65-F5344CB8AC3E}">
        <p14:creationId xmlns:p14="http://schemas.microsoft.com/office/powerpoint/2010/main" val="383859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531FD9-1F50-8C75-218B-E5979708E4D5}"/>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65D56B86-04F5-2B24-447F-5B9F080BB89A}"/>
              </a:ext>
            </a:extLst>
          </p:cNvPr>
          <p:cNvSpPr>
            <a:spLocks noGrp="1"/>
          </p:cNvSpPr>
          <p:nvPr>
            <p:ph idx="1"/>
          </p:nvPr>
        </p:nvSpPr>
        <p:spPr/>
        <p:txBody>
          <a:bodyPr>
            <a:normAutofit fontScale="70000" lnSpcReduction="20000"/>
          </a:bodyPr>
          <a:lstStyle/>
          <a:p>
            <a:r>
              <a:rPr lang="ru-RU" dirty="0"/>
              <a:t>Вот текст, извлечённый с </a:t>
            </a:r>
            <a:r>
              <a:rPr lang="ru-RU" dirty="0" err="1"/>
              <a:t>изображения:Конституционно-правовая</a:t>
            </a:r>
            <a:r>
              <a:rPr lang="ru-RU" dirty="0"/>
              <a:t> ответственность является мерой государственного принуждения, основанной на юридическом и общественном осуждении правонарушения, и выражается в установлении для правонарушителя отрицательных последствий (меры принуждения, санкции).Конституционно-правовая ответственность имеет свои </a:t>
            </a:r>
            <a:r>
              <a:rPr lang="ru-RU" dirty="0" err="1"/>
              <a:t>особенности:В</a:t>
            </a:r>
            <a:r>
              <a:rPr lang="ru-RU" dirty="0"/>
              <a:t> ней отсутствуют такие виды, как лишение личного и имущественного свойства. В конституционном праве ответственность связана с устранением нарушений закона и принятием мер по должному функционированию государственной власти и восстановлению нарушенных прав и свобод (ч. 3 ст. 15).Меры конституционно-правовой ответственности:– отмена или приостановление действия актов государственных органов;– досрочное прекращение деятельности различных государственных органов и должностных лиц;– лишение полномочий депутатов законодательных органов государственной власти и </a:t>
            </a:r>
            <a:r>
              <a:rPr lang="ru-RU" dirty="0" err="1"/>
              <a:t>др.На</a:t>
            </a:r>
            <a:r>
              <a:rPr lang="ru-RU" dirty="0"/>
              <a:t> гражданина, если он не является должностным лицом, эта ответственность не распространяется. Граждане несут ответственность по уголовному, административному, гражданскому </a:t>
            </a:r>
            <a:r>
              <a:rPr lang="ru-RU" dirty="0" err="1"/>
              <a:t>праву.Обратите</a:t>
            </a:r>
            <a:r>
              <a:rPr lang="ru-RU" dirty="0"/>
              <a:t> внимание на основания применения конституционно-правовой ответственности (действие или бездействие, которые причинили или могли причинить ущерб обществу или государству).</a:t>
            </a:r>
          </a:p>
        </p:txBody>
      </p:sp>
    </p:spTree>
    <p:extLst>
      <p:ext uri="{BB962C8B-B14F-4D97-AF65-F5344CB8AC3E}">
        <p14:creationId xmlns:p14="http://schemas.microsoft.com/office/powerpoint/2010/main" val="4196761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3A34AE-38E3-EFA5-80BA-CADFB4543172}"/>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81044E4-4BAC-4280-66BF-BAA46419AB51}"/>
              </a:ext>
            </a:extLst>
          </p:cNvPr>
          <p:cNvSpPr>
            <a:spLocks noGrp="1"/>
          </p:cNvSpPr>
          <p:nvPr>
            <p:ph idx="1"/>
          </p:nvPr>
        </p:nvSpPr>
        <p:spPr/>
        <p:txBody>
          <a:bodyPr>
            <a:normAutofit fontScale="70000" lnSpcReduction="20000"/>
          </a:bodyPr>
          <a:lstStyle/>
          <a:p>
            <a:r>
              <a:rPr lang="ru-RU" dirty="0"/>
              <a:t>Вот текст, извлечённый с изображения:## 2. Основы конституционного строя и федеративного устройства </a:t>
            </a:r>
            <a:r>
              <a:rPr lang="ru-RU" dirty="0" err="1"/>
              <a:t>РоссииПод</a:t>
            </a:r>
            <a:r>
              <a:rPr lang="ru-RU" dirty="0"/>
              <a:t> **государственным строем России** без его детализации и характеристики понимают установленную Декларациями «О правах народов» от 02(15).11.1917г., «Прав трудящегося и эксплуатируемого народа» от 25.01.1918г., «О государственном суверенитете РСФСР» от 12.06.1990г., «О языках народов Российской Федерации» от 25.10.1991 года № 1807-I (в ред. от 13.06.2023 № 253-ФЗ), «О правах и свободах человека и гражданина РСФСР» от 22.11.1991г., Конституцией РФ 1993г. и многими иными законами России **систему политических, административных, уголовных, экономических, имущественных, земельных, трудовых, семейных, медицинских, экологических, социальных и иных правовых норм-стандартов об организации органов государственной и муниципальной власти и территориального устройства России и о взаимоотношениях человека и всех структур гражданского общества с этими органами государственной и муниципальной власти, обусловленных соотношением политических сил и социально-экономическим развитием общества.**Детализация и характеристика этих правовых норм и правоотношений осуществляется в ФКЗ и в отраслевом федеральном законодательстве России.**Понятие «государственный строй» является комплексным и включает такие понятия, как «конституционный строй и его общественно-политическая и экономическая составляющие».**</a:t>
            </a:r>
          </a:p>
        </p:txBody>
      </p:sp>
    </p:spTree>
    <p:extLst>
      <p:ext uri="{BB962C8B-B14F-4D97-AF65-F5344CB8AC3E}">
        <p14:creationId xmlns:p14="http://schemas.microsoft.com/office/powerpoint/2010/main" val="3996545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4F4DCE-E5D5-E71F-9203-727B2012027E}"/>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E83A91FC-94FE-E5D0-5194-1600B531D873}"/>
              </a:ext>
            </a:extLst>
          </p:cNvPr>
          <p:cNvSpPr>
            <a:spLocks noGrp="1"/>
          </p:cNvSpPr>
          <p:nvPr>
            <p:ph idx="1"/>
          </p:nvPr>
        </p:nvSpPr>
        <p:spPr/>
        <p:txBody>
          <a:bodyPr>
            <a:normAutofit fontScale="62500" lnSpcReduction="20000"/>
          </a:bodyPr>
          <a:lstStyle/>
          <a:p>
            <a:r>
              <a:rPr lang="ru-RU" dirty="0"/>
              <a:t>Вот текст, извлечённый с </a:t>
            </a:r>
            <a:r>
              <a:rPr lang="ru-RU" dirty="0" err="1"/>
              <a:t>изображения:Конституционный</a:t>
            </a:r>
            <a:r>
              <a:rPr lang="ru-RU" dirty="0"/>
              <a:t> строй – определённая форма, определённый способ организации государства, закреплённый в его </a:t>
            </a:r>
            <a:r>
              <a:rPr lang="ru-RU" dirty="0" err="1"/>
              <a:t>конституции.Основы</a:t>
            </a:r>
            <a:r>
              <a:rPr lang="ru-RU" dirty="0"/>
              <a:t> конституционного строя России – устои государства, его основные принципы, обеспечивающие России характер конституционного </a:t>
            </a:r>
            <a:r>
              <a:rPr lang="ru-RU" dirty="0" err="1"/>
              <a:t>государства.Согласно</a:t>
            </a:r>
            <a:r>
              <a:rPr lang="ru-RU" dirty="0"/>
              <a:t> Конституции РФ к конституционному строю относятся, прежде всего, фундаментальные правовые нормы-принципы, нормы-цели и нормы-стандарты права, которые присущи каждому демократическому государству. В их число входит демократизм, выражающийся в народном суверенитете, признание прав и свобод человека и гражданина высшей ценностью, провозглашение правового государства, воплощением которого является конституционное государство, т.е. такое, в котором обеспечивается подчинение государства праву, социальное рыночное хозяйство, в рамках которого, главным образом, осуществляются производство и распределение товаров и благ, а также принцип разделения властей, признание и гарантирование местного самоуправления, идеологического и политического многообразия, которые образуют форму государственного правления, территориального устройства и государственный политический режим в </a:t>
            </a:r>
            <a:r>
              <a:rPr lang="ru-RU" dirty="0" err="1"/>
              <a:t>России.Все</a:t>
            </a:r>
            <a:r>
              <a:rPr lang="ru-RU" dirty="0"/>
              <a:t> грани конституционного строя России невозможно прописать ни в одном нормативном акте, в том числе и в Основном законе России, а основы конституционного строя – вообще только важнейшие исходные начала, определяющие сущность этого общественно-политического понятия.</a:t>
            </a:r>
          </a:p>
        </p:txBody>
      </p:sp>
    </p:spTree>
    <p:extLst>
      <p:ext uri="{BB962C8B-B14F-4D97-AF65-F5344CB8AC3E}">
        <p14:creationId xmlns:p14="http://schemas.microsoft.com/office/powerpoint/2010/main" val="3392176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17F603-6EE6-3890-0DB8-FF129DF63DFB}"/>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9DDD14E-031D-7831-1A28-02154FA9F1BC}"/>
              </a:ext>
            </a:extLst>
          </p:cNvPr>
          <p:cNvSpPr>
            <a:spLocks noGrp="1"/>
          </p:cNvSpPr>
          <p:nvPr>
            <p:ph idx="1"/>
          </p:nvPr>
        </p:nvSpPr>
        <p:spPr/>
        <p:txBody>
          <a:bodyPr>
            <a:normAutofit fontScale="77500" lnSpcReduction="20000"/>
          </a:bodyPr>
          <a:lstStyle/>
          <a:p>
            <a:r>
              <a:rPr lang="ru-RU" dirty="0"/>
              <a:t>Вот текст, извлечённый с </a:t>
            </a:r>
            <a:r>
              <a:rPr lang="ru-RU" dirty="0" err="1"/>
              <a:t>изображения:Таким</a:t>
            </a:r>
            <a:r>
              <a:rPr lang="ru-RU" dirty="0"/>
              <a:t> образом, под основами конституционного строя современной России понимается совокупность вышеперечисленных правовых норм-принципов, норм-целей и норм-стандартов права, содержащихся в Конституции РФ, разъясняющих модель российского государства, то есть регламентирующих форму государственного правления, территориального устройства и государственный политический режим правления в России. При этом эти системообразующие правовые нормы-принципы, нормы-цели и нормы-стандарты права, лежащие в основе или, напротив, находящиеся на вершине всей пирамиды отечественной правовой системы, являются ориентиром и для всех иных правовых норм и для всех общественных отношений в обществе и характеризуют форму государственного правления, форму территориального устройства и форму государственного (политического) режима в </a:t>
            </a:r>
            <a:r>
              <a:rPr lang="ru-RU" dirty="0" err="1"/>
              <a:t>России.Статья</a:t>
            </a:r>
            <a:r>
              <a:rPr lang="ru-RU" dirty="0"/>
              <a:t> 1 Конституции РФ провозглашает **форму государственного правления России** следующим образом: «Российская Федерация – Россия демократическое федеративное правовое государство с республиканской формой правления». Кроме того, ст. 7 Конституции РФ характеризует Россию как социальное, а статья 14 – как светское государство.</a:t>
            </a:r>
          </a:p>
        </p:txBody>
      </p:sp>
    </p:spTree>
    <p:extLst>
      <p:ext uri="{BB962C8B-B14F-4D97-AF65-F5344CB8AC3E}">
        <p14:creationId xmlns:p14="http://schemas.microsoft.com/office/powerpoint/2010/main" val="494372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82511-91E0-ECED-D978-D49096B99708}"/>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4D55BC2F-4169-08B8-1242-4FF1273DDFC1}"/>
              </a:ext>
            </a:extLst>
          </p:cNvPr>
          <p:cNvSpPr>
            <a:spLocks noGrp="1"/>
          </p:cNvSpPr>
          <p:nvPr>
            <p:ph idx="1"/>
          </p:nvPr>
        </p:nvSpPr>
        <p:spPr/>
        <p:txBody>
          <a:bodyPr>
            <a:normAutofit fontScale="70000" lnSpcReduction="20000"/>
          </a:bodyPr>
          <a:lstStyle/>
          <a:p>
            <a:r>
              <a:rPr lang="ru-RU" dirty="0"/>
              <a:t>Вот текст, извлечённый с </a:t>
            </a:r>
            <a:r>
              <a:rPr lang="ru-RU" dirty="0" err="1"/>
              <a:t>изображения:Системно</a:t>
            </a:r>
            <a:r>
              <a:rPr lang="ru-RU" dirty="0"/>
              <a:t> анализируя правовые нормы действующей Конституции Российской Федерации – России и иных основополагающих (базовых) законов, выявлен такой баланс полномочий её законодательной и исполнительной властей, что по форме государственного правления Российскую Федерацию можно определить как президентско-парламентскую, или как полу-президентскую, или как полу-парламентскую, или как «смешанную республику», так как она сочетает в себе черты президентского и парламентского </a:t>
            </a:r>
            <a:r>
              <a:rPr lang="ru-RU" dirty="0" err="1"/>
              <a:t>правления.Однако</a:t>
            </a:r>
            <a:r>
              <a:rPr lang="ru-RU" dirty="0"/>
              <a:t>, взаимосвязь власти Президента, Парламента и Правительства является </a:t>
            </a:r>
            <a:r>
              <a:rPr lang="ru-RU" dirty="0" err="1"/>
              <a:t>нетривиальной.Действительно</a:t>
            </a:r>
            <a:r>
              <a:rPr lang="ru-RU" dirty="0"/>
              <a:t>, Главой правительства РФ является его председатель, а не Президент РФ, что является аргументом в пользу смешанной </a:t>
            </a:r>
            <a:r>
              <a:rPr lang="ru-RU" dirty="0" err="1"/>
              <a:t>республики.С</a:t>
            </a:r>
            <a:r>
              <a:rPr lang="ru-RU" dirty="0"/>
              <a:t> другой стороны, сам Председатель правительства назначается Президентом РФ после утверждения его кандидатуры Государственной Думой Федерального Собрания Российской Федерации (далее – ГД ФС), и Президент обладает полномочиями по роспуску Правительства </a:t>
            </a:r>
            <a:r>
              <a:rPr lang="ru-RU" dirty="0" err="1"/>
              <a:t>РФ.Государственная</a:t>
            </a:r>
            <a:r>
              <a:rPr lang="ru-RU" dirty="0"/>
              <a:t> Дума ФС может лишь выразить недоверие Правительству РФ, но решение об его отставке принимается Президентом </a:t>
            </a:r>
            <a:r>
              <a:rPr lang="ru-RU" dirty="0" err="1"/>
              <a:t>РФ.По</a:t>
            </a:r>
            <a:r>
              <a:rPr lang="ru-RU" dirty="0"/>
              <a:t> мнению председателя Конституционного суда РФ В. Д. Зорькина Россию более точно следует называть смешанной президентско-парламентской республикой.</a:t>
            </a:r>
          </a:p>
        </p:txBody>
      </p:sp>
    </p:spTree>
    <p:extLst>
      <p:ext uri="{BB962C8B-B14F-4D97-AF65-F5344CB8AC3E}">
        <p14:creationId xmlns:p14="http://schemas.microsoft.com/office/powerpoint/2010/main" val="3780375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AFB94C-2C1D-228A-8085-ED90B2B3F133}"/>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53BAA2AA-F9E8-BFEE-ECD2-E779E7138983}"/>
              </a:ext>
            </a:extLst>
          </p:cNvPr>
          <p:cNvSpPr>
            <a:spLocks noGrp="1"/>
          </p:cNvSpPr>
          <p:nvPr>
            <p:ph idx="1"/>
          </p:nvPr>
        </p:nvSpPr>
        <p:spPr/>
        <p:txBody>
          <a:bodyPr>
            <a:normAutofit fontScale="70000" lnSpcReduction="20000"/>
          </a:bodyPr>
          <a:lstStyle/>
          <a:p>
            <a:r>
              <a:rPr lang="ru-RU" dirty="0"/>
              <a:t>Вот текст, извлечённый с </a:t>
            </a:r>
            <a:r>
              <a:rPr lang="ru-RU" dirty="0" err="1"/>
              <a:t>изображения:Общественно-политической</a:t>
            </a:r>
            <a:r>
              <a:rPr lang="ru-RU" dirty="0"/>
              <a:t> составляющей конституционного строя РФ  Общественно-политической составляющей является наиболее  динамичная составная часть формы государства, реагирующая на все  изменения, происходящие в экономической и социально-политической  сферах жизни общества, особенно в соотношении социально-  политических сил в стране. На основе режима складывается политический  климат и возникают суждения по поводу характера организации  политического устройства в государстве.  **Общественно-политической составляющая конституционного  строя России – совокупность различных политических институтов,  социально-политических общностей и отношений между ними,  которые воплощает политическая власть.**  Эта система тесно связана с другими – экономической, правовой и  духовной и включает: **политико-правовой режим правления,  многопартийную систему, многочисленные общественно-  политические организации, объединения, комитеты и группы  гражданского общества России и принципы народовластия,  идеологического многообразия, разделения властей, федерализм и  гарантированность местного самоуправления и находит выражение,  прежде всего, в обеспечении народовластия, разделения властей и  политического многообразия.**</a:t>
            </a:r>
          </a:p>
        </p:txBody>
      </p:sp>
    </p:spTree>
    <p:extLst>
      <p:ext uri="{BB962C8B-B14F-4D97-AF65-F5344CB8AC3E}">
        <p14:creationId xmlns:p14="http://schemas.microsoft.com/office/powerpoint/2010/main" val="3712235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DA470F-D780-AD11-0F81-71F48261A20B}"/>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6422E317-9D09-65DB-91E7-28D800F3CE2E}"/>
              </a:ext>
            </a:extLst>
          </p:cNvPr>
          <p:cNvSpPr>
            <a:spLocks noGrp="1"/>
          </p:cNvSpPr>
          <p:nvPr>
            <p:ph idx="1"/>
          </p:nvPr>
        </p:nvSpPr>
        <p:spPr/>
        <p:txBody>
          <a:bodyPr>
            <a:normAutofit fontScale="92500" lnSpcReduction="20000"/>
          </a:bodyPr>
          <a:lstStyle/>
          <a:p>
            <a:r>
              <a:rPr lang="ru-RU" dirty="0"/>
              <a:t>Вот текст, извлечённый с </a:t>
            </a:r>
            <a:r>
              <a:rPr lang="ru-RU" dirty="0" err="1"/>
              <a:t>изображения:В</a:t>
            </a:r>
            <a:r>
              <a:rPr lang="ru-RU" dirty="0"/>
              <a:t> статье 3 Конституции РФ указывается, что носителем суверенитета и единственным источником власти в РФ является её многонациональный </a:t>
            </a:r>
            <a:r>
              <a:rPr lang="ru-RU" dirty="0" err="1"/>
              <a:t>народ.Народ</a:t>
            </a:r>
            <a:r>
              <a:rPr lang="ru-RU" dirty="0"/>
              <a:t> осуществляет свою власть как непосредственно, так и через органы государственной власти и органы местного самоуправления.  и характеризуется возможностью граждан принимать непосредственное участие в политической жизни государства, например,  – прямо избирать Президента РФ и депутатов всех законодательных (представительных) органов России;  – право внесение определённым количеством граждан в орган власти проекта нормативного правового акта;  – право на собрания (сходы) граждан;  – право митинги, шествия, демонстрации и пикетирования;  – право на индивидуальные и коллективные обращения в органы государственной власти и органы местного самоуправления и т.д.</a:t>
            </a:r>
          </a:p>
        </p:txBody>
      </p:sp>
    </p:spTree>
    <p:extLst>
      <p:ext uri="{BB962C8B-B14F-4D97-AF65-F5344CB8AC3E}">
        <p14:creationId xmlns:p14="http://schemas.microsoft.com/office/powerpoint/2010/main" val="2488604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DB4E7C-E8EF-0099-DAFA-CBCC26C6B38D}"/>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53D9CDB0-0670-A7A9-8821-83A73A96500C}"/>
              </a:ext>
            </a:extLst>
          </p:cNvPr>
          <p:cNvSpPr>
            <a:spLocks noGrp="1"/>
          </p:cNvSpPr>
          <p:nvPr>
            <p:ph idx="1"/>
          </p:nvPr>
        </p:nvSpPr>
        <p:spPr/>
        <p:txBody>
          <a:bodyPr>
            <a:normAutofit fontScale="77500" lnSpcReduction="20000"/>
          </a:bodyPr>
          <a:lstStyle/>
          <a:p>
            <a:r>
              <a:rPr lang="ru-RU" dirty="0"/>
              <a:t>Вот текст, извлечённый с </a:t>
            </a:r>
            <a:r>
              <a:rPr lang="ru-RU" dirty="0" err="1"/>
              <a:t>изображения:Согласно</a:t>
            </a:r>
            <a:r>
              <a:rPr lang="ru-RU" dirty="0"/>
              <a:t> ст. 3 Конституции РФ высшим непосредственным выражением власти народа являются референдум и свободные выборы.**Референдум Российской Федерации** – всенародное голосование граждан России по вопросам государственного </a:t>
            </a:r>
            <a:r>
              <a:rPr lang="ru-RU" dirty="0" err="1"/>
              <a:t>значения.Решения</a:t>
            </a:r>
            <a:r>
              <a:rPr lang="ru-RU" dirty="0"/>
              <a:t>, принятые Всероссийским референдумом, обладают высшей юридической силой, в каком-либо утверждении не нуждаются и обязательны для применения на всей территории </a:t>
            </a:r>
            <a:r>
              <a:rPr lang="ru-RU" dirty="0" err="1"/>
              <a:t>РФ.Право</a:t>
            </a:r>
            <a:r>
              <a:rPr lang="ru-RU" dirty="0"/>
              <a:t> каждого гражданина РФ участвовать в референдуме закреплено ст. 32 Конституции </a:t>
            </a:r>
            <a:r>
              <a:rPr lang="ru-RU" dirty="0" err="1"/>
              <a:t>РФ.Согласно</a:t>
            </a:r>
            <a:r>
              <a:rPr lang="ru-RU" dirty="0"/>
              <a:t> ст. 84 Конституции РФ Президент РФ назначает референдум в порядке, установленном федеральным конституционным законом. Возведение правового регулирования проведения референдумов на уровень конституционного федерального закона подчеркивает значимость этого института непосредственно </a:t>
            </a:r>
            <a:r>
              <a:rPr lang="ru-RU" dirty="0" err="1"/>
              <a:t>демократии.В</a:t>
            </a:r>
            <a:r>
              <a:rPr lang="ru-RU" dirty="0"/>
              <a:t> настоящее время действует федеральный конституционный закон «О референдуме» от 28 июня 2004 г. В законе установлено, что референдум проводится на всей территории России на основе всеобщего равного и прямого волеизъявления при тайном голосовании.</a:t>
            </a:r>
          </a:p>
        </p:txBody>
      </p:sp>
    </p:spTree>
    <p:extLst>
      <p:ext uri="{BB962C8B-B14F-4D97-AF65-F5344CB8AC3E}">
        <p14:creationId xmlns:p14="http://schemas.microsoft.com/office/powerpoint/2010/main" val="2315090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1C1133-E044-03D1-6026-0148AE6DB519}"/>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C69646A-859B-81EF-5BD3-0C7B13EA5096}"/>
              </a:ext>
            </a:extLst>
          </p:cNvPr>
          <p:cNvSpPr>
            <a:spLocks noGrp="1"/>
          </p:cNvSpPr>
          <p:nvPr>
            <p:ph idx="1"/>
          </p:nvPr>
        </p:nvSpPr>
        <p:spPr/>
        <p:txBody>
          <a:bodyPr>
            <a:normAutofit fontScale="70000" lnSpcReduction="20000"/>
          </a:bodyPr>
          <a:lstStyle/>
          <a:p>
            <a:r>
              <a:rPr lang="ru-RU" dirty="0"/>
              <a:t>Вот текст, извлечённый с </a:t>
            </a:r>
            <a:r>
              <a:rPr lang="ru-RU" dirty="0" err="1"/>
              <a:t>изображения:Другая</a:t>
            </a:r>
            <a:r>
              <a:rPr lang="ru-RU" dirty="0"/>
              <a:t> форма непосредственного волеизъявления народа — свободные выборы. Выборы — участие граждан в формировании органов государственной власти и местного самоуправления путем тайного голосования. Они имеют смысл тогда, когда являются свободными, представляют гражданам возможность выбирать одного из нескольких кандидатов, а их результаты не фальсифицируются. Периодичные выборы — важная основа конституционного строя и высшей легитимности </a:t>
            </a:r>
            <a:r>
              <a:rPr lang="ru-RU" dirty="0" err="1"/>
              <a:t>власти.Избирательная</a:t>
            </a:r>
            <a:r>
              <a:rPr lang="ru-RU" dirty="0"/>
              <a:t> система — система, определяющая порядок выборов в представительные органы власти. Это институт представительной демократии, то есть решения и законы принимаются избранными населением </a:t>
            </a:r>
            <a:r>
              <a:rPr lang="ru-RU" dirty="0" err="1"/>
              <a:t>представителями.Существуют</a:t>
            </a:r>
            <a:r>
              <a:rPr lang="ru-RU" dirty="0"/>
              <a:t> два основных типа избирательных систем: пропорциональная и </a:t>
            </a:r>
            <a:r>
              <a:rPr lang="ru-RU" dirty="0" err="1"/>
              <a:t>мажоритарная.При</a:t>
            </a:r>
            <a:r>
              <a:rPr lang="ru-RU" dirty="0"/>
              <a:t> пропорциональной системе каждая политическая партия составляет и публикует свой список кандидатов в члены парламента, а в избирательный бюллетень заносится наименование партии, и избиратель голосует за партию, а не за конкретного кандидата. И затем депутатские мандаты распределяются пропорционально числу (проценту) полученных партией </a:t>
            </a:r>
            <a:r>
              <a:rPr lang="ru-RU" dirty="0" err="1"/>
              <a:t>голосов.При</a:t>
            </a:r>
            <a:r>
              <a:rPr lang="ru-RU" dirty="0"/>
              <a:t> мажоритарной системе кандидаты от партий выдвигаются персонально по избирательным округам. В парламент считается избранным тот кандидат, который получил абсолютное большинство голосов избирателей — 50 % плюс один голос из числа </a:t>
            </a:r>
            <a:r>
              <a:rPr lang="ru-RU" dirty="0" err="1"/>
              <a:t>голосовавших.В</a:t>
            </a:r>
            <a:endParaRPr lang="ru-RU" dirty="0"/>
          </a:p>
        </p:txBody>
      </p:sp>
    </p:spTree>
    <p:extLst>
      <p:ext uri="{BB962C8B-B14F-4D97-AF65-F5344CB8AC3E}">
        <p14:creationId xmlns:p14="http://schemas.microsoft.com/office/powerpoint/2010/main" val="1091570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6E6990-F8A7-FBDB-E241-4D007CDD3036}"/>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18091EB-587C-9E91-8B29-8041749D3DB9}"/>
              </a:ext>
            </a:extLst>
          </p:cNvPr>
          <p:cNvSpPr>
            <a:spLocks noGrp="1"/>
          </p:cNvSpPr>
          <p:nvPr>
            <p:ph idx="1"/>
          </p:nvPr>
        </p:nvSpPr>
        <p:spPr/>
        <p:txBody>
          <a:bodyPr>
            <a:normAutofit fontScale="70000" lnSpcReduction="20000"/>
          </a:bodyPr>
          <a:lstStyle/>
          <a:p>
            <a:r>
              <a:rPr lang="ru-RU" dirty="0"/>
              <a:t>Вот текст, извлечённый с </a:t>
            </a:r>
            <a:r>
              <a:rPr lang="ru-RU" dirty="0" err="1"/>
              <a:t>изображения:В</a:t>
            </a:r>
            <a:r>
              <a:rPr lang="ru-RU" dirty="0"/>
              <a:t> пунктах 3-5 статьи 13 Конституции РФ закреплен принцип политического многообразия и многопартийности, который также является определяющим в политической жизни общества и государства. Более детально порядок функционирования политических партий закреплен в Федеральном законе от 11 июня 2001 года «О политических партиях» (с изменениями и дополнениями).По данным на январь 2025 г. в России было зарегистрировано 25 политических партий. Однако 15.01.2025 г. Верховный суд РФ решил ликвидировать партию «Гражданская сила» в связи с неучастием этой партии в выборах в течение семи лет подряд, но на данный момент это решение не вступило в законную силу. 04.02.2025 г. была ликвидирована и исключена из единого государственного реестра юридических лиц «Партия дела» в связи с вступлением в законную силу вердикта Верховного суда РФ по ликвидации этой партии. Это решение было принято в связи с тем, что партия не устранила нарушения, которые были выявлены при проверке её деятельности, в том числе было выявлено несоответствие устава партии действующему </a:t>
            </a:r>
            <a:r>
              <a:rPr lang="ru-RU" dirty="0" err="1"/>
              <a:t>законодательству.После</a:t>
            </a:r>
            <a:r>
              <a:rPr lang="ru-RU" dirty="0"/>
              <a:t> этих решений Верховного суда РФ в России по состоянию на 01.09.2025 г. остаются зарегистрированными 23 партии и все они в соответствии с ФЗ «О политических партиях» от 11 июля 2001 г. № 95-ФЗ имеют право принимать участие в выборах в Государственную Думу ФС.</a:t>
            </a:r>
          </a:p>
        </p:txBody>
      </p:sp>
    </p:spTree>
    <p:extLst>
      <p:ext uri="{BB962C8B-B14F-4D97-AF65-F5344CB8AC3E}">
        <p14:creationId xmlns:p14="http://schemas.microsoft.com/office/powerpoint/2010/main" val="585029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0F61EE-C91D-8FDD-FE0D-A416E79D9046}"/>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8020826D-3E89-855B-CB70-C887AEDB25A6}"/>
              </a:ext>
            </a:extLst>
          </p:cNvPr>
          <p:cNvSpPr>
            <a:spLocks noGrp="1"/>
          </p:cNvSpPr>
          <p:nvPr>
            <p:ph idx="1"/>
          </p:nvPr>
        </p:nvSpPr>
        <p:spPr/>
        <p:txBody>
          <a:bodyPr>
            <a:normAutofit fontScale="62500" lnSpcReduction="20000"/>
          </a:bodyPr>
          <a:lstStyle/>
          <a:p>
            <a:r>
              <a:rPr lang="ru-RU" dirty="0"/>
              <a:t>Вот текст, извлечённый с </a:t>
            </a:r>
            <a:r>
              <a:rPr lang="ru-RU" dirty="0" err="1"/>
              <a:t>изображения:Всего</a:t>
            </a:r>
            <a:r>
              <a:rPr lang="ru-RU" dirty="0"/>
              <a:t> в ГД ФС 450 депутатов, из которых 225 избираются по одномандатным избирательным округам, остальные 225 – по федеральному избирательному округу пропорционально числу голосов избирателей, поданных за федеральные списки кандидатов. Срок их полномочий 5 </a:t>
            </a:r>
            <a:r>
              <a:rPr lang="ru-RU" dirty="0" err="1"/>
              <a:t>лет.По</a:t>
            </a:r>
            <a:r>
              <a:rPr lang="ru-RU" dirty="0"/>
              <a:t> итогам выборов 17-19 сентября 2021 г. в ГД ФС 8-го созыва (2021–2026) в ГД ФС прошли 5 политических партий: «Единая Россия» (председатель – Д. А. Медведев, 324 места), Коммунистическая партия Российской Федерации (КПРФ) (Г.А. Зюганов, 57 мест), Либерально-демократическая партия России (ЛДПР) (Л. Э. Слуцкий, во время выборов был В. В. Жириновский, 23 места по состоянию на январь 2023), «Справедливая Россия – Патриоты – За правду» (С. М. Миронов, 28 мест по состоянию на январь 2023), «Новые люди» (А. Г. Нечаев, 15 мест по состоянию на январь 2023). Лидер партии «Гражданская платформа» Р. Г. Шайхутдинов, будучи депутатом Государственной думы, входит во фракцию </a:t>
            </a:r>
            <a:r>
              <a:rPr lang="ru-RU" dirty="0" err="1"/>
              <a:t>ЛДПР.Одним</a:t>
            </a:r>
            <a:r>
              <a:rPr lang="ru-RU" dirty="0"/>
              <a:t> из основополагающих принципов демократической организации государства является принцип разделения властей. В самом общем виде этот принцип закреплен в ст. 10 Конституции РФ. Его сущность сводится к тому, что для обеспечения демократии государственная власть разделяется на три ветви: исполнительную, законодательную и судебную, независимые друг от друга и находящиеся во взаимном равновесии, когда ни одна ветвь не может получить преобладания над другими. Важной особенностью Российской Конституции является то, что Президент РФ как глава государства не входит ни в одну из ветвей власти.</a:t>
            </a:r>
          </a:p>
        </p:txBody>
      </p:sp>
    </p:spTree>
    <p:extLst>
      <p:ext uri="{BB962C8B-B14F-4D97-AF65-F5344CB8AC3E}">
        <p14:creationId xmlns:p14="http://schemas.microsoft.com/office/powerpoint/2010/main" val="34611296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8383F6-C6C3-D0CF-381B-EC74B1A14726}"/>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1AFA9B3C-D073-3EF1-7D99-F6247D4B531C}"/>
              </a:ext>
            </a:extLst>
          </p:cNvPr>
          <p:cNvSpPr>
            <a:spLocks noGrp="1"/>
          </p:cNvSpPr>
          <p:nvPr>
            <p:ph idx="1"/>
          </p:nvPr>
        </p:nvSpPr>
        <p:spPr/>
        <p:txBody>
          <a:bodyPr>
            <a:normAutofit fontScale="70000" lnSpcReduction="20000"/>
          </a:bodyPr>
          <a:lstStyle/>
          <a:p>
            <a:r>
              <a:rPr lang="ru-RU" dirty="0"/>
              <a:t>Вот текст, извлечённый с </a:t>
            </a:r>
            <a:r>
              <a:rPr lang="ru-RU" dirty="0" err="1"/>
              <a:t>изображения:Конституционным</a:t>
            </a:r>
            <a:r>
              <a:rPr lang="ru-RU" dirty="0"/>
              <a:t> большинством в ГД ФС обладает «партия </a:t>
            </a:r>
            <a:r>
              <a:rPr lang="ru-RU" dirty="0" err="1"/>
              <a:t>власти»«Единая</a:t>
            </a:r>
            <a:r>
              <a:rPr lang="ru-RU" dirty="0"/>
              <a:t> Россия». Нынешний созыв ГД ФС примечателен тем, что по </a:t>
            </a:r>
            <a:r>
              <a:rPr lang="ru-RU" dirty="0" err="1"/>
              <a:t>сравнениюс</a:t>
            </a:r>
            <a:r>
              <a:rPr lang="ru-RU" dirty="0"/>
              <a:t> тремя предыдущими созывами – седьмым (2016–2021), шестым (2012–2016) </a:t>
            </a:r>
            <a:r>
              <a:rPr lang="ru-RU" dirty="0" err="1"/>
              <a:t>ипятым</a:t>
            </a:r>
            <a:r>
              <a:rPr lang="ru-RU" dirty="0"/>
              <a:t> (2007–2011) – когда в ГД ФС было представлено четыре партии («</a:t>
            </a:r>
            <a:r>
              <a:rPr lang="ru-RU" dirty="0" err="1"/>
              <a:t>ЕдинаяРоссия</a:t>
            </a:r>
            <a:r>
              <a:rPr lang="ru-RU" dirty="0"/>
              <a:t>», КПРФ, ЛДПР и «Справедливая Россия»), в состав новой Думы </a:t>
            </a:r>
            <a:r>
              <a:rPr lang="ru-RU" dirty="0" err="1"/>
              <a:t>вошлаоснованная</a:t>
            </a:r>
            <a:r>
              <a:rPr lang="ru-RU" dirty="0"/>
              <a:t> в 2020 г. партия «Новые </a:t>
            </a:r>
            <a:r>
              <a:rPr lang="ru-RU" dirty="0" err="1"/>
              <a:t>люди».Электоральный</a:t>
            </a:r>
            <a:r>
              <a:rPr lang="ru-RU" dirty="0"/>
              <a:t> потенциал ряда малых партий («Яблоко», «</a:t>
            </a:r>
            <a:r>
              <a:rPr lang="ru-RU" dirty="0" err="1"/>
              <a:t>Российскаяпартия</a:t>
            </a:r>
            <a:r>
              <a:rPr lang="ru-RU" dirty="0"/>
              <a:t> пенсионеров за социальную справедливость», «Коммунисты </a:t>
            </a:r>
            <a:r>
              <a:rPr lang="ru-RU" dirty="0" err="1"/>
              <a:t>России»,партия</a:t>
            </a:r>
            <a:r>
              <a:rPr lang="ru-RU" dirty="0"/>
              <a:t> «Родина», «Российская экологическая партия «Зелёные», «Партия </a:t>
            </a:r>
            <a:r>
              <a:rPr lang="ru-RU" dirty="0" err="1"/>
              <a:t>прямойдемократии</a:t>
            </a:r>
            <a:r>
              <a:rPr lang="ru-RU" dirty="0"/>
              <a:t>», «Российская партия свободы и справедливости») недостаточен </a:t>
            </a:r>
            <a:r>
              <a:rPr lang="ru-RU" dirty="0" err="1"/>
              <a:t>дляпреодоления</a:t>
            </a:r>
            <a:r>
              <a:rPr lang="ru-RU" dirty="0"/>
              <a:t> 5%-</a:t>
            </a:r>
            <a:r>
              <a:rPr lang="ru-RU" dirty="0" err="1"/>
              <a:t>ного</a:t>
            </a:r>
            <a:r>
              <a:rPr lang="ru-RU" dirty="0"/>
              <a:t> барьера, необходимого для получения мандата в ГД </a:t>
            </a:r>
            <a:r>
              <a:rPr lang="ru-RU" dirty="0" err="1"/>
              <a:t>ФС.Однако</a:t>
            </a:r>
            <a:r>
              <a:rPr lang="ru-RU" dirty="0"/>
              <a:t> представители этих партий смогли избраться в </a:t>
            </a:r>
            <a:r>
              <a:rPr lang="ru-RU" dirty="0" err="1"/>
              <a:t>региональныезаконодательные</a:t>
            </a:r>
            <a:r>
              <a:rPr lang="ru-RU" dirty="0"/>
              <a:t> (представительные) органы государственной власти </a:t>
            </a:r>
            <a:r>
              <a:rPr lang="ru-RU" dirty="0" err="1"/>
              <a:t>ипредставительные</a:t>
            </a:r>
            <a:r>
              <a:rPr lang="ru-RU" dirty="0"/>
              <a:t> органы муниципальных образований </a:t>
            </a:r>
            <a:r>
              <a:rPr lang="ru-RU" dirty="0" err="1"/>
              <a:t>административныхцентров</a:t>
            </a:r>
            <a:r>
              <a:rPr lang="ru-RU" dirty="0"/>
              <a:t> (столиц) регионов (по состоянию на январь 2023).К одной из основ конституционного строя относится признание человека, </a:t>
            </a:r>
            <a:r>
              <a:rPr lang="ru-RU" dirty="0" err="1"/>
              <a:t>егоправ</a:t>
            </a:r>
            <a:r>
              <a:rPr lang="ru-RU" dirty="0"/>
              <a:t> и свобод высшей ценностью. Признание, соблюдение и защита прав </a:t>
            </a:r>
            <a:r>
              <a:rPr lang="ru-RU" dirty="0" err="1"/>
              <a:t>исвобод</a:t>
            </a:r>
            <a:r>
              <a:rPr lang="ru-RU" dirty="0"/>
              <a:t> человека и гражданина – обязанность государства (ст. 2 </a:t>
            </a:r>
            <a:r>
              <a:rPr lang="ru-RU" dirty="0" err="1"/>
              <a:t>КонституцииРФ</a:t>
            </a:r>
            <a:r>
              <a:rPr lang="ru-RU" dirty="0"/>
              <a:t>). Но об этом мы поговорим в 3 учебном вопросе </a:t>
            </a:r>
            <a:r>
              <a:rPr lang="ru-RU" dirty="0" err="1"/>
              <a:t>лекции.Таким</a:t>
            </a:r>
            <a:r>
              <a:rPr lang="ru-RU" dirty="0"/>
              <a:t> образом, **в настоящее время в России </a:t>
            </a:r>
            <a:r>
              <a:rPr lang="ru-RU" dirty="0" err="1"/>
              <a:t>существуетдемократический</a:t>
            </a:r>
            <a:r>
              <a:rPr lang="ru-RU" dirty="0"/>
              <a:t> политико-правовой режим правления </a:t>
            </a:r>
            <a:r>
              <a:rPr lang="ru-RU" dirty="0" err="1"/>
              <a:t>сэлементами</a:t>
            </a:r>
            <a:r>
              <a:rPr lang="ru-RU" dirty="0"/>
              <a:t> гуманизма.**</a:t>
            </a:r>
          </a:p>
        </p:txBody>
      </p:sp>
    </p:spTree>
    <p:extLst>
      <p:ext uri="{BB962C8B-B14F-4D97-AF65-F5344CB8AC3E}">
        <p14:creationId xmlns:p14="http://schemas.microsoft.com/office/powerpoint/2010/main" val="3182731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826A76-E125-7B79-9308-77BD79D8E5E5}"/>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991CC82F-60CA-41A5-3E53-5D13E831B14B}"/>
              </a:ext>
            </a:extLst>
          </p:cNvPr>
          <p:cNvSpPr>
            <a:spLocks noGrp="1"/>
          </p:cNvSpPr>
          <p:nvPr>
            <p:ph idx="1"/>
          </p:nvPr>
        </p:nvSpPr>
        <p:spPr/>
        <p:txBody>
          <a:bodyPr>
            <a:normAutofit fontScale="70000" lnSpcReduction="20000"/>
          </a:bodyPr>
          <a:lstStyle/>
          <a:p>
            <a:r>
              <a:rPr lang="ru-RU" dirty="0"/>
              <a:t>Вот текст, извлечённый с </a:t>
            </a:r>
            <a:r>
              <a:rPr lang="ru-RU" dirty="0" err="1"/>
              <a:t>изображения:Таким</a:t>
            </a:r>
            <a:r>
              <a:rPr lang="ru-RU" dirty="0"/>
              <a:t> образом, можно сделать вывод, что экономику в России правомерно обозначить как государственно-олигархический капитализм постиндустриального </a:t>
            </a:r>
            <a:r>
              <a:rPr lang="ru-RU" dirty="0" err="1"/>
              <a:t>типа.Для</a:t>
            </a:r>
            <a:r>
              <a:rPr lang="ru-RU" dirty="0"/>
              <a:t> такого типа экономики характерны такие черты как:1. Концентрация производства в руках небольшого количества капиталистов и образование </a:t>
            </a:r>
            <a:r>
              <a:rPr lang="ru-RU" dirty="0" err="1"/>
              <a:t>монополий.Примером</a:t>
            </a:r>
            <a:r>
              <a:rPr lang="ru-RU" dirty="0"/>
              <a:t> концентрации производства в руках небольшого количества капиталистов и образования монополий в сегодняшней России можно привести много. Вот, например, данные за второе десятилетие XX </a:t>
            </a:r>
            <a:r>
              <a:rPr lang="ru-RU" dirty="0" err="1"/>
              <a:t>века:Такие</a:t>
            </a:r>
            <a:r>
              <a:rPr lang="ru-RU" dirty="0"/>
              <a:t> «Транснациональные корпорации» (ТНК) и «Транснациональные банки» (ТНБ) – эти международные монополистические союзы капиталистов тоже хорошо известны всем, напомнив только некоторые из них, глубоко «запустившие свои руки» в экономику России: «British Petroleum» («Великая Банка»), «Nestle», («Дженерал моторс») и др. Мобил», «Total S.A.», «Siemens», («Deutsche Bank»), («Nestle»), («</a:t>
            </a:r>
            <a:r>
              <a:rPr lang="ru-RU" dirty="0" err="1"/>
              <a:t>Дженегал</a:t>
            </a:r>
            <a:r>
              <a:rPr lang="ru-RU" dirty="0"/>
              <a:t> моторс») и </a:t>
            </a:r>
            <a:r>
              <a:rPr lang="ru-RU" dirty="0" err="1"/>
              <a:t>др.Транснациональные</a:t>
            </a:r>
            <a:r>
              <a:rPr lang="ru-RU" dirty="0"/>
              <a:t> корпорации контролируют более 50% мирового промышленного производства. На их долю приходится более 60% международной торговли. Самые крупные ТНК имеют бюджет, превышающий бюджет некоторых стран. Они оказывают большое влияние в регионах, так как имеют обширные финансовые ресурсы, связи с общественностью, политическое лобби и контроль над промышленностью.</a:t>
            </a:r>
          </a:p>
        </p:txBody>
      </p:sp>
    </p:spTree>
    <p:extLst>
      <p:ext uri="{BB962C8B-B14F-4D97-AF65-F5344CB8AC3E}">
        <p14:creationId xmlns:p14="http://schemas.microsoft.com/office/powerpoint/2010/main" val="743671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6C2F58-4B7E-2C11-3973-895C1EF5F4ED}"/>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64965BEC-34D5-8CCB-EA8D-3E4D000292E7}"/>
              </a:ext>
            </a:extLst>
          </p:cNvPr>
          <p:cNvSpPr>
            <a:spLocks noGrp="1"/>
          </p:cNvSpPr>
          <p:nvPr>
            <p:ph idx="1"/>
          </p:nvPr>
        </p:nvSpPr>
        <p:spPr/>
        <p:txBody>
          <a:bodyPr>
            <a:normAutofit fontScale="62500" lnSpcReduction="20000"/>
          </a:bodyPr>
          <a:lstStyle/>
          <a:p>
            <a:r>
              <a:rPr lang="ru-RU" dirty="0"/>
              <a:t>Вот текст, извлечённый с </a:t>
            </a:r>
            <a:r>
              <a:rPr lang="ru-RU" dirty="0" err="1"/>
              <a:t>изображения:Компания</a:t>
            </a:r>
            <a:r>
              <a:rPr lang="ru-RU" dirty="0"/>
              <a:t> «Ямал СПГ» — российская газодобывающая компания, создана с целью участия в проекте по освоению Южно-</a:t>
            </a:r>
            <a:r>
              <a:rPr lang="ru-RU" dirty="0" err="1"/>
              <a:t>Тамбейского</a:t>
            </a:r>
            <a:r>
              <a:rPr lang="ru-RU" dirty="0"/>
              <a:t> газоконденсатного месторождения, включая строительство завода по сжижению природного газа. Доли в компании «Ямал СПГ»: компания «Новатэк» имеет 60% акций, дочернее общество Китайской национальной нефтегазовой корпорации (CNPC) компания CNODC имеет 20%, французская нефтегазовая компания, четвертая по объёму добычи в мире после Royal Dutch Shell, BP и Exxon Mobil, 6-е место в списке мировых монополий Fortune Global 500 Total S.A. имеет 20% </a:t>
            </a:r>
            <a:r>
              <a:rPr lang="ru-RU" dirty="0" err="1"/>
              <a:t>акций.Не</a:t>
            </a:r>
            <a:r>
              <a:rPr lang="ru-RU" dirty="0"/>
              <a:t> менее интересен и состав собственников компании «Новатэк» на декабрь 2012 г.: ZAO </a:t>
            </a:r>
            <a:r>
              <a:rPr lang="ru-RU" dirty="0" err="1"/>
              <a:t>Depositary</a:t>
            </a:r>
            <a:r>
              <a:rPr lang="ru-RU" dirty="0"/>
              <a:t> </a:t>
            </a:r>
            <a:r>
              <a:rPr lang="ru-RU" dirty="0" err="1"/>
              <a:t>and</a:t>
            </a:r>
            <a:r>
              <a:rPr lang="ru-RU" dirty="0"/>
              <a:t> </a:t>
            </a:r>
            <a:r>
              <a:rPr lang="ru-RU" dirty="0" err="1"/>
              <a:t>Clearing</a:t>
            </a:r>
            <a:r>
              <a:rPr lang="ru-RU" dirty="0"/>
              <a:t> Company — 45,79%, ООО «Deutsche Bank» — 29,98%, ОАО «Газпромбанк» — 9,99%, ООО «Левит» (78% принадлежат Леониду Михельсону, Председателю Правления ОАО «Новатэк») — 7,32%.Основные держатели акций компании «Новатэк»: Леонид Михельсон — 24,76%, Геннадий Тимченко — 23,46%, «TOTAL S.A.» — 15,16% (в 2014 году увеличила свою долю до 18,2%), а ОАО «Газпром» — только 9,99%.В декабре 2015 г. 9,9% «Новатэк» купил китайский Фонд Шелкового пути (по сути, банки КНР).То есть практически в каждой более-менее крупной компании России, не исключая государственные, т.е. в которых имеется некоторая доля участия российского государства, например, из того же «Газпрома», торчат уши Deutsche Bank и иных крупнейших банков, и мировых ТНК.В России ПАО «Газпром» является, безусловно, единственным монополистом всей газовой </a:t>
            </a:r>
            <a:r>
              <a:rPr lang="ru-RU" dirty="0" err="1"/>
              <a:t>отрасли.Торговые</a:t>
            </a:r>
            <a:r>
              <a:rPr lang="ru-RU" dirty="0"/>
              <a:t> сети, например, такие как «Ашан», «Окей», «Магнит», «Пятерочка», «Лента», «</a:t>
            </a:r>
            <a:r>
              <a:rPr lang="ru-RU" dirty="0" err="1"/>
              <a:t>Икея</a:t>
            </a:r>
            <a:r>
              <a:rPr lang="ru-RU" dirty="0"/>
              <a:t>», «Леруа Мерлен» и т.д., фактически поделили всю торговую сферу в России.</a:t>
            </a:r>
          </a:p>
        </p:txBody>
      </p:sp>
    </p:spTree>
    <p:extLst>
      <p:ext uri="{BB962C8B-B14F-4D97-AF65-F5344CB8AC3E}">
        <p14:creationId xmlns:p14="http://schemas.microsoft.com/office/powerpoint/2010/main" val="3119870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2BFD30-15AB-486C-F4A2-666597E9B4BD}"/>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8D45F12-7E67-E182-645F-4456ADE649E3}"/>
              </a:ext>
            </a:extLst>
          </p:cNvPr>
          <p:cNvSpPr>
            <a:spLocks noGrp="1"/>
          </p:cNvSpPr>
          <p:nvPr>
            <p:ph idx="1"/>
          </p:nvPr>
        </p:nvSpPr>
        <p:spPr/>
        <p:txBody>
          <a:bodyPr>
            <a:normAutofit fontScale="77500" lnSpcReduction="20000"/>
          </a:bodyPr>
          <a:lstStyle/>
          <a:p>
            <a:r>
              <a:rPr lang="ru-RU" dirty="0"/>
              <a:t>Вот текст, извлечённый с </a:t>
            </a:r>
            <a:r>
              <a:rPr lang="ru-RU" dirty="0" err="1"/>
              <a:t>изображения:Можно</a:t>
            </a:r>
            <a:r>
              <a:rPr lang="ru-RU" dirty="0"/>
              <a:t> ещё добавить такие признаки государственно-монополистического капитализма в России, как:5. Зависимость цен на энергоносители;6. Наукоёмкие технологии ещё развиты недостаточно;7. Всё ещё наличествует зависимость от импортных технологий;8. Возрастает роль информации;9. Растёт процент граждан, которые получают высшее экономическое или юридическое образование, а не инженерно-техническое и </a:t>
            </a:r>
            <a:r>
              <a:rPr lang="ru-RU" dirty="0" err="1"/>
              <a:t>т.п.То</a:t>
            </a:r>
            <a:r>
              <a:rPr lang="ru-RU" dirty="0"/>
              <a:t> есть система производства полностью находится у частного </a:t>
            </a:r>
            <a:r>
              <a:rPr lang="ru-RU" dirty="0" err="1"/>
              <a:t>крутного</a:t>
            </a:r>
            <a:r>
              <a:rPr lang="ru-RU" dirty="0"/>
              <a:t> капитала. Малый бизнес, в основном, занимает такие направления, только как торговля и оказание </a:t>
            </a:r>
            <a:r>
              <a:rPr lang="ru-RU" dirty="0" err="1"/>
              <a:t>услуг.Несмотря</a:t>
            </a:r>
            <a:r>
              <a:rPr lang="ru-RU" dirty="0"/>
              <a:t> на то, что сегодня проводится политика импортозамещения, которая предполагает помощь малому бизнесу, например, в области сельского хозяйства и продовольственного производства, крупные корпорации, в первую очередь нефтегазовый сектор, как Лукойл, Газпром и иные, наиболее значительно влияют на </a:t>
            </a:r>
            <a:r>
              <a:rPr lang="ru-RU" dirty="0" err="1"/>
              <a:t>экономику.Таким</a:t>
            </a:r>
            <a:r>
              <a:rPr lang="ru-RU" dirty="0"/>
              <a:t> образом, экономическую составляющую конституционного строя современной России следует назвать государственно-монополистический капитализм в стадии империализма.</a:t>
            </a:r>
          </a:p>
        </p:txBody>
      </p:sp>
    </p:spTree>
    <p:extLst>
      <p:ext uri="{BB962C8B-B14F-4D97-AF65-F5344CB8AC3E}">
        <p14:creationId xmlns:p14="http://schemas.microsoft.com/office/powerpoint/2010/main" val="3076106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853E01-8F76-B5BC-303A-6FB4135086F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70255D7D-334F-9BAC-055C-057968607B6F}"/>
              </a:ext>
            </a:extLst>
          </p:cNvPr>
          <p:cNvSpPr>
            <a:spLocks noGrp="1"/>
          </p:cNvSpPr>
          <p:nvPr>
            <p:ph idx="1"/>
          </p:nvPr>
        </p:nvSpPr>
        <p:spPr/>
        <p:txBody>
          <a:bodyPr>
            <a:normAutofit fontScale="77500" lnSpcReduction="20000"/>
          </a:bodyPr>
          <a:lstStyle/>
          <a:p>
            <a:r>
              <a:rPr lang="ru-RU" dirty="0"/>
              <a:t>Вот текст, извлечённый с изображения:### 3. Правовой статус Президента РФ как гаранта Конституции РФ, прав и свобод человека и </a:t>
            </a:r>
            <a:r>
              <a:rPr lang="ru-RU" dirty="0" err="1"/>
              <a:t>гражданинаОсобое</a:t>
            </a:r>
            <a:r>
              <a:rPr lang="ru-RU" dirty="0"/>
              <a:t> место в системе органов государственной власти занимает правовой институт Президента РФ, который занимает первое место среди федеральных государственных органов. В организационном отношении он самостоятелен и не включен ни в законодательную, ни в судебную </a:t>
            </a:r>
            <a:r>
              <a:rPr lang="ru-RU" dirty="0" err="1"/>
              <a:t>власть.Правовой</a:t>
            </a:r>
            <a:r>
              <a:rPr lang="ru-RU" dirty="0"/>
              <a:t> статус: Президент России – единственная должность, на которую избирается один из кандидатов общим голосованием граждан </a:t>
            </a:r>
            <a:r>
              <a:rPr lang="ru-RU" dirty="0" err="1"/>
              <a:t>России.Правовой</a:t>
            </a:r>
            <a:r>
              <a:rPr lang="ru-RU" dirty="0"/>
              <a:t> статус президента России закреплён в статьях 11, 78, 80-93, 107-109, 111-117, 125, 128 и 134 Конституции </a:t>
            </a:r>
            <a:r>
              <a:rPr lang="ru-RU" dirty="0" err="1"/>
              <a:t>РФ.Президент</a:t>
            </a:r>
            <a:r>
              <a:rPr lang="ru-RU" dirty="0"/>
              <a:t> РФ является Главой государства, Верховным Главнокомандующим Вооруженными Силами РФ, возглавляет Совет Безопасности РФ, определяет военную доктрину государства, является гарантом Конституции РФ и определяет основные направления внутренней и внешней политики </a:t>
            </a:r>
            <a:r>
              <a:rPr lang="ru-RU" dirty="0" err="1"/>
              <a:t>России.Официальной</a:t>
            </a:r>
            <a:r>
              <a:rPr lang="ru-RU" dirty="0"/>
              <a:t> резиденцией Президента РФ является Московский </a:t>
            </a:r>
            <a:r>
              <a:rPr lang="ru-RU" dirty="0" err="1"/>
              <a:t>Кремль.Президент</a:t>
            </a:r>
            <a:r>
              <a:rPr lang="ru-RU" dirty="0"/>
              <a:t> РФ имеет штандарт (флаг) Президента РФ как один из символов его власти.</a:t>
            </a:r>
          </a:p>
        </p:txBody>
      </p:sp>
    </p:spTree>
    <p:extLst>
      <p:ext uri="{BB962C8B-B14F-4D97-AF65-F5344CB8AC3E}">
        <p14:creationId xmlns:p14="http://schemas.microsoft.com/office/powerpoint/2010/main" val="32166282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072DED-B5B6-5798-BF49-9BC6DF47E45C}"/>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DE1AEC75-1427-1E9F-F104-B753AEF3DD23}"/>
              </a:ext>
            </a:extLst>
          </p:cNvPr>
          <p:cNvSpPr>
            <a:spLocks noGrp="1"/>
          </p:cNvSpPr>
          <p:nvPr>
            <p:ph idx="1"/>
          </p:nvPr>
        </p:nvSpPr>
        <p:spPr/>
        <p:txBody>
          <a:bodyPr>
            <a:normAutofit fontScale="70000" lnSpcReduction="20000"/>
          </a:bodyPr>
          <a:lstStyle/>
          <a:p>
            <a:r>
              <a:rPr lang="ru-RU" dirty="0"/>
              <a:t>Вот текст, извлечённый с </a:t>
            </a:r>
            <a:r>
              <a:rPr lang="ru-RU" dirty="0" err="1"/>
              <a:t>изображения:Наряду</a:t>
            </a:r>
            <a:r>
              <a:rPr lang="ru-RU" dirty="0"/>
              <a:t> с полномочиями Главы государства Президент России осуществляет общее руководство правительством России, в том числе имеет право председательствовать на заседаниях и давать ему поручения. Президент также осуществляет руководство отдельными федеральными органами исполнительной </a:t>
            </a:r>
            <a:r>
              <a:rPr lang="ru-RU" dirty="0" err="1"/>
              <a:t>власти.Президент</a:t>
            </a:r>
            <a:r>
              <a:rPr lang="ru-RU" dirty="0"/>
              <a:t> России самостоятельно и в полной ответственности «определяет основные направления внутренней и внешней политики государства» (статья 80 Конституции РФ) и «руководит внешней политикой» (статья 86 Конституции РФ). Правительство же «осуществляет исполнительную власть» (статья 110 Конституции РФ), то есть, определяет оперативные направления во внутренней политике и проводит политику, определённую президентом в его </a:t>
            </a:r>
            <a:r>
              <a:rPr lang="ru-RU" dirty="0" err="1"/>
              <a:t>указах.Указы</a:t>
            </a:r>
            <a:r>
              <a:rPr lang="ru-RU" dirty="0"/>
              <a:t> и распоряжения Президента РФ обязательны для исполнения в России и являются подзаконными актами. Однако Президент РФ может отменять постановления и распоряжения Правительства </a:t>
            </a:r>
            <a:r>
              <a:rPr lang="ru-RU" dirty="0" err="1"/>
              <a:t>России.Формально</a:t>
            </a:r>
            <a:r>
              <a:rPr lang="ru-RU" dirty="0"/>
              <a:t>, Правительство – «коллективный» глава исполнительной власти. Однако, определяя своими указами направления деятельности правительства, других органов исполнительной власти, президент является «фактическим» главой исполнительной власти (это не управление текущей работой, которая характеризуется как аппаратно-управленческая деятельность).</a:t>
            </a:r>
          </a:p>
        </p:txBody>
      </p:sp>
    </p:spTree>
    <p:extLst>
      <p:ext uri="{BB962C8B-B14F-4D97-AF65-F5344CB8AC3E}">
        <p14:creationId xmlns:p14="http://schemas.microsoft.com/office/powerpoint/2010/main" val="1518874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A07D73-F716-34F5-E763-52D7FFEADF37}"/>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44FC7207-994F-958E-5A53-A20983D0552B}"/>
              </a:ext>
            </a:extLst>
          </p:cNvPr>
          <p:cNvSpPr>
            <a:spLocks noGrp="1"/>
          </p:cNvSpPr>
          <p:nvPr>
            <p:ph idx="1"/>
          </p:nvPr>
        </p:nvSpPr>
        <p:spPr/>
        <p:txBody>
          <a:bodyPr>
            <a:normAutofit fontScale="77500" lnSpcReduction="20000"/>
          </a:bodyPr>
          <a:lstStyle/>
          <a:p>
            <a:r>
              <a:rPr lang="ru-RU" dirty="0"/>
              <a:t>Вот текст, извлечённый с </a:t>
            </a:r>
            <a:r>
              <a:rPr lang="ru-RU" dirty="0" err="1"/>
              <a:t>изображения:Ввиду</a:t>
            </a:r>
            <a:r>
              <a:rPr lang="ru-RU" dirty="0"/>
              <a:t> такой </a:t>
            </a:r>
            <a:r>
              <a:rPr lang="ru-RU" dirty="0" err="1"/>
              <a:t>двухступенчатости</a:t>
            </a:r>
            <a:r>
              <a:rPr lang="ru-RU" dirty="0"/>
              <a:t> исполнительной власти </a:t>
            </a:r>
            <a:r>
              <a:rPr lang="ru-RU" dirty="0" err="1"/>
              <a:t>термин«Глава</a:t>
            </a:r>
            <a:r>
              <a:rPr lang="ru-RU" dirty="0"/>
              <a:t> исполнительной власти» в Конституции России отсутствует, так </a:t>
            </a:r>
            <a:r>
              <a:rPr lang="ru-RU" dirty="0" err="1"/>
              <a:t>каквластными</a:t>
            </a:r>
            <a:r>
              <a:rPr lang="ru-RU" dirty="0"/>
              <a:t> полномочиями обладают и Президент, и Правительство </a:t>
            </a:r>
            <a:r>
              <a:rPr lang="ru-RU" dirty="0" err="1"/>
              <a:t>РФ.«На</a:t>
            </a:r>
            <a:r>
              <a:rPr lang="ru-RU" dirty="0"/>
              <a:t> основании и во исполнение Конституции РФ, </a:t>
            </a:r>
            <a:r>
              <a:rPr lang="ru-RU" dirty="0" err="1"/>
              <a:t>законов,нормативных</a:t>
            </a:r>
            <a:r>
              <a:rPr lang="ru-RU" dirty="0"/>
              <a:t> указов Президента РФ, Правительство РФ </a:t>
            </a:r>
            <a:r>
              <a:rPr lang="ru-RU" dirty="0" err="1"/>
              <a:t>издаётпостановления</a:t>
            </a:r>
            <a:r>
              <a:rPr lang="ru-RU" dirty="0"/>
              <a:t> и распоряжения, обеспечивает их исполнение. Если </a:t>
            </a:r>
            <a:r>
              <a:rPr lang="ru-RU" dirty="0" err="1"/>
              <a:t>актыПравительства</a:t>
            </a:r>
            <a:r>
              <a:rPr lang="ru-RU" dirty="0"/>
              <a:t> РФ противоречат Конституции РФ, федеральным </a:t>
            </a:r>
            <a:r>
              <a:rPr lang="ru-RU" dirty="0" err="1"/>
              <a:t>законамРФ</a:t>
            </a:r>
            <a:r>
              <a:rPr lang="ru-RU" dirty="0"/>
              <a:t> или указам Президента РФ, то они могут быть отменены </a:t>
            </a:r>
            <a:r>
              <a:rPr lang="ru-RU" dirty="0" err="1"/>
              <a:t>ПрезидентомРФ</a:t>
            </a:r>
            <a:r>
              <a:rPr lang="ru-RU" dirty="0"/>
              <a:t>» (ст. 115 Конституции РФ).Но согласно ст. 90, указы Президента РФ не могут </a:t>
            </a:r>
            <a:r>
              <a:rPr lang="ru-RU" dirty="0" err="1"/>
              <a:t>противоречитьфедеральным</a:t>
            </a:r>
            <a:r>
              <a:rPr lang="ru-RU" dirty="0"/>
              <a:t> законам, которые в свою очередь, согласно ст. 109, </a:t>
            </a:r>
            <a:r>
              <a:rPr lang="ru-RU" dirty="0" err="1"/>
              <a:t>послеотклонения</a:t>
            </a:r>
            <a:r>
              <a:rPr lang="ru-RU" dirty="0"/>
              <a:t> Президентом РФ, при вторичном </a:t>
            </a:r>
            <a:r>
              <a:rPr lang="ru-RU" dirty="0" err="1"/>
              <a:t>рассмотренииГосударственной</a:t>
            </a:r>
            <a:r>
              <a:rPr lang="ru-RU" dirty="0"/>
              <a:t> Думой и Советом Федерации и повторном принятии </a:t>
            </a:r>
            <a:r>
              <a:rPr lang="ru-RU" dirty="0" err="1"/>
              <a:t>егоболее</a:t>
            </a:r>
            <a:r>
              <a:rPr lang="ru-RU" dirty="0"/>
              <a:t> двумя третями голосов, подлежит подписанию им в течение 1недели.«Председатель правительства РФ в соответствии с Конституцией </a:t>
            </a:r>
            <a:r>
              <a:rPr lang="ru-RU" dirty="0" err="1"/>
              <a:t>РФ,федеральными</a:t>
            </a:r>
            <a:r>
              <a:rPr lang="ru-RU" dirty="0"/>
              <a:t> законами и указами Президента РФ определяет </a:t>
            </a:r>
            <a:r>
              <a:rPr lang="ru-RU" dirty="0" err="1"/>
              <a:t>основныенаправления</a:t>
            </a:r>
            <a:r>
              <a:rPr lang="ru-RU" dirty="0"/>
              <a:t> деятельности правительства РФ и организует его работу» (ст.113 Конституции РФ).«Президент РФ может принять решение об отставке </a:t>
            </a:r>
            <a:r>
              <a:rPr lang="ru-RU" dirty="0" err="1"/>
              <a:t>ПравительстваРФ</a:t>
            </a:r>
            <a:r>
              <a:rPr lang="ru-RU" dirty="0"/>
              <a:t>» (ст. 117 Конституции РФ).</a:t>
            </a:r>
          </a:p>
        </p:txBody>
      </p:sp>
    </p:spTree>
    <p:extLst>
      <p:ext uri="{BB962C8B-B14F-4D97-AF65-F5344CB8AC3E}">
        <p14:creationId xmlns:p14="http://schemas.microsoft.com/office/powerpoint/2010/main" val="567152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6D956A-E507-29E0-DEE8-228023FEDCA5}"/>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DFAE12A7-79E0-256D-3776-94B06C42E9DF}"/>
              </a:ext>
            </a:extLst>
          </p:cNvPr>
          <p:cNvSpPr>
            <a:spLocks noGrp="1"/>
          </p:cNvSpPr>
          <p:nvPr>
            <p:ph idx="1"/>
          </p:nvPr>
        </p:nvSpPr>
        <p:spPr/>
        <p:txBody>
          <a:bodyPr>
            <a:normAutofit fontScale="70000" lnSpcReduction="20000"/>
          </a:bodyPr>
          <a:lstStyle/>
          <a:p>
            <a:r>
              <a:rPr lang="ru-RU" dirty="0"/>
              <a:t>Вот текст, извлечённый с </a:t>
            </a:r>
            <a:r>
              <a:rPr lang="ru-RU" dirty="0" err="1"/>
              <a:t>изображения:Статья</a:t>
            </a:r>
            <a:r>
              <a:rPr lang="ru-RU" dirty="0"/>
              <a:t> 93 Конституции РФ устанавливает порядок отрешения Президента РФ от должности «на основании выдвинутого Государственной Думой обвинения в государственной измене или совершении иного особо тяжкого преступления &lt;...&gt;», который предусматривает участие двух ветвей государственной власти: законодательной и </a:t>
            </a:r>
            <a:r>
              <a:rPr lang="ru-RU" dirty="0" err="1"/>
              <a:t>судебной.Согласно</a:t>
            </a:r>
            <a:r>
              <a:rPr lang="ru-RU" dirty="0"/>
              <a:t> ст. 7 ФЗ «О государственной охране», в отличие от прочих лиц, замещающих государственные должности, которым предоставляется государственная охрана, «Президент РФ в течение срока своих полномочий не вправе отказаться от государственной </a:t>
            </a:r>
            <a:r>
              <a:rPr lang="ru-RU" dirty="0" err="1"/>
              <a:t>охраны».Государственной</a:t>
            </a:r>
            <a:r>
              <a:rPr lang="ru-RU" dirty="0"/>
              <a:t> охране также подлежат члены семьи Президента РФ, а после окончания срока полномочий Президента государственная охрана предоставляется ему </a:t>
            </a:r>
            <a:r>
              <a:rPr lang="ru-RU" dirty="0" err="1"/>
              <a:t>пожизненно.На</a:t>
            </a:r>
            <a:r>
              <a:rPr lang="ru-RU" dirty="0"/>
              <a:t> основании четвёртой главы Конституции РФ **Президент России осуществляет следующие полномочия:**1) вносит на утверждение в Государственную Думу кандидатуру председателя Правительства России, назначает утверждённого Государственной думой председателя Правительства, освобождает председателя Правительства России от должности;2) осуществляет общее руководство правительством России, имеет право председательствовать на его заседаниях;3) утверждает по предложению Председателя Правительства России структуру федеральных органов исполнительной власти, вносит в неё изменения;</a:t>
            </a:r>
          </a:p>
        </p:txBody>
      </p:sp>
    </p:spTree>
    <p:extLst>
      <p:ext uri="{BB962C8B-B14F-4D97-AF65-F5344CB8AC3E}">
        <p14:creationId xmlns:p14="http://schemas.microsoft.com/office/powerpoint/2010/main" val="3854543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CC6713-8DF1-127B-0C88-440389C5A18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06EFEF1-D4D9-C815-9F91-6BD89C66D44F}"/>
              </a:ext>
            </a:extLst>
          </p:cNvPr>
          <p:cNvSpPr>
            <a:spLocks noGrp="1"/>
          </p:cNvSpPr>
          <p:nvPr>
            <p:ph idx="1"/>
          </p:nvPr>
        </p:nvSpPr>
        <p:spPr/>
        <p:txBody>
          <a:bodyPr>
            <a:normAutofit fontScale="70000" lnSpcReduction="20000"/>
          </a:bodyPr>
          <a:lstStyle/>
          <a:p>
            <a:r>
              <a:rPr lang="ru-RU" dirty="0"/>
              <a:t>Вот текст, извлечённый с изображения:4) в структуре федеральных органов исполнительной власти определяет органы, руководство деятельностью которых осуществляет президент России, и органы, руководство деятельностью которых осуществляет правительство России;5) принимает решение об отставке правительства России;6) принимает отставку председателя правительства России, заместителей председателя правительства Российской Федерации, федеральных министров, а также руководителей федеральных органов исполнительной власти, руководство деятельностью которых осуществляет президент России;7) представляет Государственной думе кандидатуру для назначения на должность председателя Центрального банка, а также ставит перед Государственной думой вопрос об освобождении председателя Центрального банка от занимаемой должности;8) назначает на должность заместителей председателя правительства России и федеральных министров, кандидатуры которых утверждены Государственной Думой (кроме ведающих вопросами обороны, безопасности государства, внутренних дел, юстиции, иностранных дел, предотвращения чрезвычайных ситуаций и ликвидации последствий стихийных бедствий, общественной безопасности), и освобождает их от должности;</a:t>
            </a:r>
          </a:p>
        </p:txBody>
      </p:sp>
    </p:spTree>
    <p:extLst>
      <p:ext uri="{BB962C8B-B14F-4D97-AF65-F5344CB8AC3E}">
        <p14:creationId xmlns:p14="http://schemas.microsoft.com/office/powerpoint/2010/main" val="28286647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FE49BE-FB10-55E2-96B1-A08C1E3A5C7F}"/>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8C38F7CA-13EF-25D6-3E34-A31C7E3B55E4}"/>
              </a:ext>
            </a:extLst>
          </p:cNvPr>
          <p:cNvSpPr>
            <a:spLocks noGrp="1"/>
          </p:cNvSpPr>
          <p:nvPr>
            <p:ph idx="1"/>
          </p:nvPr>
        </p:nvSpPr>
        <p:spPr/>
        <p:txBody>
          <a:bodyPr>
            <a:normAutofit fontScale="62500" lnSpcReduction="20000"/>
          </a:bodyPr>
          <a:lstStyle/>
          <a:p>
            <a:r>
              <a:rPr lang="ru-RU" dirty="0"/>
              <a:t>Вот текст, извлечённый с изображения:9) назначает на должность после консультаций с Советом Федерации и освобождает от должности руководителей федеральных органов исполнительной власти (включая федеральных министров), ведающих вопросами обороны, безопасности государства, внутренних дел, юстиции, иностранных дел, предотвращения чрезвычайных ситуаций и ликвидации последствий стихийных бедствий, общественной безопасности;10) представляет Совету Федерации кандидатуры для назначения на должности председателей, заместителей председателей и судей Конституционного суда, Верховного суда;11) назначает председателей, заместителей председателей и судей других федеральных судов;12) вносит в Совет Федерации представление о прекращении в соответствии с федеральным конституционным законом полномочий председателей, заместителей председателей и судей Конституционного суда, Верховного суда России, кассационных и апелляционных судов в случае совершения ими поступка, порочащего честь и достоинство судьи, а также в иных предусмотренных федеральным конституционным законом случаях, свидетельствующих о невозможности осуществления ими своих полномочий;13) назначает на должность после консультаций с Советом Федерации и освобождает от должности Генерального прокурора России и его заместителей, прокуроров субъектов России, прокуроров военных и других специализированных прокуратур, приравненных к прокурорам субъектов России;</a:t>
            </a:r>
          </a:p>
        </p:txBody>
      </p:sp>
    </p:spTree>
    <p:extLst>
      <p:ext uri="{BB962C8B-B14F-4D97-AF65-F5344CB8AC3E}">
        <p14:creationId xmlns:p14="http://schemas.microsoft.com/office/powerpoint/2010/main" val="170150195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7146</Words>
  <Application>Microsoft Office PowerPoint</Application>
  <PresentationFormat>Широкоэкранный</PresentationFormat>
  <Paragraphs>106</Paragraphs>
  <Slides>41</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41</vt:i4>
      </vt:variant>
    </vt:vector>
  </HeadingPairs>
  <TitlesOfParts>
    <vt:vector size="45" baseType="lpstr">
      <vt:lpstr>Aptos</vt:lpstr>
      <vt:lpstr>Aptos Display</vt:lpstr>
      <vt:lpstr>Arial</vt:lpstr>
      <vt:lpstr>Тема Office</vt:lpstr>
      <vt:lpstr>Тема “Основы конституционного права России”</vt:lpstr>
      <vt:lpstr>Цель занятия: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eclitt</dc:creator>
  <cp:lastModifiedBy>eclitt</cp:lastModifiedBy>
  <cp:revision>1</cp:revision>
  <dcterms:created xsi:type="dcterms:W3CDTF">2026-03-19T15:12:32Z</dcterms:created>
  <dcterms:modified xsi:type="dcterms:W3CDTF">2026-03-19T15:49:30Z</dcterms:modified>
</cp:coreProperties>
</file>